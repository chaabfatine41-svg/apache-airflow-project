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35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8.xml" ContentType="application/vnd.openxmlformats-officedocument.presentationml.notesSlide+xml"/>
  <Override PartName="/ppt/slides/slide32.xml" ContentType="application/vnd.openxmlformats-officedocument.presentationml.slide+xml"/>
  <Override PartName="/ppt/slides/slide36.xml" ContentType="application/vnd.openxmlformats-officedocument.presentationml.slide+xml"/>
  <Override PartName="/ppt/slides/slide30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28.xml" ContentType="application/vnd.openxmlformats-officedocument.presentationml.slide+xml"/>
  <Override PartName="/ppt/slides/slide34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27.xml" ContentType="application/vnd.openxmlformats-officedocument.presentationml.slide+xml"/>
  <Override PartName="/ppt/slides/slide2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20.xml" ContentType="application/vnd.openxmlformats-officedocument.presentationml.slide+xml"/>
  <Override PartName="/ppt/slides/slide33.xml" ContentType="application/vnd.openxmlformats-officedocument.presentationml.slide+xml"/>
  <Override PartName="/ppt/slides/slide9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10.xml" ContentType="application/vnd.openxmlformats-officedocument.presentationml.slide+xml"/>
  <Override PartName="/ppt/slides/slide35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37.xml" ContentType="application/vnd.openxmlformats-officedocument.presentationml.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6.xml" ContentType="application/vnd.openxmlformats-officedocument.presentationml.slide+xml"/>
  <Override PartName="/ppt/notesSlides/notesSlide34.xml" ContentType="application/vnd.openxmlformats-officedocument.presentationml.notesSlide+xml"/>
  <Override PartName="/ppt/theme/theme2.xml" ContentType="application/vnd.openxmlformats-officedocument.theme+xml"/>
  <Override PartName="/ppt/notesSlides/notesSlide17.xml" ContentType="application/vnd.openxmlformats-officedocument.presentationml.notesSlide+xml"/>
  <Override PartName="/ppt/slides/slide8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2.xml" ContentType="application/vnd.openxmlformats-officedocument.presentationml.slide+xml"/>
  <Override PartName="/docProps/app.xml" ContentType="application/vnd.openxmlformats-officedocument.extended-properties+xml"/>
  <Override PartName="/ppt/slides/slide29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s/slide21.xml" ContentType="application/vnd.openxmlformats-officedocument.presentationml.slide+xml"/>
  <Override PartName="/docProps/core.xml" ContentType="application/vnd.openxmlformats-package.core-properties+xml"/>
  <Override PartName="/ppt/slides/slide19.xml" ContentType="application/vnd.openxmlformats-officedocument.presentationml.slide+xml"/>
  <Override PartName="/ppt/viewProps.xml" ContentType="application/vnd.openxmlformats-officedocument.presentationml.viewProps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slides/slide26.xml" ContentType="application/vnd.openxmlformats-officedocument.presentationml.slide+xml"/>
  <Override PartName="/ppt/slides/slide31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notesSlides/notesSlide30.xml" ContentType="application/vnd.openxmlformats-officedocument.presentationml.notesSlide+xml"/>
  <Override PartName="/ppt/notesSlides/notesSlide19.xml" ContentType="application/vnd.openxmlformats-officedocument.presentationml.notesSlide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slides/slide38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howSpecialPlsOnTitleSld="0" strictFirstAndLastChars="0">
  <p:sldMasterIdLst>
    <p:sldMasterId id="2147483648" r:id="rId1"/>
  </p:sldMasterIdLst>
  <p:notesMasterIdLst>
    <p:notesMasterId r:id="rId4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9144000" cy="5143500" type="screen16x9"/>
  <p:notesSz cx="6858000" cy="9144000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8" d="100"/>
          <a:sy n="78" d="100"/>
        </p:scale>
        <p:origin x="940" y="52"/>
      </p:cViewPr>
      <p:guideLst>
        <p:guide pos="2880"/>
        <p:guide pos="162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 /><Relationship Id="rId44" Type="http://schemas.openxmlformats.org/officeDocument/2006/relationships/tableStyles" Target="tableStyles.xml" /><Relationship Id="rId4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350935" name="Google Shape;3;n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174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5729346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Calibri"/>
        <a:ea typeface="Calibri"/>
        <a:cs typeface="Calibri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039774" name="Google Shape;67;g35f391192_0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244009" name="Google Shape;68;g35f391192_0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776623" name="Google Shape;67;g35f391192_0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7499177" name="Google Shape;68;g35f391192_0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196160" name="Google Shape;67;g35f391192_0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1350824" name="Google Shape;68;g35f391192_0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185771" name="Google Shape;72;g3606f1c2d_3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688186" name="Google Shape;73;g3606f1c2d_3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102672" name="Google Shape;94;g35f391192_029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710687" name="Google Shape;95;g35f391192_029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118290" name="Google Shape;137;g35f391192_04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514638" name="Google Shape;138;g35f391192_04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949086" name="Google Shape;164;g35f391192_07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777530" name="Google Shape;165;g35f391192_07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694621" name="Google Shape;211;g35f391192_08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4004759" name="Google Shape;212;g35f391192_08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909005" name="Google Shape;94;g35f391192_029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432274" name="Google Shape;95;g35f391192_029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429062" name="Google Shape;129;g35f391192_017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290312" name="Google Shape;130;g35f391192_017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0158018" name="Google Shape;137;g35f391192_04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36028" name="Google Shape;138;g35f391192_04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0090323" name="Google Shape;164;g35f391192_07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6328138" name="Google Shape;165;g35f391192_07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8802917" name="Google Shape;211;g35f391192_08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4517511" name="Google Shape;212;g35f391192_08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623031" name="Google Shape;94;g35f391192_029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980971" name="Google Shape;95;g35f391192_029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0426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5586377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281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EA09B-3CDA-3E99-85CA-0439B4449A08}" type="slidenum">
              <a:rPr/>
              <a:t>13</a:t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7329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17492336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0131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CEDC1-BD6B-A6C1-C29C-90A29E1307E8}" type="slidenum">
              <a:rPr/>
              <a:t>14</a:t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7959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8840147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099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541F2C-F539-043E-DCD3-4500A88E7A3F}" type="slidenum">
              <a:rPr/>
              <a:t>15</a:t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5201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15361192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8532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564A1A-5745-106D-1CFA-93808391E72A}" type="slidenum">
              <a:rPr/>
              <a:t>16</a:t>
            </a:fld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725408" name="Google Shape;137;g35f391192_04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342729" name="Google Shape;138;g35f391192_04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263286" name="Google Shape;137;g35f391192_04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81440" name="Google Shape;138;g35f391192_04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755694" name="Google Shape;137;g35f391192_04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451931" name="Google Shape;138;g35f391192_04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739707" name="Google Shape;137;g35f391192_04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08817" name="Google Shape;138;g35f391192_04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907443" name="Google Shape;94;g35f391192_029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215395" name="Google Shape;95;g35f391192_029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737742" name="Google Shape;137;g35f391192_04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9716972" name="Google Shape;138;g35f391192_04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2566640" name="Google Shape;137;g35f391192_04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563548" name="Google Shape;138;g35f391192_04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63497" name="Google Shape;164;g35f391192_07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3263225" name="Google Shape;165;g35f391192_07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299530" name="Google Shape;137;g35f391192_04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217159" name="Google Shape;138;g35f391192_04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624861" name="Google Shape;137;g35f391192_04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701581" name="Google Shape;138;g35f391192_04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150942" name="Google Shape;211;g35f391192_08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709415" name="Google Shape;212;g35f391192_08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978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18216732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831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804440-72EF-3893-92CE-4AE77E316517}" type="slidenum">
              <a:rPr/>
              <a:t>28</a:t>
            </a:fld>
            <a:endParaRPr/>
          </a:p>
        </p:txBody>
      </p:sp>
    </p:spTree>
  </p:cSld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601431" name="Google Shape;94;g35f391192_029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9644867" name="Google Shape;95;g35f391192_029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197513" name="Google Shape;270;g35ed75ccf_044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9391923" name="Google Shape;271;g35ed75ccf_044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777709" name="Google Shape;270;g35ed75ccf_044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8125243" name="Google Shape;271;g35ed75ccf_044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387874" name="Google Shape;81;g35f391192_04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237348" name="Google Shape;82;g35f391192_04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195653" name="Google Shape;270;g35ed75ccf_044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160909" name="Google Shape;271;g35ed75ccf_044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1104255" name="Google Shape;94;g35f391192_029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606842" name="Google Shape;95;g35f391192_029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60003" name="Google Shape;137;g35f391192_04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138240" name="Google Shape;138;g35f391192_04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103010" name="Google Shape;400;g35ed75ccf_022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255379" name="Google Shape;401;g35ed75ccf_022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" preserve="0" showMasterPhAnim="0" showMasterSp="1" type="title" userDrawn="1">
  <p:cSld name="TITLE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158708" name="Google Shape;10;p2"/>
          <p:cNvSpPr txBox="1">
            <a:spLocks noGrp="1"/>
          </p:cNvSpPr>
          <p:nvPr>
            <p:ph type="ctrTitle"/>
          </p:nvPr>
        </p:nvSpPr>
        <p:spPr bwMode="auto">
          <a:xfrm>
            <a:off x="1700185" y="1991850"/>
            <a:ext cx="58074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>
                <a:latin typeface="Calibri"/>
                <a:cs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9pPr>
          </a:lstStyle>
          <a:p>
            <a:pPr>
              <a:defRPr/>
            </a:pPr>
            <a:endParaRPr/>
          </a:p>
        </p:txBody>
      </p:sp>
      <p:sp>
        <p:nvSpPr>
          <p:cNvPr id="336795557" name="Google Shape;11;p2"/>
          <p:cNvSpPr/>
          <p:nvPr/>
        </p:nvSpPr>
        <p:spPr bwMode="auto">
          <a:xfrm>
            <a:off x="7337531" y="463007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Calibri"/>
              <a:cs typeface="Calibri"/>
            </a:endParaRPr>
          </a:p>
        </p:txBody>
      </p:sp>
      <p:sp>
        <p:nvSpPr>
          <p:cNvPr id="145637377" name="Google Shape;12;p2"/>
          <p:cNvSpPr/>
          <p:nvPr/>
        </p:nvSpPr>
        <p:spPr bwMode="auto">
          <a:xfrm>
            <a:off x="7790243" y="4182401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Calibri"/>
              <a:cs typeface="Calibri"/>
            </a:endParaRPr>
          </a:p>
        </p:txBody>
      </p:sp>
      <p:sp>
        <p:nvSpPr>
          <p:cNvPr id="1624913601" name="Google Shape;13;p2"/>
          <p:cNvSpPr/>
          <p:nvPr/>
        </p:nvSpPr>
        <p:spPr bwMode="auto"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Calibri"/>
              <a:cs typeface="Calibri"/>
            </a:endParaRPr>
          </a:p>
        </p:txBody>
      </p:sp>
      <p:sp>
        <p:nvSpPr>
          <p:cNvPr id="254898602" name="Google Shape;14;p2"/>
          <p:cNvSpPr/>
          <p:nvPr/>
        </p:nvSpPr>
        <p:spPr bwMode="auto">
          <a:xfrm>
            <a:off x="8771302" y="4923775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Calibri"/>
              <a:cs typeface="Calibri"/>
            </a:endParaRPr>
          </a:p>
        </p:txBody>
      </p:sp>
      <p:sp>
        <p:nvSpPr>
          <p:cNvPr id="712010982" name="Google Shape;15;p2"/>
          <p:cNvSpPr/>
          <p:nvPr/>
        </p:nvSpPr>
        <p:spPr bwMode="auto">
          <a:xfrm>
            <a:off x="2386266" y="50813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Calibri"/>
              <a:cs typeface="Calibri"/>
            </a:endParaRPr>
          </a:p>
        </p:txBody>
      </p:sp>
      <p:sp>
        <p:nvSpPr>
          <p:cNvPr id="1920580684" name="Google Shape;16;p2"/>
          <p:cNvSpPr/>
          <p:nvPr/>
        </p:nvSpPr>
        <p:spPr bwMode="auto">
          <a:xfrm>
            <a:off x="479460" y="2703980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Calibri"/>
              <a:cs typeface="Calibri"/>
            </a:endParaRPr>
          </a:p>
        </p:txBody>
      </p:sp>
      <p:sp>
        <p:nvSpPr>
          <p:cNvPr id="1187654405" name="Google Shape;17;p2"/>
          <p:cNvSpPr/>
          <p:nvPr/>
        </p:nvSpPr>
        <p:spPr bwMode="auto">
          <a:xfrm>
            <a:off x="261540" y="643097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Calibri"/>
              <a:cs typeface="Calibri"/>
            </a:endParaRPr>
          </a:p>
        </p:txBody>
      </p:sp>
      <p:sp>
        <p:nvSpPr>
          <p:cNvPr id="683288721" name="Google Shape;18;p2"/>
          <p:cNvSpPr/>
          <p:nvPr/>
        </p:nvSpPr>
        <p:spPr bwMode="auto">
          <a:xfrm>
            <a:off x="507235" y="1080863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Calibri"/>
              <a:cs typeface="Calibri"/>
            </a:endParaRPr>
          </a:p>
        </p:txBody>
      </p:sp>
      <p:sp>
        <p:nvSpPr>
          <p:cNvPr id="1815713141" name="Google Shape;19;p2"/>
          <p:cNvSpPr/>
          <p:nvPr/>
        </p:nvSpPr>
        <p:spPr bwMode="auto">
          <a:xfrm>
            <a:off x="8314019" y="3625322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Calibri"/>
              <a:cs typeface="Calibri"/>
            </a:endParaRPr>
          </a:p>
        </p:txBody>
      </p:sp>
      <p:sp>
        <p:nvSpPr>
          <p:cNvPr id="1814894684" name="Google Shape;20;p2"/>
          <p:cNvSpPr/>
          <p:nvPr/>
        </p:nvSpPr>
        <p:spPr bwMode="auto">
          <a:xfrm>
            <a:off x="8882858" y="4186761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Calibri"/>
              <a:cs typeface="Calibri"/>
            </a:endParaRPr>
          </a:p>
        </p:txBody>
      </p:sp>
      <p:sp>
        <p:nvSpPr>
          <p:cNvPr id="854056616" name="Google Shape;21;p2"/>
          <p:cNvSpPr/>
          <p:nvPr/>
        </p:nvSpPr>
        <p:spPr bwMode="auto"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Calibri"/>
              <a:cs typeface="Calibri"/>
            </a:endParaRPr>
          </a:p>
        </p:txBody>
      </p:sp>
      <p:sp>
        <p:nvSpPr>
          <p:cNvPr id="2068706329" name="Google Shape;22;p2"/>
          <p:cNvSpPr/>
          <p:nvPr/>
        </p:nvSpPr>
        <p:spPr bwMode="auto">
          <a:xfrm>
            <a:off x="1396483" y="226428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Calibri"/>
              <a:cs typeface="Calibri"/>
            </a:endParaRPr>
          </a:p>
        </p:txBody>
      </p:sp>
      <p:sp>
        <p:nvSpPr>
          <p:cNvPr id="1566493397" name="Google Shape;23;p2"/>
          <p:cNvSpPr/>
          <p:nvPr/>
        </p:nvSpPr>
        <p:spPr bwMode="auto"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Calibri"/>
              <a:cs typeface="Calibri"/>
            </a:endParaRPr>
          </a:p>
        </p:txBody>
      </p:sp>
      <p:sp>
        <p:nvSpPr>
          <p:cNvPr id="1423200567" name="Google Shape;24;p2"/>
          <p:cNvSpPr/>
          <p:nvPr/>
        </p:nvSpPr>
        <p:spPr bwMode="auto"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Calibri"/>
              <a:cs typeface="Calibri"/>
            </a:endParaRPr>
          </a:p>
        </p:txBody>
      </p:sp>
      <p:sp>
        <p:nvSpPr>
          <p:cNvPr id="1212914010" name="Google Shape;25;p2"/>
          <p:cNvSpPr/>
          <p:nvPr/>
        </p:nvSpPr>
        <p:spPr bwMode="auto">
          <a:xfrm>
            <a:off x="8014029" y="4567546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ubtitle" preserve="0" showMasterPhAnim="0" showMasterSp="1" userDrawn="1">
  <p:cSld name="TITLE_1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0536475" name="Google Shape;27;p3"/>
          <p:cNvSpPr txBox="1">
            <a:spLocks noGrp="1"/>
          </p:cNvSpPr>
          <p:nvPr>
            <p:ph type="ctrTitle"/>
          </p:nvPr>
        </p:nvSpPr>
        <p:spPr bwMode="auto">
          <a:xfrm>
            <a:off x="1546025" y="1754794"/>
            <a:ext cx="5832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>
                <a:latin typeface="Calibri"/>
                <a:cs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9pPr>
          </a:lstStyle>
          <a:p>
            <a:pPr>
              <a:defRPr/>
            </a:pPr>
            <a:endParaRPr/>
          </a:p>
        </p:txBody>
      </p:sp>
      <p:sp>
        <p:nvSpPr>
          <p:cNvPr id="578894837" name="Google Shape;28;p3"/>
          <p:cNvSpPr txBox="1">
            <a:spLocks noGrp="1"/>
          </p:cNvSpPr>
          <p:nvPr>
            <p:ph type="subTitle" idx="1"/>
          </p:nvPr>
        </p:nvSpPr>
        <p:spPr bwMode="auto">
          <a:xfrm>
            <a:off x="1546025" y="3011511"/>
            <a:ext cx="5832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  <a:latin typeface="Abad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+ 2 columns" preserve="0" showMasterPhAnim="0" showMasterSp="1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652572" name="Google Shape;45;p6"/>
          <p:cNvSpPr txBox="1">
            <a:spLocks noGrp="1"/>
          </p:cNvSpPr>
          <p:nvPr>
            <p:ph type="title"/>
          </p:nvPr>
        </p:nvSpPr>
        <p:spPr bwMode="auto"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Calibri"/>
                <a:cs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11817678" name="Google Shape;46;p6"/>
          <p:cNvSpPr txBox="1">
            <a:spLocks noGrp="1"/>
          </p:cNvSpPr>
          <p:nvPr>
            <p:ph type="body" idx="1"/>
          </p:nvPr>
        </p:nvSpPr>
        <p:spPr bwMode="auto">
          <a:xfrm>
            <a:off x="786137" y="1200150"/>
            <a:ext cx="3675300" cy="37256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>
                <a:latin typeface="Abadi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896284832" name="Google Shape;47;p6"/>
          <p:cNvSpPr txBox="1">
            <a:spLocks noGrp="1"/>
          </p:cNvSpPr>
          <p:nvPr>
            <p:ph type="body" idx="2"/>
          </p:nvPr>
        </p:nvSpPr>
        <p:spPr bwMode="auto">
          <a:xfrm>
            <a:off x="4682659" y="1200150"/>
            <a:ext cx="3675300" cy="37256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>
                <a:latin typeface="Abadi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523317442" name="Google Shape;48;p6"/>
          <p:cNvSpPr txBox="1">
            <a:spLocks noGrp="1"/>
          </p:cNvSpPr>
          <p:nvPr>
            <p:ph type="sldNum" idx="12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+ 3 columns" preserve="0" showMasterPhAnim="0" showMasterSp="1" userDrawn="1">
  <p:cSld name="TITLE_AND_TWO_COLUMNS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153704" name="Google Shape;50;p7"/>
          <p:cNvSpPr txBox="1">
            <a:spLocks noGrp="1"/>
          </p:cNvSpPr>
          <p:nvPr>
            <p:ph type="title"/>
          </p:nvPr>
        </p:nvSpPr>
        <p:spPr bwMode="auto"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Calibri"/>
                <a:cs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73393235" name="Google Shape;51;p7"/>
          <p:cNvSpPr txBox="1">
            <a:spLocks noGrp="1"/>
          </p:cNvSpPr>
          <p:nvPr>
            <p:ph type="body" idx="1"/>
          </p:nvPr>
        </p:nvSpPr>
        <p:spPr bwMode="auto">
          <a:xfrm>
            <a:off x="786150" y="1200150"/>
            <a:ext cx="2419800" cy="37256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>
                <a:latin typeface="Abadi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88487855" name="Google Shape;52;p7"/>
          <p:cNvSpPr txBox="1">
            <a:spLocks noGrp="1"/>
          </p:cNvSpPr>
          <p:nvPr>
            <p:ph type="body" idx="2"/>
          </p:nvPr>
        </p:nvSpPr>
        <p:spPr bwMode="auto">
          <a:xfrm>
            <a:off x="3329992" y="1200150"/>
            <a:ext cx="2419800" cy="37256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>
                <a:latin typeface="Abadi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65273158" name="Google Shape;53;p7"/>
          <p:cNvSpPr txBox="1">
            <a:spLocks noGrp="1"/>
          </p:cNvSpPr>
          <p:nvPr>
            <p:ph type="body" idx="3"/>
          </p:nvPr>
        </p:nvSpPr>
        <p:spPr bwMode="auto">
          <a:xfrm>
            <a:off x="5873834" y="1200150"/>
            <a:ext cx="2419800" cy="37256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>
                <a:latin typeface="Abadi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59232904" name="Google Shape;54;p7"/>
          <p:cNvSpPr txBox="1">
            <a:spLocks noGrp="1"/>
          </p:cNvSpPr>
          <p:nvPr>
            <p:ph type="sldNum" idx="12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735259" name="Google Shape;56;p8"/>
          <p:cNvSpPr txBox="1">
            <a:spLocks noGrp="1"/>
          </p:cNvSpPr>
          <p:nvPr>
            <p:ph type="title"/>
          </p:nvPr>
        </p:nvSpPr>
        <p:spPr bwMode="auto"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Calibri"/>
                <a:cs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05345075" name="Google Shape;57;p8"/>
          <p:cNvSpPr txBox="1">
            <a:spLocks noGrp="1"/>
          </p:cNvSpPr>
          <p:nvPr>
            <p:ph type="sldNum" idx="12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2609867" name="Google Shape;62;p10"/>
          <p:cNvSpPr txBox="1">
            <a:spLocks noGrp="1"/>
          </p:cNvSpPr>
          <p:nvPr>
            <p:ph type="sldNum" idx="12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">
    <p:bg>
      <p:bgPr shadeToTitle="0">
        <a:blipFill>
          <a:blip r:embed="rId8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032700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26980949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010155925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 b="1">
                <a:solidFill>
                  <a:schemeClr val="accent1"/>
                </a:solidFill>
                <a:latin typeface="Abadi"/>
                <a:ea typeface="Source Sans Pro"/>
                <a:cs typeface="Abadi"/>
              </a:defRPr>
            </a:lvl1pPr>
            <a:lvl2pPr lvl="1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</a:defRPr>
            </a:lvl2pPr>
            <a:lvl3pPr lvl="2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</a:defRPr>
            </a:lvl3pPr>
            <a:lvl4pPr lvl="3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</a:defRPr>
            </a:lvl4pPr>
            <a:lvl5pPr lvl="4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</a:defRPr>
            </a:lvl5pPr>
            <a:lvl6pPr lvl="5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</a:defRPr>
            </a:lvl6pPr>
            <a:lvl7pPr lvl="6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</a:defRPr>
            </a:lvl7pPr>
            <a:lvl8pPr lvl="7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</a:defRPr>
            </a:lvl8pPr>
            <a:lvl9pPr lvl="8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>
            <a:pPr>
              <a:defRPr/>
            </a:pPr>
            <a:fld id="{00000000-1234-1234-1234-123412341234}" type="slidenum">
              <a:rPr lang="en"/>
              <a:t>‹#›</a:t>
            </a:fld>
            <a:endParaRPr lang="en">
              <a:latin typeface="Calibri"/>
              <a:ea typeface="Roboto Slab"/>
              <a:cs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1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Times New Roman"/>
          <a:ea typeface="Times New Roman"/>
          <a:cs typeface="Times New Roman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badi"/>
          <a:ea typeface="Abadi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image" Target="../media/image19.png"/><Relationship Id="rId17" Type="http://schemas.openxmlformats.org/officeDocument/2006/relationships/image" Target="../media/image20.png"/><Relationship Id="rId18" Type="http://schemas.openxmlformats.org/officeDocument/2006/relationships/image" Target="../media/image2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6491640" name="Picture 2" descr="Faculté des sciences aïn chock - Casablanca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3139632" y="0"/>
            <a:ext cx="2744239" cy="952820"/>
          </a:xfrm>
          <a:prstGeom prst="rect">
            <a:avLst/>
          </a:prstGeom>
          <a:noFill/>
        </p:spPr>
      </p:pic>
      <p:sp>
        <p:nvSpPr>
          <p:cNvPr id="122937828" name="Titre 2"/>
          <p:cNvSpPr txBox="1"/>
          <p:nvPr/>
        </p:nvSpPr>
        <p:spPr bwMode="auto">
          <a:xfrm flipH="0" flipV="0">
            <a:off x="3529174" y="3228492"/>
            <a:ext cx="1950822" cy="468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91423" rIns="91423" bIns="91423" anchor="ctr" anchorCtr="0">
            <a:no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9pPr>
          </a:lstStyle>
          <a:p>
            <a:pPr algn="ctr">
              <a:defRPr/>
            </a:pPr>
            <a:r>
              <a:rPr lang="fr-FR" sz="2000">
                <a:solidFill>
                  <a:schemeClr val="tx1"/>
                </a:solidFill>
                <a:latin typeface="Times New Roman"/>
                <a:cs typeface="Times New Roman"/>
              </a:rPr>
              <a:t>Présenté par: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18973931" name="ZoneTexte 3"/>
          <p:cNvSpPr txBox="1"/>
          <p:nvPr/>
        </p:nvSpPr>
        <p:spPr bwMode="auto">
          <a:xfrm flipH="0" flipV="0">
            <a:off x="341571" y="3697376"/>
            <a:ext cx="8616487" cy="320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CH" sz="1500">
                <a:latin typeface="Times New Roman"/>
                <a:cs typeface="Times New Roman"/>
              </a:rPr>
              <a:t>Hiba</a:t>
            </a:r>
            <a:r>
              <a:rPr lang="fr-CH" sz="1500">
                <a:latin typeface="Times New Roman"/>
                <a:cs typeface="Times New Roman"/>
              </a:rPr>
              <a:t> </a:t>
            </a:r>
            <a:r>
              <a:rPr lang="fr-CH" sz="1500">
                <a:latin typeface="Times New Roman"/>
                <a:cs typeface="Times New Roman"/>
              </a:rPr>
              <a:t>Nassi</a:t>
            </a:r>
            <a:r>
              <a:rPr lang="fr-FR" sz="1500">
                <a:latin typeface="Times New Roman"/>
                <a:cs typeface="Times New Roman"/>
              </a:rPr>
              <a:t>   </a:t>
            </a:r>
            <a:r>
              <a:rPr lang="fr-CH" sz="1500">
                <a:latin typeface="Times New Roman"/>
                <a:cs typeface="Times New Roman"/>
              </a:rPr>
              <a:t>Bechchar</a:t>
            </a:r>
            <a:r>
              <a:rPr lang="fr-CH" sz="1500">
                <a:latin typeface="Times New Roman"/>
                <a:cs typeface="Times New Roman"/>
              </a:rPr>
              <a:t> Aya</a:t>
            </a:r>
            <a:r>
              <a:rPr lang="fr-FR" sz="1500">
                <a:latin typeface="Times New Roman"/>
                <a:cs typeface="Times New Roman"/>
              </a:rPr>
              <a:t> </a:t>
            </a:r>
            <a:r>
              <a:rPr lang="fr-FR" sz="1500">
                <a:latin typeface="Times New Roman"/>
                <a:cs typeface="Times New Roman"/>
              </a:rPr>
              <a:t>  </a:t>
            </a:r>
            <a:r>
              <a:rPr lang="fr-CH" sz="1500">
                <a:latin typeface="Times New Roman"/>
                <a:cs typeface="Times New Roman"/>
              </a:rPr>
              <a:t>Chaab</a:t>
            </a:r>
            <a:r>
              <a:rPr lang="fr-CH" sz="1500">
                <a:latin typeface="Times New Roman"/>
                <a:cs typeface="Times New Roman"/>
              </a:rPr>
              <a:t> </a:t>
            </a:r>
            <a:r>
              <a:rPr lang="fr-CH" sz="1500">
                <a:latin typeface="Times New Roman"/>
                <a:cs typeface="Times New Roman"/>
              </a:rPr>
              <a:t>Fatine</a:t>
            </a:r>
            <a:r>
              <a:rPr lang="fr-FR" sz="1500">
                <a:latin typeface="Times New Roman"/>
                <a:cs typeface="Times New Roman"/>
              </a:rPr>
              <a:t>  </a:t>
            </a:r>
            <a:r>
              <a:rPr lang="fr-FR" sz="1500">
                <a:latin typeface="Times New Roman"/>
                <a:cs typeface="Times New Roman"/>
              </a:rPr>
              <a:t>  </a:t>
            </a:r>
            <a:r>
              <a:rPr lang="fr-CH" sz="1500">
                <a:latin typeface="Times New Roman"/>
                <a:cs typeface="Times New Roman"/>
              </a:rPr>
              <a:t>Hajar </a:t>
            </a:r>
            <a:r>
              <a:rPr lang="fr-CH" sz="1500">
                <a:latin typeface="Times New Roman"/>
                <a:cs typeface="Times New Roman"/>
              </a:rPr>
              <a:t>Fadli</a:t>
            </a:r>
            <a:r>
              <a:rPr lang="fr-FR" sz="1500">
                <a:latin typeface="Times New Roman"/>
                <a:cs typeface="Times New Roman"/>
              </a:rPr>
              <a:t> </a:t>
            </a:r>
            <a:r>
              <a:rPr lang="fr-FR" sz="1500">
                <a:latin typeface="Times New Roman"/>
                <a:cs typeface="Times New Roman"/>
              </a:rPr>
              <a:t>  </a:t>
            </a:r>
            <a:r>
              <a:rPr lang="fr-CH" sz="1500">
                <a:latin typeface="Times New Roman"/>
                <a:cs typeface="Times New Roman"/>
              </a:rPr>
              <a:t>Najoua</a:t>
            </a:r>
            <a:r>
              <a:rPr lang="fr-CH" sz="1500">
                <a:latin typeface="Times New Roman"/>
                <a:cs typeface="Times New Roman"/>
              </a:rPr>
              <a:t> </a:t>
            </a:r>
            <a:r>
              <a:rPr lang="fr-CH" sz="1500">
                <a:latin typeface="Times New Roman"/>
                <a:cs typeface="Times New Roman"/>
              </a:rPr>
              <a:t>Rouizi</a:t>
            </a:r>
            <a:r>
              <a:rPr lang="fr-FR" sz="1500">
                <a:latin typeface="Times New Roman"/>
                <a:cs typeface="Times New Roman"/>
              </a:rPr>
              <a:t>   </a:t>
            </a:r>
            <a:r>
              <a:rPr lang="fr-CH" sz="1500">
                <a:latin typeface="Times New Roman"/>
                <a:cs typeface="Times New Roman"/>
              </a:rPr>
              <a:t>Naima</a:t>
            </a:r>
            <a:r>
              <a:rPr lang="fr-FR" sz="1500">
                <a:latin typeface="Times New Roman"/>
                <a:cs typeface="Times New Roman"/>
              </a:rPr>
              <a:t> </a:t>
            </a:r>
            <a:r>
              <a:rPr lang="fr-CH" sz="1500">
                <a:latin typeface="Times New Roman"/>
                <a:cs typeface="Times New Roman"/>
              </a:rPr>
              <a:t>Barrach</a:t>
            </a:r>
            <a:r>
              <a:rPr lang="fr-FR" sz="1500">
                <a:latin typeface="Times New Roman"/>
                <a:cs typeface="Times New Roman"/>
              </a:rPr>
              <a:t> </a:t>
            </a:r>
            <a:r>
              <a:rPr lang="fr-FR" sz="1500">
                <a:latin typeface="Times New Roman"/>
                <a:cs typeface="Times New Roman"/>
              </a:rPr>
              <a:t>  </a:t>
            </a:r>
            <a:r>
              <a:rPr lang="fr-CH" sz="1500">
                <a:latin typeface="Times New Roman"/>
                <a:cs typeface="Times New Roman"/>
              </a:rPr>
              <a:t>Roeya</a:t>
            </a:r>
            <a:r>
              <a:rPr lang="fr-CH" sz="1500">
                <a:latin typeface="Times New Roman"/>
                <a:cs typeface="Times New Roman"/>
              </a:rPr>
              <a:t> </a:t>
            </a:r>
            <a:r>
              <a:rPr lang="fr-CH" sz="1500">
                <a:latin typeface="Times New Roman"/>
                <a:cs typeface="Times New Roman"/>
              </a:rPr>
              <a:t>Ouchtane</a:t>
            </a:r>
            <a:endParaRPr lang="fr-CH">
              <a:latin typeface="Times New Roman"/>
              <a:cs typeface="Times New Roman"/>
            </a:endParaRPr>
          </a:p>
        </p:txBody>
      </p:sp>
      <p:sp>
        <p:nvSpPr>
          <p:cNvPr id="2121123216" name="ZoneTexte 4"/>
          <p:cNvSpPr txBox="1"/>
          <p:nvPr/>
        </p:nvSpPr>
        <p:spPr bwMode="auto">
          <a:xfrm>
            <a:off x="3424799" y="4017776"/>
            <a:ext cx="2160652" cy="396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CH" sz="2000" b="1">
                <a:solidFill>
                  <a:schemeClr val="tx1"/>
                </a:solidFill>
                <a:latin typeface="Times New Roman"/>
                <a:cs typeface="Times New Roman"/>
              </a:rPr>
              <a:t>Proposé </a:t>
            </a:r>
            <a:r>
              <a:rPr lang="fr-FR" sz="2000" b="1">
                <a:solidFill>
                  <a:schemeClr val="tx1"/>
                </a:solidFill>
                <a:latin typeface="Times New Roman"/>
                <a:cs typeface="Times New Roman"/>
              </a:rPr>
              <a:t>p</a:t>
            </a:r>
            <a:r>
              <a:rPr lang="fr-CH" sz="2000" b="1">
                <a:solidFill>
                  <a:schemeClr val="tx1"/>
                </a:solidFill>
                <a:latin typeface="Times New Roman"/>
                <a:cs typeface="Times New Roman"/>
              </a:rPr>
              <a:t>ar:</a:t>
            </a:r>
            <a:endParaRPr lang="fr-FR" sz="2000" b="1">
              <a:latin typeface="Times New Roman"/>
              <a:cs typeface="Times New Roman"/>
            </a:endParaRPr>
          </a:p>
        </p:txBody>
      </p:sp>
      <p:sp>
        <p:nvSpPr>
          <p:cNvPr id="1522564035" name="ZoneTexte 6"/>
          <p:cNvSpPr txBox="1"/>
          <p:nvPr/>
        </p:nvSpPr>
        <p:spPr bwMode="auto">
          <a:xfrm>
            <a:off x="3178370" y="4414376"/>
            <a:ext cx="2652429" cy="320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500">
                <a:latin typeface="Times New Roman"/>
                <a:cs typeface="Times New Roman"/>
              </a:rPr>
              <a:t>Pr. Saïd JAI-ANDALOUSSI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144925231" name="ZoneTexte 7"/>
          <p:cNvSpPr txBox="1"/>
          <p:nvPr/>
        </p:nvSpPr>
        <p:spPr bwMode="auto">
          <a:xfrm>
            <a:off x="3435165" y="1193026"/>
            <a:ext cx="2528721" cy="335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CH" sz="1600">
                <a:latin typeface="Times New Roman"/>
                <a:cs typeface="Times New Roman"/>
              </a:rPr>
              <a:t>Présent</a:t>
            </a:r>
            <a:r>
              <a:rPr lang="fr-FR" sz="1600">
                <a:latin typeface="Times New Roman"/>
                <a:cs typeface="Times New Roman"/>
              </a:rPr>
              <a:t>é</a:t>
            </a:r>
            <a:r>
              <a:rPr lang="fr-CH" sz="1600">
                <a:latin typeface="Times New Roman"/>
                <a:cs typeface="Times New Roman"/>
              </a:rPr>
              <a:t> le : 11 /06/2026</a:t>
            </a:r>
            <a:endParaRPr lang="fr-FR" sz="1600">
              <a:latin typeface="Times New Roman"/>
              <a:cs typeface="Times New Roman"/>
            </a:endParaRPr>
          </a:p>
        </p:txBody>
      </p:sp>
      <p:sp>
        <p:nvSpPr>
          <p:cNvPr id="988269078" name=""/>
          <p:cNvSpPr txBox="1"/>
          <p:nvPr/>
        </p:nvSpPr>
        <p:spPr bwMode="auto">
          <a:xfrm flipH="0" flipV="0">
            <a:off x="1266856" y="1660071"/>
            <a:ext cx="688521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644742340" name="Rectangle : coins arrondis 8"/>
          <p:cNvSpPr/>
          <p:nvPr/>
        </p:nvSpPr>
        <p:spPr bwMode="auto">
          <a:xfrm>
            <a:off x="1373341" y="1666498"/>
            <a:ext cx="6262488" cy="1254448"/>
          </a:xfrm>
          <a:prstGeom prst="roundRect">
            <a:avLst>
              <a:gd name="adj" fmla="val 16667"/>
            </a:avLst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5800" b="1">
                <a:solidFill>
                  <a:schemeClr val="accent2"/>
                </a:solidFill>
                <a:latin typeface="Times New Roman"/>
                <a:ea typeface="Roboto Slab"/>
                <a:cs typeface="Times New Roman"/>
              </a:rPr>
              <a:t>Apache </a:t>
            </a:r>
            <a:r>
              <a:rPr lang="fr-FR" sz="5800" b="1">
                <a:solidFill>
                  <a:schemeClr val="accent2"/>
                </a:solidFill>
                <a:latin typeface="Times New Roman"/>
                <a:ea typeface="Roboto Slab"/>
                <a:cs typeface="Times New Roman"/>
              </a:rPr>
              <a:t>Airflow</a:t>
            </a:r>
            <a:endParaRPr lang="fr-FR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2508679" name="Picture 2" descr="Faculté des sciences aïn chock - Casablanca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3139632" y="0"/>
            <a:ext cx="2744238" cy="952819"/>
          </a:xfrm>
          <a:prstGeom prst="rect">
            <a:avLst/>
          </a:prstGeom>
          <a:noFill/>
        </p:spPr>
      </p:pic>
      <p:sp>
        <p:nvSpPr>
          <p:cNvPr id="969278131" name="Titre 2"/>
          <p:cNvSpPr txBox="1"/>
          <p:nvPr/>
        </p:nvSpPr>
        <p:spPr bwMode="auto">
          <a:xfrm flipH="0" flipV="0">
            <a:off x="3529173" y="3228491"/>
            <a:ext cx="1950822" cy="46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91423" rIns="91423" bIns="91423" anchor="ctr" anchorCtr="0">
            <a:no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9pPr>
          </a:lstStyle>
          <a:p>
            <a:pPr algn="ctr">
              <a:defRPr/>
            </a:pPr>
            <a:r>
              <a:rPr lang="fr-FR" sz="2000">
                <a:solidFill>
                  <a:schemeClr val="tx1"/>
                </a:solidFill>
                <a:latin typeface="Times New Roman"/>
                <a:cs typeface="Times New Roman"/>
              </a:rPr>
              <a:t>Présenté par: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254981376" name="ZoneTexte 3"/>
          <p:cNvSpPr txBox="1"/>
          <p:nvPr/>
        </p:nvSpPr>
        <p:spPr bwMode="auto">
          <a:xfrm flipH="0" flipV="0">
            <a:off x="341570" y="3697375"/>
            <a:ext cx="8617206" cy="320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CH" sz="1500">
                <a:latin typeface="Times New Roman"/>
                <a:cs typeface="Times New Roman"/>
              </a:rPr>
              <a:t>Hiba</a:t>
            </a:r>
            <a:r>
              <a:rPr lang="fr-CH" sz="1500">
                <a:latin typeface="Times New Roman"/>
                <a:cs typeface="Times New Roman"/>
              </a:rPr>
              <a:t> </a:t>
            </a:r>
            <a:r>
              <a:rPr lang="fr-CH" sz="1500">
                <a:latin typeface="Times New Roman"/>
                <a:cs typeface="Times New Roman"/>
              </a:rPr>
              <a:t>Nassi</a:t>
            </a:r>
            <a:r>
              <a:rPr lang="fr-FR" sz="1500">
                <a:latin typeface="Times New Roman"/>
                <a:cs typeface="Times New Roman"/>
              </a:rPr>
              <a:t>   </a:t>
            </a:r>
            <a:r>
              <a:rPr lang="fr-CH" sz="1500">
                <a:latin typeface="Times New Roman"/>
                <a:cs typeface="Times New Roman"/>
              </a:rPr>
              <a:t>Bechchar</a:t>
            </a:r>
            <a:r>
              <a:rPr lang="fr-CH" sz="1500">
                <a:latin typeface="Times New Roman"/>
                <a:cs typeface="Times New Roman"/>
              </a:rPr>
              <a:t> Aya</a:t>
            </a:r>
            <a:r>
              <a:rPr lang="fr-FR" sz="1500">
                <a:latin typeface="Times New Roman"/>
                <a:cs typeface="Times New Roman"/>
              </a:rPr>
              <a:t> </a:t>
            </a:r>
            <a:r>
              <a:rPr lang="fr-FR" sz="1500">
                <a:latin typeface="Times New Roman"/>
                <a:cs typeface="Times New Roman"/>
              </a:rPr>
              <a:t>  </a:t>
            </a:r>
            <a:r>
              <a:rPr lang="fr-CH" sz="1500">
                <a:latin typeface="Times New Roman"/>
                <a:cs typeface="Times New Roman"/>
              </a:rPr>
              <a:t>Chaab</a:t>
            </a:r>
            <a:r>
              <a:rPr lang="fr-CH" sz="1500">
                <a:latin typeface="Times New Roman"/>
                <a:cs typeface="Times New Roman"/>
              </a:rPr>
              <a:t> </a:t>
            </a:r>
            <a:r>
              <a:rPr lang="fr-CH" sz="1500">
                <a:latin typeface="Times New Roman"/>
                <a:cs typeface="Times New Roman"/>
              </a:rPr>
              <a:t>Fatine</a:t>
            </a:r>
            <a:r>
              <a:rPr lang="fr-FR" sz="1500">
                <a:latin typeface="Times New Roman"/>
                <a:cs typeface="Times New Roman"/>
              </a:rPr>
              <a:t>  </a:t>
            </a:r>
            <a:r>
              <a:rPr lang="fr-FR" sz="1500">
                <a:latin typeface="Times New Roman"/>
                <a:cs typeface="Times New Roman"/>
              </a:rPr>
              <a:t>  </a:t>
            </a:r>
            <a:r>
              <a:rPr lang="fr-CH" sz="1500">
                <a:latin typeface="Times New Roman"/>
                <a:cs typeface="Times New Roman"/>
              </a:rPr>
              <a:t>Haja</a:t>
            </a:r>
            <a:r>
              <a:rPr lang="fr-CH" sz="1500">
                <a:latin typeface="Times New Roman"/>
                <a:cs typeface="Times New Roman"/>
              </a:rPr>
              <a:t>r </a:t>
            </a:r>
            <a:r>
              <a:rPr lang="fr-CH" sz="1500">
                <a:latin typeface="Times New Roman"/>
                <a:cs typeface="Times New Roman"/>
              </a:rPr>
              <a:t>Fadli</a:t>
            </a:r>
            <a:r>
              <a:rPr lang="fr-FR" sz="1500">
                <a:latin typeface="Times New Roman"/>
                <a:cs typeface="Times New Roman"/>
              </a:rPr>
              <a:t> </a:t>
            </a:r>
            <a:r>
              <a:rPr lang="fr-FR" sz="1500">
                <a:latin typeface="Times New Roman"/>
                <a:cs typeface="Times New Roman"/>
              </a:rPr>
              <a:t>  </a:t>
            </a:r>
            <a:r>
              <a:rPr lang="fr-CH" sz="1500">
                <a:latin typeface="Times New Roman"/>
                <a:cs typeface="Times New Roman"/>
              </a:rPr>
              <a:t>Najoua</a:t>
            </a:r>
            <a:r>
              <a:rPr lang="fr-CH" sz="1500">
                <a:latin typeface="Times New Roman"/>
                <a:cs typeface="Times New Roman"/>
              </a:rPr>
              <a:t> </a:t>
            </a:r>
            <a:r>
              <a:rPr lang="fr-CH" sz="1500">
                <a:latin typeface="Times New Roman"/>
                <a:cs typeface="Times New Roman"/>
              </a:rPr>
              <a:t>Rouizi</a:t>
            </a:r>
            <a:r>
              <a:rPr lang="fr-FR" sz="1500">
                <a:latin typeface="Times New Roman"/>
                <a:cs typeface="Times New Roman"/>
              </a:rPr>
              <a:t>   </a:t>
            </a:r>
            <a:r>
              <a:rPr lang="fr-CH" sz="1500">
                <a:latin typeface="Times New Roman"/>
                <a:cs typeface="Times New Roman"/>
              </a:rPr>
              <a:t>Naima</a:t>
            </a:r>
            <a:r>
              <a:rPr lang="fr-FR" sz="1500">
                <a:latin typeface="Times New Roman"/>
                <a:cs typeface="Times New Roman"/>
              </a:rPr>
              <a:t> </a:t>
            </a:r>
            <a:r>
              <a:rPr lang="fr-CH" sz="1500">
                <a:latin typeface="Times New Roman"/>
                <a:cs typeface="Times New Roman"/>
              </a:rPr>
              <a:t>Barrach</a:t>
            </a:r>
            <a:r>
              <a:rPr lang="fr-FR" sz="1500">
                <a:latin typeface="Times New Roman"/>
                <a:cs typeface="Times New Roman"/>
              </a:rPr>
              <a:t> </a:t>
            </a:r>
            <a:r>
              <a:rPr lang="fr-FR" sz="1500">
                <a:latin typeface="Times New Roman"/>
                <a:cs typeface="Times New Roman"/>
              </a:rPr>
              <a:t>  </a:t>
            </a:r>
            <a:r>
              <a:rPr lang="fr-CH" sz="1500">
                <a:latin typeface="Times New Roman"/>
                <a:cs typeface="Times New Roman"/>
              </a:rPr>
              <a:t>Roeya</a:t>
            </a:r>
            <a:r>
              <a:rPr lang="fr-CH" sz="1500">
                <a:latin typeface="Times New Roman"/>
                <a:cs typeface="Times New Roman"/>
              </a:rPr>
              <a:t> </a:t>
            </a:r>
            <a:r>
              <a:rPr lang="fr-CH" sz="1500">
                <a:latin typeface="Times New Roman"/>
                <a:cs typeface="Times New Roman"/>
              </a:rPr>
              <a:t>Ouchtane</a:t>
            </a:r>
            <a:endParaRPr lang="fr-CH">
              <a:latin typeface="Times New Roman"/>
              <a:cs typeface="Times New Roman"/>
            </a:endParaRPr>
          </a:p>
        </p:txBody>
      </p:sp>
      <p:sp>
        <p:nvSpPr>
          <p:cNvPr id="2019543569" name="ZoneTexte 4"/>
          <p:cNvSpPr txBox="1"/>
          <p:nvPr/>
        </p:nvSpPr>
        <p:spPr bwMode="auto">
          <a:xfrm>
            <a:off x="3424798" y="4017775"/>
            <a:ext cx="2160651" cy="396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CH" sz="2000" b="1">
                <a:solidFill>
                  <a:schemeClr val="tx1"/>
                </a:solidFill>
                <a:latin typeface="Times New Roman"/>
                <a:cs typeface="Times New Roman"/>
              </a:rPr>
              <a:t>Proposé </a:t>
            </a:r>
            <a:r>
              <a:rPr lang="fr-FR" sz="2000" b="1">
                <a:solidFill>
                  <a:schemeClr val="tx1"/>
                </a:solidFill>
                <a:latin typeface="Times New Roman"/>
                <a:cs typeface="Times New Roman"/>
              </a:rPr>
              <a:t>p</a:t>
            </a:r>
            <a:r>
              <a:rPr lang="fr-CH" sz="2000" b="1">
                <a:solidFill>
                  <a:schemeClr val="tx1"/>
                </a:solidFill>
                <a:latin typeface="Times New Roman"/>
                <a:cs typeface="Times New Roman"/>
              </a:rPr>
              <a:t>ar:</a:t>
            </a:r>
            <a:endParaRPr lang="fr-FR" sz="2000" b="1">
              <a:latin typeface="Times New Roman"/>
              <a:cs typeface="Times New Roman"/>
            </a:endParaRPr>
          </a:p>
        </p:txBody>
      </p:sp>
      <p:sp>
        <p:nvSpPr>
          <p:cNvPr id="1424387390" name="ZoneTexte 6"/>
          <p:cNvSpPr txBox="1"/>
          <p:nvPr/>
        </p:nvSpPr>
        <p:spPr bwMode="auto">
          <a:xfrm>
            <a:off x="3178369" y="4414375"/>
            <a:ext cx="2652428" cy="320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500">
                <a:latin typeface="Times New Roman"/>
                <a:cs typeface="Times New Roman"/>
              </a:rPr>
              <a:t>Pr. Saïd JAI-ANDALOUSSI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286474048" name="ZoneTexte 7"/>
          <p:cNvSpPr txBox="1"/>
          <p:nvPr/>
        </p:nvSpPr>
        <p:spPr bwMode="auto">
          <a:xfrm>
            <a:off x="3435165" y="1193025"/>
            <a:ext cx="2528721" cy="335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CH" sz="1600">
                <a:latin typeface="Times New Roman"/>
                <a:cs typeface="Times New Roman"/>
              </a:rPr>
              <a:t>Présent</a:t>
            </a:r>
            <a:r>
              <a:rPr lang="fr-FR" sz="1600">
                <a:latin typeface="Times New Roman"/>
                <a:cs typeface="Times New Roman"/>
              </a:rPr>
              <a:t>é</a:t>
            </a:r>
            <a:r>
              <a:rPr lang="fr-CH" sz="1600">
                <a:latin typeface="Times New Roman"/>
                <a:cs typeface="Times New Roman"/>
              </a:rPr>
              <a:t> le : 11 /06/2026</a:t>
            </a:r>
            <a:endParaRPr lang="fr-FR" sz="1600">
              <a:latin typeface="Times New Roman"/>
              <a:cs typeface="Times New Roman"/>
            </a:endParaRPr>
          </a:p>
        </p:txBody>
      </p:sp>
      <p:sp>
        <p:nvSpPr>
          <p:cNvPr id="686966461" name=""/>
          <p:cNvSpPr txBox="1"/>
          <p:nvPr/>
        </p:nvSpPr>
        <p:spPr bwMode="auto">
          <a:xfrm flipH="0" flipV="0">
            <a:off x="1266855" y="1660070"/>
            <a:ext cx="6885213" cy="3051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625418738" name="Rectangle : coins arrondis 8"/>
          <p:cNvSpPr/>
          <p:nvPr/>
        </p:nvSpPr>
        <p:spPr bwMode="auto">
          <a:xfrm>
            <a:off x="1373341" y="1666498"/>
            <a:ext cx="6262488" cy="1254448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2700000" scaled="1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5800" b="1">
                <a:solidFill>
                  <a:schemeClr val="bg1"/>
                </a:solidFill>
                <a:latin typeface="Times New Roman"/>
                <a:ea typeface="Roboto Slab"/>
                <a:cs typeface="Times New Roman"/>
              </a:rPr>
              <a:t>Apache </a:t>
            </a:r>
            <a:r>
              <a:rPr lang="fr-FR" sz="5800" b="1">
                <a:solidFill>
                  <a:schemeClr val="bg1"/>
                </a:solidFill>
                <a:latin typeface="Times New Roman"/>
                <a:ea typeface="Roboto Slab"/>
                <a:cs typeface="Times New Roman"/>
              </a:rPr>
              <a:t>Airflow</a:t>
            </a:r>
            <a:endParaRPr lang="fr-FR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8026404" name="Picture 2" descr="Faculté des sciences aïn chock - Casablanca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3139632" y="0"/>
            <a:ext cx="2744238" cy="952819"/>
          </a:xfrm>
          <a:prstGeom prst="rect">
            <a:avLst/>
          </a:prstGeom>
          <a:noFill/>
        </p:spPr>
      </p:pic>
      <p:sp>
        <p:nvSpPr>
          <p:cNvPr id="986787490" name="Titre 2"/>
          <p:cNvSpPr txBox="1"/>
          <p:nvPr/>
        </p:nvSpPr>
        <p:spPr bwMode="auto">
          <a:xfrm>
            <a:off x="1188808" y="2898176"/>
            <a:ext cx="1950822" cy="638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91424" rIns="91424" bIns="91424" anchor="ctr" anchorCtr="0">
            <a:no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</a:defRPr>
            </a:lvl9pPr>
          </a:lstStyle>
          <a:p>
            <a:pPr algn="ctr">
              <a:defRPr/>
            </a:pPr>
            <a:r>
              <a:rPr lang="fr-FR" sz="2000">
                <a:solidFill>
                  <a:schemeClr val="tx1"/>
                </a:solidFill>
                <a:latin typeface="Times New Roman"/>
                <a:cs typeface="Times New Roman"/>
              </a:rPr>
              <a:t>Présenté Par: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661916214" name="ZoneTexte 3"/>
          <p:cNvSpPr txBox="1"/>
          <p:nvPr/>
        </p:nvSpPr>
        <p:spPr bwMode="auto">
          <a:xfrm>
            <a:off x="1375440" y="3394419"/>
            <a:ext cx="2703971" cy="1600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CH">
                <a:latin typeface="Times New Roman"/>
                <a:cs typeface="Times New Roman"/>
              </a:rPr>
              <a:t>Hiba Nassi</a:t>
            </a:r>
            <a:endParaRPr/>
          </a:p>
          <a:p>
            <a:pPr>
              <a:defRPr/>
            </a:pPr>
            <a:r>
              <a:rPr lang="fr-CH">
                <a:latin typeface="Times New Roman"/>
                <a:cs typeface="Times New Roman"/>
              </a:rPr>
              <a:t>Bechchar Aya</a:t>
            </a:r>
            <a:endParaRPr>
              <a:latin typeface="Times New Roman"/>
              <a:cs typeface="Times New Roman"/>
            </a:endParaRPr>
          </a:p>
          <a:p>
            <a:pPr>
              <a:defRPr/>
            </a:pPr>
            <a:r>
              <a:rPr lang="fr-CH">
                <a:latin typeface="Times New Roman"/>
                <a:cs typeface="Times New Roman"/>
              </a:rPr>
              <a:t>Chaab Fatine</a:t>
            </a:r>
            <a:endParaRPr/>
          </a:p>
          <a:p>
            <a:pPr>
              <a:defRPr/>
            </a:pPr>
            <a:r>
              <a:rPr lang="fr-CH">
                <a:latin typeface="Times New Roman"/>
                <a:cs typeface="Times New Roman"/>
              </a:rPr>
              <a:t>Hajar</a:t>
            </a:r>
            <a:endParaRPr>
              <a:latin typeface="Times New Roman"/>
              <a:cs typeface="Times New Roman"/>
            </a:endParaRPr>
          </a:p>
          <a:p>
            <a:pPr>
              <a:defRPr/>
            </a:pPr>
            <a:r>
              <a:rPr lang="fr-CH">
                <a:latin typeface="Times New Roman"/>
                <a:cs typeface="Times New Roman"/>
              </a:rPr>
              <a:t>Najoua</a:t>
            </a:r>
            <a:endParaRPr/>
          </a:p>
          <a:p>
            <a:pPr>
              <a:defRPr/>
            </a:pPr>
            <a:r>
              <a:rPr lang="fr-CH">
                <a:latin typeface="Times New Roman"/>
                <a:cs typeface="Times New Roman"/>
              </a:rPr>
              <a:t>Naima</a:t>
            </a:r>
            <a:endParaRPr>
              <a:latin typeface="Times New Roman"/>
              <a:cs typeface="Times New Roman"/>
            </a:endParaRPr>
          </a:p>
          <a:p>
            <a:pPr>
              <a:defRPr/>
            </a:pPr>
            <a:r>
              <a:rPr lang="fr-CH">
                <a:latin typeface="Times New Roman"/>
                <a:cs typeface="Times New Roman"/>
              </a:rPr>
              <a:t>Roaya</a:t>
            </a:r>
            <a:endParaRPr lang="fr-FR">
              <a:latin typeface="Times New Roman"/>
              <a:cs typeface="Times New Roman"/>
            </a:endParaRPr>
          </a:p>
        </p:txBody>
      </p:sp>
      <p:sp>
        <p:nvSpPr>
          <p:cNvPr id="332168141" name="ZoneTexte 4"/>
          <p:cNvSpPr txBox="1"/>
          <p:nvPr/>
        </p:nvSpPr>
        <p:spPr bwMode="auto">
          <a:xfrm>
            <a:off x="5371950" y="3017362"/>
            <a:ext cx="2159212" cy="400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CH" sz="2000" b="1">
                <a:latin typeface="Times New Roman"/>
                <a:cs typeface="Times New Roman"/>
              </a:rPr>
              <a:t>Proposé Par:</a:t>
            </a:r>
            <a:endParaRPr lang="fr-FR" sz="2000" b="1">
              <a:latin typeface="Times New Roman"/>
              <a:cs typeface="Times New Roman"/>
            </a:endParaRPr>
          </a:p>
        </p:txBody>
      </p:sp>
      <p:sp>
        <p:nvSpPr>
          <p:cNvPr id="1925804434" name="ZoneTexte 6"/>
          <p:cNvSpPr txBox="1"/>
          <p:nvPr/>
        </p:nvSpPr>
        <p:spPr bwMode="auto">
          <a:xfrm>
            <a:off x="5424570" y="3477000"/>
            <a:ext cx="2651349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>
                <a:latin typeface="Times New Roman"/>
                <a:cs typeface="Times New Roman"/>
              </a:rPr>
              <a:t>Pr. Saïd JAI-ANDALOUSSI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392685864" name="Rectangle : coins arrondis 8"/>
          <p:cNvSpPr/>
          <p:nvPr/>
        </p:nvSpPr>
        <p:spPr bwMode="auto">
          <a:xfrm>
            <a:off x="1373341" y="1666498"/>
            <a:ext cx="6262488" cy="1254448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2700000" scaled="1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5800" b="1">
                <a:solidFill>
                  <a:schemeClr val="bg1"/>
                </a:solidFill>
                <a:latin typeface="Times New Roman"/>
                <a:ea typeface="Roboto Slab"/>
                <a:cs typeface="Times New Roman"/>
              </a:rPr>
              <a:t>Apache </a:t>
            </a:r>
            <a:r>
              <a:rPr lang="fr-FR" sz="5800" b="1">
                <a:solidFill>
                  <a:schemeClr val="bg1"/>
                </a:solidFill>
                <a:latin typeface="Times New Roman"/>
                <a:ea typeface="Roboto Slab"/>
                <a:cs typeface="Times New Roman"/>
              </a:rPr>
              <a:t>Airflow</a:t>
            </a:r>
            <a:endParaRPr lang="fr-FR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621397344" name="ZoneTexte 7"/>
          <p:cNvSpPr txBox="1"/>
          <p:nvPr/>
        </p:nvSpPr>
        <p:spPr bwMode="auto">
          <a:xfrm flipH="0" flipV="0">
            <a:off x="3382583" y="1193025"/>
            <a:ext cx="2258335" cy="335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CH" sz="1600">
                <a:latin typeface="Times New Roman"/>
                <a:cs typeface="Times New Roman"/>
              </a:rPr>
              <a:t>Présent</a:t>
            </a:r>
            <a:r>
              <a:rPr lang="fr-FR" sz="1600">
                <a:latin typeface="Times New Roman"/>
                <a:cs typeface="Times New Roman"/>
              </a:rPr>
              <a:t>é</a:t>
            </a:r>
            <a:r>
              <a:rPr lang="fr-CH" sz="1600">
                <a:latin typeface="Times New Roman"/>
                <a:cs typeface="Times New Roman"/>
              </a:rPr>
              <a:t> le : </a:t>
            </a:r>
            <a:r>
              <a:rPr lang="fr-FR" sz="1600">
                <a:latin typeface="Times New Roman"/>
                <a:cs typeface="Times New Roman"/>
              </a:rPr>
              <a:t>11</a:t>
            </a:r>
            <a:r>
              <a:rPr lang="fr-CH" sz="1600">
                <a:latin typeface="Times New Roman"/>
                <a:cs typeface="Times New Roman"/>
              </a:rPr>
              <a:t> /06/2026</a:t>
            </a:r>
            <a:endParaRPr lang="fr-FR"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411968" name="Google Shape;75;p13"/>
          <p:cNvSpPr txBox="1">
            <a:spLocks noGrp="1"/>
          </p:cNvSpPr>
          <p:nvPr>
            <p:ph type="title"/>
          </p:nvPr>
        </p:nvSpPr>
        <p:spPr bwMode="auto">
          <a:xfrm>
            <a:off x="3521065" y="253514"/>
            <a:ext cx="1688109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6000" b="1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Plan</a:t>
            </a:r>
            <a:endParaRPr sz="6000" b="1">
              <a:solidFill>
                <a:schemeClr val="accent1">
                  <a:lumMod val="7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014885559" name="Google Shape;79;p13"/>
          <p:cNvSpPr txBox="1">
            <a:spLocks noGrp="1"/>
          </p:cNvSpPr>
          <p:nvPr>
            <p:ph type="sldNum" idx="12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>
                <a:latin typeface="Times New Roman"/>
                <a:cs typeface="Times New Roman"/>
              </a:rPr>
              <a:t>2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308224107" name="Rectangle : coins arrondis 6"/>
          <p:cNvSpPr/>
          <p:nvPr/>
        </p:nvSpPr>
        <p:spPr bwMode="auto">
          <a:xfrm>
            <a:off x="406367" y="1202883"/>
            <a:ext cx="1860181" cy="1375795"/>
          </a:xfrm>
          <a:prstGeom prst="roundRect">
            <a:avLst>
              <a:gd name="adj" fmla="val 16667"/>
            </a:avLst>
          </a:prstGeom>
          <a:solidFill>
            <a:schemeClr val="accent2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>
              <a:defRPr/>
            </a:pPr>
            <a:r>
              <a:rPr lang="fr-FR" b="1">
                <a:latin typeface="Times New Roman"/>
                <a:cs typeface="Times New Roman"/>
              </a:rPr>
              <a:t>Introduction à </a:t>
            </a:r>
            <a:r>
              <a:rPr lang="fr-FR" b="1">
                <a:latin typeface="Times New Roman"/>
                <a:cs typeface="Times New Roman"/>
              </a:rPr>
              <a:t>AirFlow</a:t>
            </a:r>
            <a:endParaRPr lang="fr-FR">
              <a:latin typeface="Times New Roman"/>
              <a:cs typeface="Times New Roman"/>
            </a:endParaRPr>
          </a:p>
          <a:p>
            <a:pPr>
              <a:defRPr/>
            </a:pPr>
            <a:br>
              <a:rPr lang="fr-FR">
                <a:latin typeface="Times New Roman"/>
                <a:cs typeface="Times New Roman"/>
              </a:rPr>
            </a:br>
            <a:endParaRPr lang="fr-FR">
              <a:latin typeface="Times New Roman"/>
              <a:cs typeface="Times New Roman"/>
            </a:endParaRPr>
          </a:p>
        </p:txBody>
      </p:sp>
      <p:sp>
        <p:nvSpPr>
          <p:cNvPr id="2000935950" name="Rectangle 5"/>
          <p:cNvSpPr/>
          <p:nvPr/>
        </p:nvSpPr>
        <p:spPr bwMode="auto">
          <a:xfrm>
            <a:off x="470963" y="1195728"/>
            <a:ext cx="4074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solidFill>
                  <a:schemeClr val="bg1"/>
                </a:solidFill>
                <a:latin typeface="Times New Roman"/>
                <a:cs typeface="Times New Roman"/>
              </a:rPr>
              <a:t>01</a:t>
            </a:r>
            <a:r>
              <a:rPr lang="fr-FR">
                <a:latin typeface="Times New Roman"/>
                <a:cs typeface="Times New Roman"/>
              </a:rPr>
              <a:t> </a:t>
            </a:r>
            <a:endParaRPr>
              <a:latin typeface="Times New Roman"/>
              <a:cs typeface="Times New Roman"/>
            </a:endParaRPr>
          </a:p>
        </p:txBody>
      </p:sp>
      <p:pic>
        <p:nvPicPr>
          <p:cNvPr id="101051836" name="Picture 10" descr="image.png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1869591" y="1261944"/>
            <a:ext cx="257175" cy="228600"/>
          </a:xfrm>
          <a:prstGeom prst="rect">
            <a:avLst/>
          </a:prstGeom>
          <a:noFill/>
        </p:spPr>
      </p:pic>
      <p:sp>
        <p:nvSpPr>
          <p:cNvPr id="951765632" name="Rectangle : coins arrondis 20"/>
          <p:cNvSpPr/>
          <p:nvPr/>
        </p:nvSpPr>
        <p:spPr bwMode="auto">
          <a:xfrm>
            <a:off x="397165" y="2966935"/>
            <a:ext cx="1860181" cy="1375795"/>
          </a:xfrm>
          <a:prstGeom prst="roundRect">
            <a:avLst>
              <a:gd name="adj" fmla="val 16667"/>
            </a:avLst>
          </a:prstGeom>
          <a:solidFill>
            <a:schemeClr val="accent2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>
              <a:defRPr/>
            </a:pPr>
            <a:r>
              <a:rPr lang="fr-FR" b="1">
                <a:latin typeface="Times New Roman"/>
                <a:cs typeface="Times New Roman"/>
              </a:rPr>
              <a:t>Types d'Operators </a:t>
            </a:r>
            <a:endParaRPr lang="fr-FR">
              <a:latin typeface="Times New Roman"/>
              <a:cs typeface="Times New Roman"/>
            </a:endParaRPr>
          </a:p>
          <a:p>
            <a:pPr>
              <a:defRPr/>
            </a:pPr>
            <a:br>
              <a:rPr lang="fr-FR">
                <a:latin typeface="Times New Roman"/>
                <a:cs typeface="Times New Roman"/>
              </a:rPr>
            </a:br>
            <a:endParaRPr lang="fr-FR">
              <a:latin typeface="Times New Roman"/>
              <a:cs typeface="Times New Roman"/>
            </a:endParaRPr>
          </a:p>
        </p:txBody>
      </p:sp>
      <p:sp>
        <p:nvSpPr>
          <p:cNvPr id="1510539560" name="Rectangle : coins arrondis 21"/>
          <p:cNvSpPr/>
          <p:nvPr/>
        </p:nvSpPr>
        <p:spPr bwMode="auto">
          <a:xfrm>
            <a:off x="2573016" y="1195953"/>
            <a:ext cx="1860181" cy="1375795"/>
          </a:xfrm>
          <a:prstGeom prst="roundRect">
            <a:avLst>
              <a:gd name="adj" fmla="val 16667"/>
            </a:avLst>
          </a:prstGeom>
          <a:solidFill>
            <a:schemeClr val="accent2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>
              <a:defRPr/>
            </a:pPr>
            <a:r>
              <a:rPr lang="fr-FR" b="1">
                <a:latin typeface="Times New Roman"/>
                <a:cs typeface="Times New Roman"/>
              </a:rPr>
              <a:t>Concepts fondamentaux</a:t>
            </a:r>
            <a:endParaRPr lang="fr-FR">
              <a:latin typeface="Times New Roman"/>
              <a:cs typeface="Times New Roman"/>
            </a:endParaRPr>
          </a:p>
          <a:p>
            <a:pPr>
              <a:defRPr/>
            </a:pPr>
            <a:br>
              <a:rPr lang="fr-FR">
                <a:latin typeface="Times New Roman"/>
                <a:cs typeface="Times New Roman"/>
              </a:rPr>
            </a:br>
            <a:endParaRPr lang="fr-FR">
              <a:latin typeface="Times New Roman"/>
              <a:cs typeface="Times New Roman"/>
            </a:endParaRPr>
          </a:p>
        </p:txBody>
      </p:sp>
      <p:sp>
        <p:nvSpPr>
          <p:cNvPr id="90218311" name="Rectangle : coins arrondis 22"/>
          <p:cNvSpPr/>
          <p:nvPr/>
        </p:nvSpPr>
        <p:spPr bwMode="auto">
          <a:xfrm>
            <a:off x="2573016" y="2966935"/>
            <a:ext cx="1860181" cy="1375795"/>
          </a:xfrm>
          <a:prstGeom prst="roundRect">
            <a:avLst>
              <a:gd name="adj" fmla="val 16667"/>
            </a:avLst>
          </a:prstGeom>
          <a:solidFill>
            <a:schemeClr val="accent2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>
              <a:defRPr/>
            </a:pPr>
            <a:r>
              <a:rPr lang="fr-FR" b="1">
                <a:latin typeface="Times New Roman"/>
                <a:cs typeface="Times New Roman"/>
              </a:rPr>
              <a:t>Avantages &amp; Limites du AirFlow</a:t>
            </a:r>
            <a:endParaRPr lang="fr-FR">
              <a:latin typeface="Times New Roman"/>
              <a:cs typeface="Times New Roman"/>
            </a:endParaRPr>
          </a:p>
          <a:p>
            <a:pPr>
              <a:defRPr/>
            </a:pPr>
            <a:br>
              <a:rPr lang="fr-FR">
                <a:latin typeface="Times New Roman"/>
                <a:cs typeface="Times New Roman"/>
              </a:rPr>
            </a:br>
            <a:endParaRPr lang="fr-FR">
              <a:latin typeface="Times New Roman"/>
              <a:cs typeface="Times New Roman"/>
            </a:endParaRPr>
          </a:p>
        </p:txBody>
      </p:sp>
      <p:sp>
        <p:nvSpPr>
          <p:cNvPr id="1615755573" name="Rectangle : coins arrondis 23"/>
          <p:cNvSpPr/>
          <p:nvPr/>
        </p:nvSpPr>
        <p:spPr bwMode="auto">
          <a:xfrm>
            <a:off x="4748866" y="1195954"/>
            <a:ext cx="1860181" cy="1375795"/>
          </a:xfrm>
          <a:prstGeom prst="roundRect">
            <a:avLst>
              <a:gd name="adj" fmla="val 16667"/>
            </a:avLst>
          </a:prstGeom>
          <a:solidFill>
            <a:schemeClr val="accent2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>
              <a:defRPr/>
            </a:pPr>
            <a:r>
              <a:rPr lang="fr-FR" b="1">
                <a:latin typeface="Times New Roman"/>
                <a:cs typeface="Times New Roman"/>
              </a:rPr>
              <a:t>Architecture de AirFlow</a:t>
            </a:r>
            <a:endParaRPr lang="fr-FR">
              <a:latin typeface="Times New Roman"/>
              <a:cs typeface="Times New Roman"/>
            </a:endParaRPr>
          </a:p>
          <a:p>
            <a:pPr>
              <a:defRPr/>
            </a:pPr>
            <a:br>
              <a:rPr lang="fr-FR">
                <a:latin typeface="Times New Roman"/>
                <a:cs typeface="Times New Roman"/>
              </a:rPr>
            </a:br>
            <a:endParaRPr lang="fr-FR">
              <a:latin typeface="Times New Roman"/>
              <a:cs typeface="Times New Roman"/>
            </a:endParaRPr>
          </a:p>
        </p:txBody>
      </p:sp>
      <p:sp>
        <p:nvSpPr>
          <p:cNvPr id="361875653" name="Rectangle : coins arrondis 24"/>
          <p:cNvSpPr/>
          <p:nvPr/>
        </p:nvSpPr>
        <p:spPr bwMode="auto">
          <a:xfrm>
            <a:off x="4748866" y="2966935"/>
            <a:ext cx="1860181" cy="1375795"/>
          </a:xfrm>
          <a:prstGeom prst="roundRect">
            <a:avLst>
              <a:gd name="adj" fmla="val 16667"/>
            </a:avLst>
          </a:prstGeom>
          <a:solidFill>
            <a:schemeClr val="accent2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>
              <a:defRPr/>
            </a:pPr>
            <a:r>
              <a:rPr lang="fr-FR" b="1">
                <a:latin typeface="Times New Roman"/>
                <a:cs typeface="Times New Roman"/>
              </a:rPr>
              <a:t>Pratique</a:t>
            </a:r>
            <a:br>
              <a:rPr lang="fr-FR">
                <a:latin typeface="Times New Roman"/>
                <a:cs typeface="Times New Roman"/>
              </a:rPr>
            </a:br>
            <a:endParaRPr lang="fr-FR">
              <a:latin typeface="Times New Roman"/>
              <a:cs typeface="Times New Roman"/>
            </a:endParaRPr>
          </a:p>
        </p:txBody>
      </p:sp>
      <p:sp>
        <p:nvSpPr>
          <p:cNvPr id="1500442406" name="Rectangle : coins arrondis 25"/>
          <p:cNvSpPr/>
          <p:nvPr/>
        </p:nvSpPr>
        <p:spPr bwMode="auto">
          <a:xfrm>
            <a:off x="6924717" y="1195954"/>
            <a:ext cx="1860181" cy="1375795"/>
          </a:xfrm>
          <a:prstGeom prst="roundRect">
            <a:avLst>
              <a:gd name="adj" fmla="val 16667"/>
            </a:avLst>
          </a:prstGeom>
          <a:solidFill>
            <a:schemeClr val="accent2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>
              <a:defRPr/>
            </a:pPr>
            <a:r>
              <a:rPr lang="fr-FR" b="1">
                <a:latin typeface="Times New Roman"/>
                <a:cs typeface="Times New Roman"/>
              </a:rPr>
              <a:t>Fonctionnemment des DAGs</a:t>
            </a:r>
            <a:endParaRPr lang="fr-FR">
              <a:latin typeface="Times New Roman"/>
              <a:cs typeface="Times New Roman"/>
            </a:endParaRPr>
          </a:p>
          <a:p>
            <a:pPr>
              <a:defRPr/>
            </a:pPr>
            <a:br>
              <a:rPr lang="fr-FR">
                <a:latin typeface="Times New Roman"/>
                <a:cs typeface="Times New Roman"/>
              </a:rPr>
            </a:br>
            <a:br>
              <a:rPr lang="fr-FR">
                <a:latin typeface="Times New Roman"/>
                <a:cs typeface="Times New Roman"/>
              </a:rPr>
            </a:br>
            <a:endParaRPr lang="fr-FR">
              <a:latin typeface="Times New Roman"/>
              <a:cs typeface="Times New Roman"/>
            </a:endParaRPr>
          </a:p>
        </p:txBody>
      </p:sp>
      <p:sp>
        <p:nvSpPr>
          <p:cNvPr id="1166980673" name="Rectangle : coins arrondis 26"/>
          <p:cNvSpPr/>
          <p:nvPr/>
        </p:nvSpPr>
        <p:spPr bwMode="auto">
          <a:xfrm>
            <a:off x="6921216" y="2966935"/>
            <a:ext cx="1860181" cy="1375795"/>
          </a:xfrm>
          <a:prstGeom prst="roundRect">
            <a:avLst>
              <a:gd name="adj" fmla="val 16667"/>
            </a:avLst>
          </a:prstGeom>
          <a:solidFill>
            <a:schemeClr val="accent2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>
              <a:defRPr/>
            </a:pPr>
            <a:r>
              <a:rPr lang="fr-FR" b="1">
                <a:latin typeface="Times New Roman"/>
                <a:cs typeface="Times New Roman"/>
              </a:rPr>
              <a:t>Quiz </a:t>
            </a:r>
            <a:endParaRPr lang="fr-FR">
              <a:latin typeface="Times New Roman"/>
              <a:cs typeface="Times New Roman"/>
            </a:endParaRPr>
          </a:p>
          <a:p>
            <a:pPr>
              <a:defRPr/>
            </a:pPr>
            <a:br>
              <a:rPr lang="fr-FR">
                <a:latin typeface="Times New Roman"/>
                <a:cs typeface="Times New Roman"/>
              </a:rPr>
            </a:br>
            <a:endParaRPr lang="fr-FR">
              <a:latin typeface="Times New Roman"/>
              <a:cs typeface="Times New Roman"/>
            </a:endParaRPr>
          </a:p>
        </p:txBody>
      </p:sp>
      <p:sp>
        <p:nvSpPr>
          <p:cNvPr id="599655562" name="Rectangle 27"/>
          <p:cNvSpPr/>
          <p:nvPr/>
        </p:nvSpPr>
        <p:spPr bwMode="auto">
          <a:xfrm>
            <a:off x="2646813" y="1195728"/>
            <a:ext cx="4074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solidFill>
                  <a:schemeClr val="bg1"/>
                </a:solidFill>
                <a:latin typeface="Times New Roman"/>
                <a:cs typeface="Times New Roman"/>
              </a:rPr>
              <a:t>02</a:t>
            </a:r>
            <a:r>
              <a:rPr lang="fr-FR">
                <a:latin typeface="Times New Roman"/>
                <a:cs typeface="Times New Roman"/>
              </a:rPr>
              <a:t> 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216412271" name="Rectangle 28"/>
          <p:cNvSpPr/>
          <p:nvPr/>
        </p:nvSpPr>
        <p:spPr bwMode="auto">
          <a:xfrm>
            <a:off x="4776042" y="1237227"/>
            <a:ext cx="4074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solidFill>
                  <a:schemeClr val="bg1"/>
                </a:solidFill>
                <a:latin typeface="Times New Roman"/>
                <a:cs typeface="Times New Roman"/>
              </a:rPr>
              <a:t>03</a:t>
            </a:r>
            <a:r>
              <a:rPr lang="fr-FR">
                <a:latin typeface="Times New Roman"/>
                <a:cs typeface="Times New Roman"/>
              </a:rPr>
              <a:t> 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460353767" name="Rectangle 29"/>
          <p:cNvSpPr/>
          <p:nvPr/>
        </p:nvSpPr>
        <p:spPr bwMode="auto">
          <a:xfrm>
            <a:off x="6921216" y="1237677"/>
            <a:ext cx="4074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solidFill>
                  <a:schemeClr val="bg1"/>
                </a:solidFill>
                <a:latin typeface="Times New Roman"/>
                <a:cs typeface="Times New Roman"/>
              </a:rPr>
              <a:t>04</a:t>
            </a:r>
            <a:r>
              <a:rPr lang="fr-FR">
                <a:latin typeface="Times New Roman"/>
                <a:cs typeface="Times New Roman"/>
              </a:rPr>
              <a:t> 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332826177" name="Rectangle 30"/>
          <p:cNvSpPr/>
          <p:nvPr/>
        </p:nvSpPr>
        <p:spPr bwMode="auto">
          <a:xfrm>
            <a:off x="410268" y="2973868"/>
            <a:ext cx="4074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solidFill>
                  <a:schemeClr val="bg1"/>
                </a:solidFill>
                <a:latin typeface="Times New Roman"/>
                <a:cs typeface="Times New Roman"/>
              </a:rPr>
              <a:t>05</a:t>
            </a:r>
            <a:r>
              <a:rPr lang="fr-FR">
                <a:latin typeface="Times New Roman"/>
                <a:cs typeface="Times New Roman"/>
              </a:rPr>
              <a:t> 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869941163" name="Rectangle 31"/>
          <p:cNvSpPr/>
          <p:nvPr/>
        </p:nvSpPr>
        <p:spPr bwMode="auto">
          <a:xfrm>
            <a:off x="2646813" y="2980800"/>
            <a:ext cx="4074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solidFill>
                  <a:schemeClr val="bg1"/>
                </a:solidFill>
                <a:latin typeface="Times New Roman"/>
                <a:cs typeface="Times New Roman"/>
              </a:rPr>
              <a:t>06</a:t>
            </a:r>
            <a:r>
              <a:rPr lang="fr-FR">
                <a:latin typeface="Times New Roman"/>
                <a:cs typeface="Times New Roman"/>
              </a:rPr>
              <a:t> 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267723089" name="Rectangle 32"/>
          <p:cNvSpPr/>
          <p:nvPr/>
        </p:nvSpPr>
        <p:spPr bwMode="auto">
          <a:xfrm>
            <a:off x="4776042" y="2996565"/>
            <a:ext cx="4074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solidFill>
                  <a:schemeClr val="bg1"/>
                </a:solidFill>
                <a:latin typeface="Times New Roman"/>
                <a:cs typeface="Times New Roman"/>
              </a:rPr>
              <a:t>07</a:t>
            </a:r>
            <a:r>
              <a:rPr lang="fr-FR">
                <a:latin typeface="Times New Roman"/>
                <a:cs typeface="Times New Roman"/>
              </a:rPr>
              <a:t> 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830480874" name="Rectangle 33"/>
          <p:cNvSpPr/>
          <p:nvPr/>
        </p:nvSpPr>
        <p:spPr bwMode="auto">
          <a:xfrm>
            <a:off x="6942495" y="2986720"/>
            <a:ext cx="4074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solidFill>
                  <a:schemeClr val="bg1"/>
                </a:solidFill>
                <a:latin typeface="Times New Roman"/>
                <a:cs typeface="Times New Roman"/>
              </a:rPr>
              <a:t>08</a:t>
            </a:r>
            <a:r>
              <a:rPr lang="fr-FR">
                <a:latin typeface="Times New Roman"/>
                <a:cs typeface="Times New Roman"/>
              </a:rPr>
              <a:t> </a:t>
            </a:r>
            <a:endParaRPr>
              <a:latin typeface="Times New Roman"/>
              <a:cs typeface="Times New Roman"/>
            </a:endParaRPr>
          </a:p>
        </p:txBody>
      </p:sp>
      <p:pic>
        <p:nvPicPr>
          <p:cNvPr id="332945027" name="Picture 12" descr="image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4051144" y="1279622"/>
            <a:ext cx="257175" cy="228600"/>
          </a:xfrm>
          <a:prstGeom prst="rect">
            <a:avLst/>
          </a:prstGeom>
          <a:noFill/>
        </p:spPr>
      </p:pic>
      <p:pic>
        <p:nvPicPr>
          <p:cNvPr id="652965694" name="Picture 14" descr="image.png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>
            <a:off x="6252162" y="1296400"/>
            <a:ext cx="257175" cy="228600"/>
          </a:xfrm>
          <a:prstGeom prst="rect">
            <a:avLst/>
          </a:prstGeom>
          <a:noFill/>
        </p:spPr>
      </p:pic>
      <p:pic>
        <p:nvPicPr>
          <p:cNvPr id="975193747" name="Picture 16" descr="image.png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8444437" y="1309506"/>
            <a:ext cx="228600" cy="228600"/>
          </a:xfrm>
          <a:prstGeom prst="rect">
            <a:avLst/>
          </a:prstGeom>
          <a:noFill/>
        </p:spPr>
      </p:pic>
      <p:pic>
        <p:nvPicPr>
          <p:cNvPr id="906738828" name="Picture 18" descr="image.png"/>
          <p:cNvPicPr>
            <a:picLocks noChangeAspect="1" noChangeArrowheads="1"/>
          </p:cNvPicPr>
          <p:nvPr/>
        </p:nvPicPr>
        <p:blipFill>
          <a:blip r:embed="rId7"/>
          <a:stretch/>
        </p:blipFill>
        <p:spPr bwMode="auto">
          <a:xfrm>
            <a:off x="1869591" y="3075743"/>
            <a:ext cx="285750" cy="228600"/>
          </a:xfrm>
          <a:prstGeom prst="rect">
            <a:avLst/>
          </a:prstGeom>
          <a:noFill/>
        </p:spPr>
      </p:pic>
      <p:pic>
        <p:nvPicPr>
          <p:cNvPr id="908546120" name="Picture 20" descr="image.png"/>
          <p:cNvPicPr>
            <a:picLocks noChangeAspect="1" noChangeArrowheads="1"/>
          </p:cNvPicPr>
          <p:nvPr/>
        </p:nvPicPr>
        <p:blipFill>
          <a:blip r:embed="rId8"/>
          <a:stretch/>
        </p:blipFill>
        <p:spPr bwMode="auto">
          <a:xfrm>
            <a:off x="4079369" y="3053045"/>
            <a:ext cx="285750" cy="228600"/>
          </a:xfrm>
          <a:prstGeom prst="rect">
            <a:avLst/>
          </a:prstGeom>
          <a:noFill/>
        </p:spPr>
      </p:pic>
      <p:pic>
        <p:nvPicPr>
          <p:cNvPr id="199093177" name="Picture 22" descr="image.png"/>
          <p:cNvPicPr>
            <a:picLocks noChangeAspect="1" noChangeArrowheads="1"/>
          </p:cNvPicPr>
          <p:nvPr/>
        </p:nvPicPr>
        <p:blipFill>
          <a:blip r:embed="rId9"/>
          <a:stretch/>
        </p:blipFill>
        <p:spPr bwMode="auto">
          <a:xfrm>
            <a:off x="6363054" y="3053045"/>
            <a:ext cx="171450" cy="228600"/>
          </a:xfrm>
          <a:prstGeom prst="rect">
            <a:avLst/>
          </a:prstGeom>
          <a:noFill/>
        </p:spPr>
      </p:pic>
      <p:pic>
        <p:nvPicPr>
          <p:cNvPr id="986382789" name="Picture 24" descr="image.png"/>
          <p:cNvPicPr>
            <a:picLocks noChangeAspect="1" noChangeArrowheads="1"/>
          </p:cNvPicPr>
          <p:nvPr/>
        </p:nvPicPr>
        <p:blipFill>
          <a:blip r:embed="rId10"/>
          <a:stretch/>
        </p:blipFill>
        <p:spPr bwMode="auto">
          <a:xfrm>
            <a:off x="8461215" y="3064694"/>
            <a:ext cx="257175" cy="228600"/>
          </a:xfrm>
          <a:prstGeom prst="rect">
            <a:avLst/>
          </a:prstGeom>
          <a:noFill/>
        </p:spPr>
      </p:pic>
      <p:pic>
        <p:nvPicPr>
          <p:cNvPr id="637721420" name="Picture 26" descr="image.png"/>
          <p:cNvPicPr>
            <a:picLocks noChangeAspect="1" noChangeArrowheads="1"/>
          </p:cNvPicPr>
          <p:nvPr/>
        </p:nvPicPr>
        <p:blipFill>
          <a:blip r:embed="rId11"/>
          <a:stretch/>
        </p:blipFill>
        <p:spPr bwMode="auto">
          <a:xfrm>
            <a:off x="1652838" y="2266670"/>
            <a:ext cx="514350" cy="238125"/>
          </a:xfrm>
          <a:prstGeom prst="rect">
            <a:avLst/>
          </a:prstGeom>
          <a:noFill/>
        </p:spPr>
      </p:pic>
      <p:pic>
        <p:nvPicPr>
          <p:cNvPr id="4564259" name="Picture 28" descr="image.png"/>
          <p:cNvPicPr>
            <a:picLocks noChangeAspect="1" noChangeArrowheads="1"/>
          </p:cNvPicPr>
          <p:nvPr/>
        </p:nvPicPr>
        <p:blipFill>
          <a:blip r:embed="rId12"/>
          <a:stretch/>
        </p:blipFill>
        <p:spPr bwMode="auto">
          <a:xfrm>
            <a:off x="3747593" y="2266670"/>
            <a:ext cx="552450" cy="247650"/>
          </a:xfrm>
          <a:prstGeom prst="rect">
            <a:avLst/>
          </a:prstGeom>
          <a:noFill/>
        </p:spPr>
      </p:pic>
      <p:pic>
        <p:nvPicPr>
          <p:cNvPr id="1250659259" name="Picture 30" descr="image.png"/>
          <p:cNvPicPr>
            <a:picLocks noChangeAspect="1" noChangeArrowheads="1"/>
          </p:cNvPicPr>
          <p:nvPr/>
        </p:nvPicPr>
        <p:blipFill>
          <a:blip r:embed="rId13"/>
          <a:stretch/>
        </p:blipFill>
        <p:spPr bwMode="auto">
          <a:xfrm>
            <a:off x="5833693" y="2257145"/>
            <a:ext cx="685800" cy="247650"/>
          </a:xfrm>
          <a:prstGeom prst="rect">
            <a:avLst/>
          </a:prstGeom>
          <a:noFill/>
        </p:spPr>
      </p:pic>
      <p:pic>
        <p:nvPicPr>
          <p:cNvPr id="1599809601" name="Picture 32" descr="image.png"/>
          <p:cNvPicPr>
            <a:picLocks noChangeAspect="1" noChangeArrowheads="1"/>
          </p:cNvPicPr>
          <p:nvPr/>
        </p:nvPicPr>
        <p:blipFill>
          <a:blip r:embed="rId14"/>
          <a:stretch/>
        </p:blipFill>
        <p:spPr bwMode="auto">
          <a:xfrm>
            <a:off x="8073832" y="2255682"/>
            <a:ext cx="638175" cy="247650"/>
          </a:xfrm>
          <a:prstGeom prst="rect">
            <a:avLst/>
          </a:prstGeom>
          <a:noFill/>
        </p:spPr>
      </p:pic>
      <p:pic>
        <p:nvPicPr>
          <p:cNvPr id="562866902" name="Picture 34" descr="image.png"/>
          <p:cNvPicPr>
            <a:picLocks noChangeAspect="1" noChangeArrowheads="1"/>
          </p:cNvPicPr>
          <p:nvPr/>
        </p:nvPicPr>
        <p:blipFill>
          <a:blip r:embed="rId15"/>
          <a:stretch/>
        </p:blipFill>
        <p:spPr bwMode="auto">
          <a:xfrm>
            <a:off x="1519488" y="4021429"/>
            <a:ext cx="647700" cy="238125"/>
          </a:xfrm>
          <a:prstGeom prst="rect">
            <a:avLst/>
          </a:prstGeom>
          <a:noFill/>
        </p:spPr>
      </p:pic>
      <p:pic>
        <p:nvPicPr>
          <p:cNvPr id="1383108080" name="Picture 36" descr="image.png"/>
          <p:cNvPicPr>
            <a:picLocks noChangeAspect="1" noChangeArrowheads="1"/>
          </p:cNvPicPr>
          <p:nvPr/>
        </p:nvPicPr>
        <p:blipFill>
          <a:blip r:embed="rId16"/>
          <a:stretch/>
        </p:blipFill>
        <p:spPr bwMode="auto">
          <a:xfrm>
            <a:off x="3723780" y="4019052"/>
            <a:ext cx="600075" cy="238125"/>
          </a:xfrm>
          <a:prstGeom prst="rect">
            <a:avLst/>
          </a:prstGeom>
          <a:noFill/>
        </p:spPr>
      </p:pic>
      <p:pic>
        <p:nvPicPr>
          <p:cNvPr id="1329830455" name="Picture 38" descr="image.png"/>
          <p:cNvPicPr>
            <a:picLocks noChangeAspect="1" noChangeArrowheads="1"/>
          </p:cNvPicPr>
          <p:nvPr/>
        </p:nvPicPr>
        <p:blipFill>
          <a:blip r:embed="rId17"/>
          <a:stretch/>
        </p:blipFill>
        <p:spPr bwMode="auto">
          <a:xfrm>
            <a:off x="5828612" y="4019051"/>
            <a:ext cx="657225" cy="238125"/>
          </a:xfrm>
          <a:prstGeom prst="rect">
            <a:avLst/>
          </a:prstGeom>
          <a:noFill/>
        </p:spPr>
      </p:pic>
      <p:pic>
        <p:nvPicPr>
          <p:cNvPr id="1896454346" name="Picture 40" descr="image.png"/>
          <p:cNvPicPr>
            <a:picLocks noChangeAspect="1" noChangeArrowheads="1"/>
          </p:cNvPicPr>
          <p:nvPr/>
        </p:nvPicPr>
        <p:blipFill>
          <a:blip r:embed="rId18"/>
          <a:stretch/>
        </p:blipFill>
        <p:spPr bwMode="auto">
          <a:xfrm>
            <a:off x="8045257" y="4019050"/>
            <a:ext cx="666750" cy="23812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0082853" name="Google Shape;99;p15"/>
          <p:cNvSpPr txBox="1">
            <a:spLocks noGrp="1"/>
          </p:cNvSpPr>
          <p:nvPr>
            <p:ph type="sldNum" idx="4294967295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>
                <a:latin typeface="Times New Roman"/>
                <a:cs typeface="Times New Roman"/>
              </a:rPr>
              <a:t>3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98710724" name="Text 14"/>
          <p:cNvSpPr>
            <a:spLocks noGrp="1"/>
          </p:cNvSpPr>
          <p:nvPr>
            <p:ph type="ctrTitle"/>
          </p:nvPr>
        </p:nvSpPr>
        <p:spPr bwMode="auto">
          <a:xfrm>
            <a:off x="987189" y="1731743"/>
            <a:ext cx="7488300" cy="115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540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Introduction </a:t>
            </a:r>
            <a:r>
              <a:rPr lang="fr-FR" sz="540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à</a:t>
            </a:r>
            <a:r>
              <a:rPr lang="en-US" sz="540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Airflow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325824216" name="Google Shape;98;p15"/>
          <p:cNvSpPr txBox="1"/>
          <p:nvPr/>
        </p:nvSpPr>
        <p:spPr bwMode="auto">
          <a:xfrm>
            <a:off x="987189" y="2802146"/>
            <a:ext cx="5519747" cy="630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Abadi"/>
                <a:ea typeface="Source Sans Pro"/>
                <a:cs typeface="Source Sans Pro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>
            <a:pPr marL="0" indent="0">
              <a:defRPr/>
            </a:pPr>
            <a:r>
              <a:rPr lang="en-US" sz="1800">
                <a:solidFill>
                  <a:srgbClr val="6B8CAE"/>
                </a:solidFill>
              </a:rPr>
              <a:t>Frameworks : comparative • </a:t>
            </a:r>
            <a:r>
              <a:rPr lang="en-US" sz="1800">
                <a:solidFill>
                  <a:srgbClr val="6B8CAE"/>
                </a:solidFill>
              </a:rPr>
              <a:t>Historique</a:t>
            </a:r>
            <a:r>
              <a:rPr lang="en-US" sz="1800">
                <a:solidFill>
                  <a:srgbClr val="6B8CAE"/>
                </a:solidFill>
              </a:rPr>
              <a:t> • Definition 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596500" name="Google Shape;144;p20"/>
          <p:cNvSpPr txBox="1">
            <a:spLocks noGrp="1"/>
          </p:cNvSpPr>
          <p:nvPr>
            <p:ph type="sldNum" idx="12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>
                <a:latin typeface="Times New Roman"/>
                <a:cs typeface="Times New Roman"/>
              </a:rPr>
              <a:t>4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249846941" name="Text 1"/>
          <p:cNvSpPr/>
          <p:nvPr/>
        </p:nvSpPr>
        <p:spPr bwMode="auto">
          <a:xfrm>
            <a:off x="457200" y="14007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002060"/>
                </a:solidFill>
                <a:latin typeface="+mn-lt"/>
                <a:cs typeface="Times New Roman"/>
              </a:rPr>
              <a:t>Frameworks : </a:t>
            </a:r>
            <a:r>
              <a:rPr lang="en-US" sz="2400" b="1">
                <a:solidFill>
                  <a:srgbClr val="002060"/>
                </a:solidFill>
                <a:latin typeface="+mn-lt"/>
                <a:cs typeface="Times New Roman"/>
              </a:rPr>
              <a:t>Analyse</a:t>
            </a:r>
            <a:r>
              <a:rPr lang="en-US" sz="2400" b="1">
                <a:solidFill>
                  <a:srgbClr val="002060"/>
                </a:solidFill>
                <a:latin typeface="+mn-lt"/>
                <a:cs typeface="Times New Roman"/>
              </a:rPr>
              <a:t> comparative</a:t>
            </a:r>
            <a:endParaRPr/>
          </a:p>
        </p:txBody>
      </p:sp>
      <p:sp>
        <p:nvSpPr>
          <p:cNvPr id="1722578590" name="Text 7"/>
          <p:cNvSpPr/>
          <p:nvPr/>
        </p:nvSpPr>
        <p:spPr bwMode="auto">
          <a:xfrm>
            <a:off x="274320" y="186537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Times New Roman"/>
                <a:cs typeface="Times New Roman"/>
              </a:rPr>
              <a:t>Action Operators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892171130" name="Text 19"/>
          <p:cNvSpPr/>
          <p:nvPr/>
        </p:nvSpPr>
        <p:spPr bwMode="auto">
          <a:xfrm>
            <a:off x="3337560" y="186537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Times New Roman"/>
                <a:cs typeface="Times New Roman"/>
              </a:rPr>
              <a:t>Transfer Operators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988315252" name="Text 31"/>
          <p:cNvSpPr/>
          <p:nvPr/>
        </p:nvSpPr>
        <p:spPr bwMode="auto">
          <a:xfrm>
            <a:off x="6400800" y="186537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Times New Roman"/>
                <a:cs typeface="Times New Roman"/>
              </a:rPr>
              <a:t>Sensor Operators</a:t>
            </a:r>
            <a:endParaRPr lang="en-US" sz="1200">
              <a:latin typeface="Times New Roman"/>
              <a:cs typeface="Times New Roman"/>
            </a:endParaRPr>
          </a:p>
        </p:txBody>
      </p:sp>
      <p:pic>
        <p:nvPicPr>
          <p:cNvPr id="1181667116" name="Picture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53143" y="1211087"/>
            <a:ext cx="7837714" cy="3595914"/>
          </a:xfrm>
          <a:prstGeom prst="rect">
            <a:avLst/>
          </a:prstGeom>
        </p:spPr>
      </p:pic>
      <p:sp>
        <p:nvSpPr>
          <p:cNvPr id="2013962183" name="Shape 1"/>
          <p:cNvSpPr/>
          <p:nvPr/>
        </p:nvSpPr>
        <p:spPr bwMode="auto">
          <a:xfrm>
            <a:off x="457200" y="850391"/>
            <a:ext cx="8229600" cy="4571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532619" name="Google Shape;171;p23"/>
          <p:cNvSpPr txBox="1">
            <a:spLocks noGrp="1"/>
          </p:cNvSpPr>
          <p:nvPr>
            <p:ph type="sldNum" idx="12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>
                <a:latin typeface="Times New Roman"/>
                <a:cs typeface="Times New Roman"/>
              </a:rPr>
              <a:t>5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2131509490" name="Text 13"/>
          <p:cNvSpPr/>
          <p:nvPr/>
        </p:nvSpPr>
        <p:spPr bwMode="auto">
          <a:xfrm>
            <a:off x="320040" y="344728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Times New Roman"/>
                <a:cs typeface="Times New Roman"/>
              </a:rPr>
              <a:t>Queued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1452588446" name="Text 19"/>
          <p:cNvSpPr/>
          <p:nvPr/>
        </p:nvSpPr>
        <p:spPr bwMode="auto">
          <a:xfrm>
            <a:off x="3209544" y="344728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Times New Roman"/>
                <a:cs typeface="Times New Roman"/>
              </a:rPr>
              <a:t>Success</a:t>
            </a:r>
            <a:endParaRPr lang="en-US" sz="1000">
              <a:latin typeface="Times New Roman"/>
              <a:cs typeface="Times New Roman"/>
            </a:endParaRPr>
          </a:p>
        </p:txBody>
      </p:sp>
      <p:cxnSp>
        <p:nvCxnSpPr>
          <p:cNvPr id="857129628" name="Straight Connector 8"/>
          <p:cNvCxnSpPr/>
          <p:nvPr/>
        </p:nvCxnSpPr>
        <p:spPr bwMode="auto">
          <a:xfrm flipH="1">
            <a:off x="896112" y="3037114"/>
            <a:ext cx="7406967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89071879" name="Oval 49"/>
          <p:cNvSpPr/>
          <p:nvPr/>
        </p:nvSpPr>
        <p:spPr bwMode="auto">
          <a:xfrm rot="10800000" flipV="1">
            <a:off x="1845702" y="2822134"/>
            <a:ext cx="817406" cy="42995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>
                <a:solidFill>
                  <a:schemeClr val="bg1"/>
                </a:solidFill>
                <a:latin typeface="Times New Roman"/>
                <a:cs typeface="Times New Roman"/>
              </a:rPr>
              <a:t>2014</a:t>
            </a:r>
            <a:endParaRPr lang="fr-FR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cxnSp>
        <p:nvCxnSpPr>
          <p:cNvPr id="770430169" name="Straight Connector 53"/>
          <p:cNvCxnSpPr/>
          <p:nvPr/>
        </p:nvCxnSpPr>
        <p:spPr bwMode="auto">
          <a:xfrm>
            <a:off x="2282979" y="2374451"/>
            <a:ext cx="0" cy="429985"/>
          </a:xfrm>
          <a:prstGeom prst="line">
            <a:avLst/>
          </a:prstGeom>
          <a:ln>
            <a:solidFill>
              <a:schemeClr val="tx1">
                <a:lumMod val="25000"/>
                <a:lumOff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5034027" name="Straight Connector 54"/>
          <p:cNvCxnSpPr/>
          <p:nvPr/>
        </p:nvCxnSpPr>
        <p:spPr bwMode="auto">
          <a:xfrm>
            <a:off x="3770996" y="3252092"/>
            <a:ext cx="0" cy="429985"/>
          </a:xfrm>
          <a:prstGeom prst="line">
            <a:avLst/>
          </a:prstGeom>
          <a:ln>
            <a:solidFill>
              <a:schemeClr val="tx1">
                <a:lumMod val="25000"/>
                <a:lumOff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7916121" name="Straight Connector 55"/>
          <p:cNvCxnSpPr/>
          <p:nvPr/>
        </p:nvCxnSpPr>
        <p:spPr bwMode="auto">
          <a:xfrm>
            <a:off x="5158360" y="2374451"/>
            <a:ext cx="0" cy="429985"/>
          </a:xfrm>
          <a:prstGeom prst="line">
            <a:avLst/>
          </a:prstGeom>
          <a:ln>
            <a:solidFill>
              <a:schemeClr val="tx1">
                <a:lumMod val="25000"/>
                <a:lumOff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7046404" name="Text 22"/>
          <p:cNvSpPr/>
          <p:nvPr/>
        </p:nvSpPr>
        <p:spPr bwMode="auto">
          <a:xfrm>
            <a:off x="4654296" y="344728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Times New Roman"/>
                <a:cs typeface="Times New Roman"/>
              </a:rPr>
              <a:t>Faile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247588702" name="Text 22"/>
          <p:cNvSpPr/>
          <p:nvPr/>
        </p:nvSpPr>
        <p:spPr bwMode="auto">
          <a:xfrm>
            <a:off x="4806696" y="359968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Times New Roman"/>
                <a:cs typeface="Times New Roman"/>
              </a:rPr>
              <a:t>Faile</a:t>
            </a:r>
            <a:endParaRPr lang="en-US" sz="1000">
              <a:latin typeface="Times New Roman"/>
              <a:cs typeface="Times New Roman"/>
            </a:endParaRPr>
          </a:p>
        </p:txBody>
      </p:sp>
      <p:cxnSp>
        <p:nvCxnSpPr>
          <p:cNvPr id="1944187514" name="Straight Connector 60"/>
          <p:cNvCxnSpPr/>
          <p:nvPr/>
        </p:nvCxnSpPr>
        <p:spPr bwMode="auto">
          <a:xfrm>
            <a:off x="6591599" y="3232295"/>
            <a:ext cx="0" cy="429985"/>
          </a:xfrm>
          <a:prstGeom prst="line">
            <a:avLst/>
          </a:prstGeom>
          <a:ln>
            <a:solidFill>
              <a:schemeClr val="tx1">
                <a:lumMod val="25000"/>
                <a:lumOff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7211774" name="Rectangle: Rounded Corners 61"/>
          <p:cNvSpPr/>
          <p:nvPr/>
        </p:nvSpPr>
        <p:spPr bwMode="auto">
          <a:xfrm>
            <a:off x="1089933" y="1623104"/>
            <a:ext cx="2328941" cy="745144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>
                <a:solidFill>
                  <a:schemeClr val="accent5">
                    <a:lumMod val="10000"/>
                  </a:schemeClr>
                </a:solidFill>
                <a:latin typeface="Times New Roman"/>
                <a:cs typeface="Times New Roman"/>
              </a:rPr>
              <a:t>Cr</a:t>
            </a:r>
            <a:r>
              <a:rPr lang="fr-FR">
                <a:solidFill>
                  <a:schemeClr val="accent5">
                    <a:lumMod val="10000"/>
                  </a:schemeClr>
                </a:solidFill>
                <a:latin typeface="Times New Roman"/>
                <a:cs typeface="Times New Roman"/>
              </a:rPr>
              <a:t>éation</a:t>
            </a:r>
            <a:r>
              <a:rPr lang="en-US">
                <a:solidFill>
                  <a:schemeClr val="accent5">
                    <a:lumMod val="10000"/>
                  </a:schemeClr>
                </a:solidFill>
                <a:latin typeface="Times New Roman"/>
                <a:cs typeface="Times New Roman"/>
              </a:rPr>
              <a:t> chez Airbnb</a:t>
            </a:r>
            <a:endParaRPr lang="fr-FR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675857555" name="Rectangle: Rounded Corners 62"/>
          <p:cNvSpPr/>
          <p:nvPr/>
        </p:nvSpPr>
        <p:spPr bwMode="auto">
          <a:xfrm>
            <a:off x="2654040" y="3682077"/>
            <a:ext cx="2328941" cy="745142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>
                <a:solidFill>
                  <a:schemeClr val="accent5">
                    <a:lumMod val="10000"/>
                  </a:schemeClr>
                </a:solidFill>
                <a:latin typeface="Times New Roman"/>
                <a:cs typeface="Times New Roman"/>
              </a:rPr>
              <a:t>Open-source sur GitHub</a:t>
            </a:r>
            <a:endParaRPr lang="fr-FR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962563326" name="Rectangle: Rounded Corners 127"/>
          <p:cNvSpPr/>
          <p:nvPr/>
        </p:nvSpPr>
        <p:spPr bwMode="auto">
          <a:xfrm>
            <a:off x="4024301" y="1630611"/>
            <a:ext cx="2268118" cy="76154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>
                <a:solidFill>
                  <a:schemeClr val="accent5">
                    <a:lumMod val="10000"/>
                  </a:schemeClr>
                </a:solidFill>
                <a:latin typeface="Times New Roman"/>
                <a:cs typeface="Times New Roman"/>
              </a:rPr>
              <a:t>Apache Incubator</a:t>
            </a:r>
            <a:endParaRPr lang="fr-FR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195696148" name="Rectangle: Rounded Corners 130"/>
          <p:cNvSpPr/>
          <p:nvPr/>
        </p:nvSpPr>
        <p:spPr bwMode="auto">
          <a:xfrm>
            <a:off x="5538485" y="3691103"/>
            <a:ext cx="2286485" cy="779152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>
                <a:solidFill>
                  <a:schemeClr val="accent5">
                    <a:lumMod val="10000"/>
                  </a:schemeClr>
                </a:solidFill>
                <a:latin typeface="Times New Roman"/>
                <a:cs typeface="Times New Roman"/>
              </a:rPr>
              <a:t>Apache Top-Level Project</a:t>
            </a:r>
            <a:endParaRPr lang="fr-FR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856227429" name="Oval 49"/>
          <p:cNvSpPr/>
          <p:nvPr/>
        </p:nvSpPr>
        <p:spPr bwMode="auto">
          <a:xfrm rot="10800000" flipV="1">
            <a:off x="3358844" y="2832990"/>
            <a:ext cx="817406" cy="42995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>
                <a:solidFill>
                  <a:schemeClr val="bg1"/>
                </a:solidFill>
                <a:latin typeface="Times New Roman"/>
                <a:cs typeface="Times New Roman"/>
              </a:rPr>
              <a:t>2015</a:t>
            </a:r>
            <a:endParaRPr lang="fr-FR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95001884" name="Oval 49"/>
          <p:cNvSpPr/>
          <p:nvPr/>
        </p:nvSpPr>
        <p:spPr bwMode="auto">
          <a:xfrm rot="10800000" flipV="1">
            <a:off x="4780435" y="2826549"/>
            <a:ext cx="817406" cy="42995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>
                <a:solidFill>
                  <a:schemeClr val="bg1"/>
                </a:solidFill>
                <a:latin typeface="Times New Roman"/>
                <a:cs typeface="Times New Roman"/>
              </a:rPr>
              <a:t>2018</a:t>
            </a:r>
            <a:endParaRPr lang="fr-FR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529869119" name="Oval 49"/>
          <p:cNvSpPr/>
          <p:nvPr/>
        </p:nvSpPr>
        <p:spPr bwMode="auto">
          <a:xfrm rot="10800000" flipV="1">
            <a:off x="6182896" y="2839053"/>
            <a:ext cx="817406" cy="42995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>
                <a:solidFill>
                  <a:schemeClr val="bg1"/>
                </a:solidFill>
                <a:latin typeface="Times New Roman"/>
                <a:cs typeface="Times New Roman"/>
              </a:rPr>
              <a:t>2019</a:t>
            </a:r>
            <a:endParaRPr lang="fr-FR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612543028" name="Shape 1"/>
          <p:cNvSpPr/>
          <p:nvPr/>
        </p:nvSpPr>
        <p:spPr bwMode="auto">
          <a:xfrm>
            <a:off x="457200" y="850391"/>
            <a:ext cx="8229600" cy="4571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4054583" name="TextBox 7"/>
          <p:cNvSpPr txBox="1"/>
          <p:nvPr/>
        </p:nvSpPr>
        <p:spPr bwMode="auto">
          <a:xfrm>
            <a:off x="368040" y="295783"/>
            <a:ext cx="831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002060"/>
                </a:solidFill>
                <a:latin typeface="+mn-lt"/>
                <a:cs typeface="Times New Roman"/>
              </a:rPr>
              <a:t>Historique</a:t>
            </a:r>
            <a:endParaRPr lang="en-US" sz="2400" b="1">
              <a:solidFill>
                <a:srgbClr val="002060"/>
              </a:solidFill>
              <a:latin typeface="+mn-lt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579200" name="Google Shape;216;p25"/>
          <p:cNvSpPr txBox="1">
            <a:spLocks noGrp="1"/>
          </p:cNvSpPr>
          <p:nvPr>
            <p:ph type="sldNum" idx="12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>
                <a:latin typeface="Times New Roman"/>
                <a:cs typeface="Times New Roman"/>
              </a:rPr>
              <a:t>6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1613764924" name="Text 1"/>
          <p:cNvSpPr/>
          <p:nvPr/>
        </p:nvSpPr>
        <p:spPr bwMode="auto">
          <a:xfrm>
            <a:off x="457200" y="300262"/>
            <a:ext cx="8294915" cy="53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002060"/>
                </a:solidFill>
                <a:latin typeface="+mn-lt"/>
                <a:cs typeface="Times New Roman"/>
              </a:rPr>
              <a:t>Définition</a:t>
            </a:r>
            <a:r>
              <a:rPr lang="en-US" sz="2400" b="1">
                <a:solidFill>
                  <a:srgbClr val="002060"/>
                </a:solidFill>
                <a:latin typeface="+mn-lt"/>
                <a:cs typeface="Times New Roman"/>
              </a:rPr>
              <a:t> </a:t>
            </a:r>
            <a:r>
              <a:rPr lang="en-US" sz="2400" b="1">
                <a:solidFill>
                  <a:srgbClr val="002060"/>
                </a:solidFill>
                <a:latin typeface="+mn-lt"/>
                <a:cs typeface="Times New Roman"/>
              </a:rPr>
              <a:t>d'Apache</a:t>
            </a:r>
            <a:r>
              <a:rPr lang="en-US" sz="2400" b="1">
                <a:solidFill>
                  <a:srgbClr val="002060"/>
                </a:solidFill>
                <a:latin typeface="+mn-lt"/>
                <a:cs typeface="Times New Roman"/>
              </a:rPr>
              <a:t> Airflow</a:t>
            </a:r>
            <a:endParaRPr/>
          </a:p>
        </p:txBody>
      </p:sp>
      <p:sp>
        <p:nvSpPr>
          <p:cNvPr id="947395529" name="Text 21"/>
          <p:cNvSpPr/>
          <p:nvPr/>
        </p:nvSpPr>
        <p:spPr bwMode="auto">
          <a:xfrm>
            <a:off x="182880" y="309067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i="1">
                <a:solidFill>
                  <a:srgbClr val="FFFFFF"/>
                </a:solidFill>
                <a:latin typeface="Times New Roman"/>
                <a:cs typeface="Times New Roman"/>
              </a:rPr>
              <a:t>→ Exécution chaque jour à 6h00</a:t>
            </a:r>
            <a:endParaRPr lang="en-US" sz="1150">
              <a:latin typeface="Times New Roman"/>
              <a:cs typeface="Times New Roman"/>
            </a:endParaRPr>
          </a:p>
        </p:txBody>
      </p:sp>
      <p:sp>
        <p:nvSpPr>
          <p:cNvPr id="1599179204" name="Shape 2"/>
          <p:cNvSpPr/>
          <p:nvPr/>
        </p:nvSpPr>
        <p:spPr bwMode="auto">
          <a:xfrm>
            <a:off x="506186" y="1431383"/>
            <a:ext cx="8245929" cy="10776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20000"/>
                <a:lumOff val="8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ctr">
              <a:defRPr/>
            </a:pPr>
            <a:endParaRPr lang="en-US" i="1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en-US" i="1">
                <a:solidFill>
                  <a:schemeClr val="tx1"/>
                </a:solidFill>
                <a:latin typeface="Times New Roman"/>
                <a:cs typeface="Times New Roman"/>
              </a:rPr>
              <a:t>"</a:t>
            </a:r>
            <a:r>
              <a:rPr lang="en-US" b="1" i="1">
                <a:solidFill>
                  <a:schemeClr val="tx1"/>
                </a:solidFill>
                <a:latin typeface="Times New Roman"/>
                <a:cs typeface="Times New Roman"/>
              </a:rPr>
              <a:t>Apache Airflow </a:t>
            </a:r>
            <a:r>
              <a:rPr lang="en-US" i="1">
                <a:solidFill>
                  <a:schemeClr val="tx1"/>
                </a:solidFill>
                <a:latin typeface="Times New Roman"/>
                <a:cs typeface="Times New Roman"/>
              </a:rPr>
              <a:t>est </a:t>
            </a:r>
            <a:r>
              <a:rPr lang="en-US" i="1">
                <a:solidFill>
                  <a:schemeClr val="tx1"/>
                </a:solidFill>
                <a:latin typeface="Times New Roman"/>
                <a:cs typeface="Times New Roman"/>
              </a:rPr>
              <a:t>une</a:t>
            </a:r>
            <a:r>
              <a:rPr lang="en-US" i="1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i="1">
                <a:solidFill>
                  <a:schemeClr val="tx1"/>
                </a:solidFill>
                <a:latin typeface="Times New Roman"/>
                <a:cs typeface="Times New Roman"/>
              </a:rPr>
              <a:t>plateforme</a:t>
            </a:r>
            <a:r>
              <a:rPr lang="en-US" i="1">
                <a:solidFill>
                  <a:schemeClr val="tx1"/>
                </a:solidFill>
                <a:latin typeface="Times New Roman"/>
                <a:cs typeface="Times New Roman"/>
              </a:rPr>
              <a:t> open-source de workflow management </a:t>
            </a:r>
            <a:r>
              <a:rPr lang="en-US" i="1">
                <a:solidFill>
                  <a:schemeClr val="tx1"/>
                </a:solidFill>
                <a:latin typeface="Times New Roman"/>
                <a:cs typeface="Times New Roman"/>
              </a:rPr>
              <a:t>permettant</a:t>
            </a:r>
            <a:r>
              <a:rPr lang="en-US" i="1">
                <a:solidFill>
                  <a:schemeClr val="tx1"/>
                </a:solidFill>
                <a:latin typeface="Times New Roman"/>
                <a:cs typeface="Times New Roman"/>
              </a:rPr>
              <a:t> de programmer, </a:t>
            </a:r>
            <a:r>
              <a:rPr lang="en-US" i="1">
                <a:solidFill>
                  <a:schemeClr val="tx1"/>
                </a:solidFill>
                <a:latin typeface="Times New Roman"/>
                <a:cs typeface="Times New Roman"/>
              </a:rPr>
              <a:t>orchestrer</a:t>
            </a:r>
            <a:r>
              <a:rPr lang="en-US" i="1">
                <a:solidFill>
                  <a:schemeClr val="tx1"/>
                </a:solidFill>
                <a:latin typeface="Times New Roman"/>
                <a:cs typeface="Times New Roman"/>
              </a:rPr>
              <a:t> et </a:t>
            </a:r>
            <a:r>
              <a:rPr lang="en-US" i="1">
                <a:solidFill>
                  <a:schemeClr val="tx1"/>
                </a:solidFill>
                <a:latin typeface="Times New Roman"/>
                <a:cs typeface="Times New Roman"/>
              </a:rPr>
              <a:t>monitorer</a:t>
            </a:r>
            <a:r>
              <a:rPr lang="en-US" i="1">
                <a:solidFill>
                  <a:schemeClr val="tx1"/>
                </a:solidFill>
                <a:latin typeface="Times New Roman"/>
                <a:cs typeface="Times New Roman"/>
              </a:rPr>
              <a:t> des pipelines de données sous </a:t>
            </a:r>
            <a:r>
              <a:rPr lang="en-US" i="1">
                <a:solidFill>
                  <a:schemeClr val="tx1"/>
                </a:solidFill>
                <a:latin typeface="Times New Roman"/>
                <a:cs typeface="Times New Roman"/>
              </a:rPr>
              <a:t>forme</a:t>
            </a:r>
            <a:r>
              <a:rPr lang="en-US" i="1">
                <a:solidFill>
                  <a:schemeClr val="tx1"/>
                </a:solidFill>
                <a:latin typeface="Times New Roman"/>
                <a:cs typeface="Times New Roman"/>
              </a:rPr>
              <a:t> de </a:t>
            </a:r>
            <a:r>
              <a:rPr lang="en-US" i="1">
                <a:solidFill>
                  <a:schemeClr val="tx1"/>
                </a:solidFill>
                <a:latin typeface="Times New Roman"/>
                <a:cs typeface="Times New Roman"/>
              </a:rPr>
              <a:t>graphes</a:t>
            </a:r>
            <a:r>
              <a:rPr lang="en-US" i="1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i="1">
                <a:solidFill>
                  <a:schemeClr val="tx1"/>
                </a:solidFill>
                <a:latin typeface="Times New Roman"/>
                <a:cs typeface="Times New Roman"/>
              </a:rPr>
              <a:t>acycliques</a:t>
            </a:r>
            <a:r>
              <a:rPr lang="en-US" i="1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i="1">
                <a:solidFill>
                  <a:schemeClr val="tx1"/>
                </a:solidFill>
                <a:latin typeface="Times New Roman"/>
                <a:cs typeface="Times New Roman"/>
              </a:rPr>
              <a:t>dirigés</a:t>
            </a:r>
            <a:r>
              <a:rPr lang="en-US" i="1">
                <a:solidFill>
                  <a:schemeClr val="tx1"/>
                </a:solidFill>
                <a:latin typeface="Times New Roman"/>
                <a:cs typeface="Times New Roman"/>
              </a:rPr>
              <a:t> (DAGs)."</a:t>
            </a:r>
            <a:endParaRPr lang="en-US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fr-FR">
              <a:latin typeface="Times New Roman"/>
              <a:cs typeface="Times New Roman"/>
            </a:endParaRPr>
          </a:p>
        </p:txBody>
      </p:sp>
      <p:sp>
        <p:nvSpPr>
          <p:cNvPr id="2094974046" name="Shape 4"/>
          <p:cNvSpPr/>
          <p:nvPr/>
        </p:nvSpPr>
        <p:spPr bwMode="auto">
          <a:xfrm>
            <a:off x="841140" y="2750058"/>
            <a:ext cx="3257332" cy="10287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b="1">
                <a:solidFill>
                  <a:srgbClr val="0F2340"/>
                </a:solidFill>
                <a:latin typeface="Times New Roman"/>
                <a:cs typeface="Times New Roman"/>
              </a:rPr>
              <a:t>      </a:t>
            </a:r>
            <a:r>
              <a:rPr lang="en-US" sz="1600" b="1">
                <a:solidFill>
                  <a:schemeClr val="accent2">
                    <a:lumMod val="75000"/>
                  </a:schemeClr>
                </a:solidFill>
                <a:latin typeface="Times New Roman"/>
                <a:cs typeface="Times New Roman"/>
              </a:rPr>
              <a:t>Orchestration</a:t>
            </a:r>
            <a:endParaRPr/>
          </a:p>
          <a:p>
            <a:pPr>
              <a:defRPr/>
            </a:pPr>
            <a:endParaRPr lang="en-US" b="1">
              <a:solidFill>
                <a:srgbClr val="0F234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fr-FR">
                <a:solidFill>
                  <a:srgbClr val="546E7A"/>
                </a:solidFill>
                <a:latin typeface="Times New Roman"/>
                <a:cs typeface="Times New Roman"/>
              </a:rPr>
              <a:t>définir l'ordre logique des tâches</a:t>
            </a:r>
            <a:endParaRPr lang="fr-FR">
              <a:latin typeface="Times New Roman"/>
              <a:cs typeface="Times New Roman"/>
            </a:endParaRPr>
          </a:p>
        </p:txBody>
      </p:sp>
      <p:sp>
        <p:nvSpPr>
          <p:cNvPr id="748158109" name="Shape 4"/>
          <p:cNvSpPr/>
          <p:nvPr/>
        </p:nvSpPr>
        <p:spPr bwMode="auto">
          <a:xfrm>
            <a:off x="841140" y="3917951"/>
            <a:ext cx="3257332" cy="10287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b="1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     </a:t>
            </a:r>
            <a:r>
              <a:rPr lang="en-US" sz="1600" b="1">
                <a:solidFill>
                  <a:schemeClr val="accent2">
                    <a:lumMod val="75000"/>
                  </a:schemeClr>
                </a:solidFill>
                <a:latin typeface="Times New Roman"/>
                <a:cs typeface="Times New Roman"/>
              </a:rPr>
              <a:t>Monitoring</a:t>
            </a:r>
            <a:endParaRPr sz="1600">
              <a:solidFill>
                <a:schemeClr val="accent2">
                  <a:lumMod val="75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en-US" b="1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fr-FR">
                <a:solidFill>
                  <a:srgbClr val="546E7A"/>
                </a:solidFill>
                <a:latin typeface="Times New Roman"/>
                <a:cs typeface="Times New Roman"/>
              </a:rPr>
              <a:t>Offre une interface visuelle pour suivre en temps réel ce qui a réussi ou échoué.</a:t>
            </a:r>
            <a:endParaRPr/>
          </a:p>
          <a:p>
            <a:pPr>
              <a:defRPr/>
            </a:pPr>
            <a:endParaRPr lang="fr-FR" b="1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33293416" name="Shape 4"/>
          <p:cNvSpPr/>
          <p:nvPr/>
        </p:nvSpPr>
        <p:spPr bwMode="auto">
          <a:xfrm>
            <a:off x="5147052" y="2750058"/>
            <a:ext cx="3257332" cy="10287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b="1">
                <a:solidFill>
                  <a:srgbClr val="C00000"/>
                </a:solidFill>
                <a:latin typeface="Times New Roman"/>
                <a:cs typeface="Times New Roman"/>
              </a:rPr>
              <a:t>        </a:t>
            </a:r>
            <a:r>
              <a:rPr lang="en-US" sz="160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1600" b="1">
                <a:solidFill>
                  <a:schemeClr val="accent2">
                    <a:lumMod val="75000"/>
                  </a:schemeClr>
                </a:solidFill>
                <a:latin typeface="Times New Roman"/>
                <a:cs typeface="Times New Roman"/>
              </a:rPr>
              <a:t>Scheduling</a:t>
            </a:r>
            <a:endParaRPr>
              <a:latin typeface="Times New Roman"/>
              <a:cs typeface="Times New Roman"/>
            </a:endParaRPr>
          </a:p>
          <a:p>
            <a:pPr>
              <a:defRPr/>
            </a:pPr>
            <a:endParaRPr lang="en-US" b="1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fr-FR">
                <a:solidFill>
                  <a:srgbClr val="546E7A"/>
                </a:solidFill>
                <a:latin typeface="Times New Roman"/>
                <a:cs typeface="Times New Roman"/>
              </a:rPr>
              <a:t>décide du moment précis où le travail doit se lancer</a:t>
            </a:r>
            <a:endParaRPr lang="fr-FR" b="1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46700928" name="Shape 4"/>
          <p:cNvSpPr/>
          <p:nvPr/>
        </p:nvSpPr>
        <p:spPr bwMode="auto">
          <a:xfrm>
            <a:off x="5147052" y="3917950"/>
            <a:ext cx="3257332" cy="1028701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b="1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        </a:t>
            </a:r>
            <a:r>
              <a:rPr lang="en-US" sz="1600" b="1">
                <a:solidFill>
                  <a:schemeClr val="accent2">
                    <a:lumMod val="75000"/>
                  </a:schemeClr>
                </a:solidFill>
                <a:latin typeface="Times New Roman"/>
                <a:cs typeface="Times New Roman"/>
              </a:rPr>
              <a:t>Retry / Replay</a:t>
            </a:r>
            <a:endParaRPr/>
          </a:p>
          <a:p>
            <a:pPr>
              <a:defRPr/>
            </a:pPr>
            <a:endParaRPr sz="1600">
              <a:solidFill>
                <a:schemeClr val="accent2">
                  <a:lumMod val="75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fr-FR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Relance automatique des processus en cas d'échec ou d'interruption.</a:t>
            </a:r>
            <a:endParaRPr lang="en-US" b="1">
              <a:solidFill>
                <a:schemeClr val="tx1">
                  <a:lumMod val="75000"/>
                  <a:lumOff val="25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fr-FR" b="1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</p:txBody>
      </p:sp>
      <p:pic>
        <p:nvPicPr>
          <p:cNvPr id="1728682175" name="Picture 4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53472" y="2799126"/>
            <a:ext cx="182888" cy="282378"/>
          </a:xfrm>
          <a:prstGeom prst="rect">
            <a:avLst/>
          </a:prstGeom>
        </p:spPr>
      </p:pic>
      <p:sp>
        <p:nvSpPr>
          <p:cNvPr id="691033833" name="Rectangle 55"/>
          <p:cNvSpPr/>
          <p:nvPr/>
        </p:nvSpPr>
        <p:spPr bwMode="auto">
          <a:xfrm>
            <a:off x="780631" y="2750058"/>
            <a:ext cx="60509" cy="10287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1778585504" name="Rectangle 56"/>
          <p:cNvSpPr/>
          <p:nvPr/>
        </p:nvSpPr>
        <p:spPr bwMode="auto">
          <a:xfrm>
            <a:off x="5086543" y="2763937"/>
            <a:ext cx="60509" cy="10287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1082724732" name="Rectangle 57"/>
          <p:cNvSpPr/>
          <p:nvPr/>
        </p:nvSpPr>
        <p:spPr bwMode="auto">
          <a:xfrm>
            <a:off x="780631" y="3927119"/>
            <a:ext cx="60509" cy="10287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1061816248" name="Rectangle 58"/>
          <p:cNvSpPr/>
          <p:nvPr/>
        </p:nvSpPr>
        <p:spPr bwMode="auto">
          <a:xfrm>
            <a:off x="5116797" y="3927119"/>
            <a:ext cx="60509" cy="10287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pic>
        <p:nvPicPr>
          <p:cNvPr id="1895627222" name="Picture 1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241296" y="2799126"/>
            <a:ext cx="274632" cy="234789"/>
          </a:xfrm>
          <a:prstGeom prst="rect">
            <a:avLst/>
          </a:prstGeom>
        </p:spPr>
      </p:pic>
      <p:pic>
        <p:nvPicPr>
          <p:cNvPr id="781220943" name="Picture 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948823" y="3927119"/>
            <a:ext cx="187537" cy="315914"/>
          </a:xfrm>
          <a:prstGeom prst="rect">
            <a:avLst/>
          </a:prstGeom>
        </p:spPr>
      </p:pic>
      <p:pic>
        <p:nvPicPr>
          <p:cNvPr id="6844889" name="Picture 5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5264136" y="3965851"/>
            <a:ext cx="290961" cy="256293"/>
          </a:xfrm>
          <a:prstGeom prst="rect">
            <a:avLst/>
          </a:prstGeom>
        </p:spPr>
      </p:pic>
      <p:sp>
        <p:nvSpPr>
          <p:cNvPr id="876737590" name="Shape 1"/>
          <p:cNvSpPr/>
          <p:nvPr/>
        </p:nvSpPr>
        <p:spPr bwMode="auto">
          <a:xfrm>
            <a:off x="457200" y="850391"/>
            <a:ext cx="8229600" cy="4571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520710" name="Google Shape;98;p15"/>
          <p:cNvSpPr txBox="1">
            <a:spLocks noGrp="1"/>
          </p:cNvSpPr>
          <p:nvPr>
            <p:ph type="subTitle" idx="1"/>
          </p:nvPr>
        </p:nvSpPr>
        <p:spPr bwMode="auto">
          <a:xfrm flipH="0" flipV="0">
            <a:off x="987188" y="2809900"/>
            <a:ext cx="5287096" cy="63072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indent="0">
              <a:defRPr/>
            </a:pPr>
            <a:r>
              <a:rPr lang="en-US" sz="1800">
                <a:solidFill>
                  <a:srgbClr val="6B8CAE"/>
                </a:solidFill>
              </a:rPr>
              <a:t>DAGs • Operators • Tasks • Scheduling</a:t>
            </a:r>
            <a:endParaRPr lang="en-US" sz="1800"/>
          </a:p>
        </p:txBody>
      </p:sp>
      <p:sp>
        <p:nvSpPr>
          <p:cNvPr id="1826673981" name="Google Shape;99;p15"/>
          <p:cNvSpPr txBox="1">
            <a:spLocks noGrp="1"/>
          </p:cNvSpPr>
          <p:nvPr>
            <p:ph type="sldNum" idx="4294967295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662991057" name="Text 14"/>
          <p:cNvSpPr>
            <a:spLocks noGrp="1"/>
          </p:cNvSpPr>
          <p:nvPr>
            <p:ph type="ctrTitle"/>
          </p:nvPr>
        </p:nvSpPr>
        <p:spPr bwMode="auto">
          <a:xfrm>
            <a:off x="987189" y="1731743"/>
            <a:ext cx="7488300" cy="115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5400" b="1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Concepts </a:t>
            </a:r>
            <a:r>
              <a:rPr lang="en-US" sz="5400" b="1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Fondamentaux</a:t>
            </a:r>
            <a:endParaRPr lang="en-US" sz="540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265703" name="Google Shape;135;p19"/>
          <p:cNvSpPr txBox="1">
            <a:spLocks noGrp="1"/>
          </p:cNvSpPr>
          <p:nvPr>
            <p:ph type="sldNum" idx="12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>
                <a:latin typeface="Times New Roman"/>
                <a:cs typeface="Times New Roman"/>
              </a:rPr>
              <a:t>8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760371107" name="Shape 0"/>
          <p:cNvSpPr/>
          <p:nvPr/>
        </p:nvSpPr>
        <p:spPr bwMode="auto">
          <a:xfrm>
            <a:off x="0" y="0"/>
            <a:ext cx="3291840" cy="51435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rgbClr val="28665C"/>
            </a:solidFill>
            <a:prstDash val="solid"/>
          </a:ln>
        </p:spPr>
      </p:sp>
      <p:pic>
        <p:nvPicPr>
          <p:cNvPr id="929769274" name="Image 0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34440" y="441832"/>
            <a:ext cx="868680" cy="868680"/>
          </a:xfrm>
          <a:prstGeom prst="rect">
            <a:avLst/>
          </a:prstGeom>
        </p:spPr>
      </p:pic>
      <p:sp>
        <p:nvSpPr>
          <p:cNvPr id="1819585375" name="Text 1"/>
          <p:cNvSpPr/>
          <p:nvPr/>
        </p:nvSpPr>
        <p:spPr bwMode="auto">
          <a:xfrm>
            <a:off x="91440" y="14173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chemeClr val="bg1"/>
                </a:solidFill>
                <a:latin typeface="Times New Roman"/>
                <a:cs typeface="Times New Roman"/>
              </a:rPr>
              <a:t>DAG</a:t>
            </a:r>
            <a:endParaRPr lang="en-US" sz="36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944813441" name="Text 2"/>
          <p:cNvSpPr/>
          <p:nvPr/>
        </p:nvSpPr>
        <p:spPr bwMode="auto">
          <a:xfrm>
            <a:off x="91440" y="2011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>
                <a:solidFill>
                  <a:srgbClr val="FFFFFF"/>
                </a:solidFill>
                <a:latin typeface="Times New Roman"/>
                <a:cs typeface="Times New Roman"/>
              </a:rPr>
              <a:t>Directed Acyclic</a:t>
            </a:r>
            <a:endParaRPr lang="en-US" sz="1500">
              <a:latin typeface="Times New Roman"/>
              <a:cs typeface="Times New Roman"/>
            </a:endParaRPr>
          </a:p>
          <a:p>
            <a:pPr marL="0" indent="0" algn="ctr">
              <a:buNone/>
              <a:defRPr/>
            </a:pPr>
            <a:r>
              <a:rPr lang="en-US" sz="1500">
                <a:solidFill>
                  <a:srgbClr val="FFFFFF"/>
                </a:solidFill>
                <a:latin typeface="Times New Roman"/>
                <a:cs typeface="Times New Roman"/>
              </a:rPr>
              <a:t>Graph</a:t>
            </a:r>
            <a:endParaRPr lang="en-US" sz="1500">
              <a:latin typeface="Times New Roman"/>
              <a:cs typeface="Times New Roman"/>
            </a:endParaRPr>
          </a:p>
        </p:txBody>
      </p:sp>
      <p:sp>
        <p:nvSpPr>
          <p:cNvPr id="948007324" name="Shape 3"/>
          <p:cNvSpPr/>
          <p:nvPr/>
        </p:nvSpPr>
        <p:spPr bwMode="auto">
          <a:xfrm>
            <a:off x="182880" y="2880360"/>
            <a:ext cx="2926080" cy="38404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</p:sp>
      <p:sp>
        <p:nvSpPr>
          <p:cNvPr id="1361576299" name="Text 4"/>
          <p:cNvSpPr/>
          <p:nvPr/>
        </p:nvSpPr>
        <p:spPr bwMode="auto">
          <a:xfrm>
            <a:off x="365760" y="28986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  <a:latin typeface="Times New Roman"/>
                <a:cs typeface="Times New Roman"/>
              </a:rPr>
              <a:t>Graphe orienté sans cycle</a:t>
            </a:r>
            <a:endParaRPr lang="en-US" sz="1100">
              <a:latin typeface="Times New Roman"/>
              <a:cs typeface="Times New Roman"/>
            </a:endParaRPr>
          </a:p>
        </p:txBody>
      </p:sp>
      <p:sp>
        <p:nvSpPr>
          <p:cNvPr id="467310801" name="Shape 5"/>
          <p:cNvSpPr/>
          <p:nvPr/>
        </p:nvSpPr>
        <p:spPr bwMode="auto">
          <a:xfrm>
            <a:off x="182880" y="3355848"/>
            <a:ext cx="2926080" cy="38404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</p:sp>
      <p:sp>
        <p:nvSpPr>
          <p:cNvPr id="1962166345" name="Text 6"/>
          <p:cNvSpPr/>
          <p:nvPr/>
        </p:nvSpPr>
        <p:spPr bwMode="auto">
          <a:xfrm>
            <a:off x="365760" y="33741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  <a:latin typeface="Times New Roman"/>
                <a:cs typeface="Times New Roman"/>
              </a:rPr>
              <a:t>Nœuds = Tâches</a:t>
            </a:r>
            <a:endParaRPr lang="en-US" sz="1100">
              <a:latin typeface="Times New Roman"/>
              <a:cs typeface="Times New Roman"/>
            </a:endParaRPr>
          </a:p>
        </p:txBody>
      </p:sp>
      <p:sp>
        <p:nvSpPr>
          <p:cNvPr id="452994317" name="Shape 7"/>
          <p:cNvSpPr/>
          <p:nvPr/>
        </p:nvSpPr>
        <p:spPr bwMode="auto">
          <a:xfrm>
            <a:off x="182880" y="3831336"/>
            <a:ext cx="2926080" cy="38404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>
              <a:latin typeface="Times New Roman"/>
              <a:cs typeface="Times New Roman"/>
            </a:endParaRPr>
          </a:p>
        </p:txBody>
      </p:sp>
      <p:sp>
        <p:nvSpPr>
          <p:cNvPr id="1668814250" name="Text 8"/>
          <p:cNvSpPr/>
          <p:nvPr/>
        </p:nvSpPr>
        <p:spPr bwMode="auto">
          <a:xfrm>
            <a:off x="365760" y="38496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  <a:latin typeface="Times New Roman"/>
                <a:cs typeface="Times New Roman"/>
              </a:rPr>
              <a:t>Arêtes = Dépendances</a:t>
            </a:r>
            <a:endParaRPr lang="en-US" sz="1100">
              <a:latin typeface="Times New Roman"/>
              <a:cs typeface="Times New Roman"/>
            </a:endParaRPr>
          </a:p>
        </p:txBody>
      </p:sp>
      <p:sp>
        <p:nvSpPr>
          <p:cNvPr id="1799890192" name="Shape 9"/>
          <p:cNvSpPr/>
          <p:nvPr/>
        </p:nvSpPr>
        <p:spPr bwMode="auto">
          <a:xfrm>
            <a:off x="182880" y="4306824"/>
            <a:ext cx="2926080" cy="38404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</p:sp>
      <p:sp>
        <p:nvSpPr>
          <p:cNvPr id="1496228757" name="Text 10"/>
          <p:cNvSpPr/>
          <p:nvPr/>
        </p:nvSpPr>
        <p:spPr bwMode="auto">
          <a:xfrm>
            <a:off x="365760" y="43251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  <a:latin typeface="Times New Roman"/>
                <a:cs typeface="Times New Roman"/>
              </a:rPr>
              <a:t>Défini en Python</a:t>
            </a:r>
            <a:endParaRPr lang="en-US" sz="1100">
              <a:latin typeface="Times New Roman"/>
              <a:cs typeface="Times New Roman"/>
            </a:endParaRPr>
          </a:p>
        </p:txBody>
      </p:sp>
      <p:sp>
        <p:nvSpPr>
          <p:cNvPr id="1312235954" name="Text 11"/>
          <p:cNvSpPr/>
          <p:nvPr/>
        </p:nvSpPr>
        <p:spPr bwMode="auto">
          <a:xfrm>
            <a:off x="3566160" y="117891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0F2137"/>
                </a:solidFill>
                <a:latin typeface="Times New Roman"/>
                <a:cs typeface="Times New Roman"/>
              </a:rPr>
              <a:t>Structure d'un DAG</a:t>
            </a:r>
            <a:endParaRPr lang="en-US" sz="2200">
              <a:latin typeface="Times New Roman"/>
              <a:cs typeface="Times New Roman"/>
            </a:endParaRPr>
          </a:p>
        </p:txBody>
      </p:sp>
      <p:sp>
        <p:nvSpPr>
          <p:cNvPr id="1156101036" name="Shape 12"/>
          <p:cNvSpPr/>
          <p:nvPr/>
        </p:nvSpPr>
        <p:spPr bwMode="auto">
          <a:xfrm>
            <a:off x="3566160" y="620812"/>
            <a:ext cx="5303520" cy="0"/>
          </a:xfrm>
          <a:prstGeom prst="line">
            <a:avLst/>
          </a:prstGeom>
          <a:noFill/>
          <a:ln w="31750">
            <a:solidFill>
              <a:srgbClr val="00C2D4"/>
            </a:solidFill>
            <a:prstDash val="solid"/>
          </a:ln>
        </p:spPr>
      </p:sp>
      <p:sp>
        <p:nvSpPr>
          <p:cNvPr id="1072342355" name="Shape 13"/>
          <p:cNvSpPr/>
          <p:nvPr/>
        </p:nvSpPr>
        <p:spPr bwMode="auto">
          <a:xfrm flipV="1">
            <a:off x="4937760" y="1115569"/>
            <a:ext cx="365760" cy="384047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717549134" name="Shape 14"/>
          <p:cNvSpPr/>
          <p:nvPr/>
        </p:nvSpPr>
        <p:spPr bwMode="auto">
          <a:xfrm>
            <a:off x="4937760" y="1499616"/>
            <a:ext cx="365760" cy="45720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>
              <a:latin typeface="Times New Roman"/>
              <a:cs typeface="Times New Roman"/>
            </a:endParaRPr>
          </a:p>
        </p:txBody>
      </p:sp>
      <p:sp>
        <p:nvSpPr>
          <p:cNvPr id="1299917862" name="Shape 15"/>
          <p:cNvSpPr/>
          <p:nvPr/>
        </p:nvSpPr>
        <p:spPr bwMode="auto">
          <a:xfrm>
            <a:off x="6720840" y="1133856"/>
            <a:ext cx="365760" cy="36576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652042334" name="Shape 16"/>
          <p:cNvSpPr/>
          <p:nvPr/>
        </p:nvSpPr>
        <p:spPr bwMode="auto">
          <a:xfrm flipV="1">
            <a:off x="6720840" y="1517904"/>
            <a:ext cx="365753" cy="438912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257639460" name="Shape 17"/>
          <p:cNvSpPr/>
          <p:nvPr/>
        </p:nvSpPr>
        <p:spPr bwMode="auto">
          <a:xfrm flipH="1">
            <a:off x="7452353" y="1499616"/>
            <a:ext cx="1051567" cy="991667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403295392" name="Shape 18"/>
          <p:cNvSpPr/>
          <p:nvPr/>
        </p:nvSpPr>
        <p:spPr bwMode="auto">
          <a:xfrm>
            <a:off x="3520440" y="1280160"/>
            <a:ext cx="1417320" cy="43891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82836378" name="Text 19"/>
          <p:cNvSpPr/>
          <p:nvPr/>
        </p:nvSpPr>
        <p:spPr bwMode="auto">
          <a:xfrm>
            <a:off x="3520440" y="128016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Times New Roman"/>
                <a:cs typeface="Times New Roman"/>
              </a:rPr>
              <a:t>Extraire</a:t>
            </a:r>
            <a:endParaRPr lang="en-US" sz="950">
              <a:latin typeface="Times New Roman"/>
              <a:cs typeface="Times New Roman"/>
            </a:endParaRPr>
          </a:p>
          <a:p>
            <a:pPr marL="0" indent="0" algn="ctr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Times New Roman"/>
                <a:cs typeface="Times New Roman"/>
              </a:rPr>
              <a:t>Données</a:t>
            </a:r>
            <a:endParaRPr lang="en-US" sz="950">
              <a:latin typeface="Times New Roman"/>
              <a:cs typeface="Times New Roman"/>
            </a:endParaRPr>
          </a:p>
        </p:txBody>
      </p:sp>
      <p:sp>
        <p:nvSpPr>
          <p:cNvPr id="2005856103" name="Shape 20"/>
          <p:cNvSpPr/>
          <p:nvPr/>
        </p:nvSpPr>
        <p:spPr bwMode="auto">
          <a:xfrm>
            <a:off x="5303520" y="914400"/>
            <a:ext cx="1417320" cy="438912"/>
          </a:xfrm>
          <a:prstGeom prst="rect">
            <a:avLst/>
          </a:prstGeom>
          <a:solidFill>
            <a:srgbClr val="14539A"/>
          </a:solidFill>
          <a:ln w="12700">
            <a:solidFill>
              <a:srgbClr val="145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80597110" name="Text 21"/>
          <p:cNvSpPr/>
          <p:nvPr/>
        </p:nvSpPr>
        <p:spPr bwMode="auto">
          <a:xfrm>
            <a:off x="5303520" y="9144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Times New Roman"/>
                <a:cs typeface="Times New Roman"/>
              </a:rPr>
              <a:t>Valider</a:t>
            </a:r>
            <a:endParaRPr lang="en-US" sz="950">
              <a:latin typeface="Times New Roman"/>
              <a:cs typeface="Times New Roman"/>
            </a:endParaRPr>
          </a:p>
        </p:txBody>
      </p:sp>
      <p:sp>
        <p:nvSpPr>
          <p:cNvPr id="192762050" name="Shape 22"/>
          <p:cNvSpPr/>
          <p:nvPr/>
        </p:nvSpPr>
        <p:spPr bwMode="auto">
          <a:xfrm>
            <a:off x="5303520" y="1737360"/>
            <a:ext cx="1417320" cy="438912"/>
          </a:xfrm>
          <a:prstGeom prst="rect">
            <a:avLst/>
          </a:prstGeom>
          <a:solidFill>
            <a:srgbClr val="14539A"/>
          </a:solidFill>
          <a:ln w="12700">
            <a:solidFill>
              <a:srgbClr val="145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86768563" name="Text 23"/>
          <p:cNvSpPr/>
          <p:nvPr/>
        </p:nvSpPr>
        <p:spPr bwMode="auto">
          <a:xfrm>
            <a:off x="5303520" y="173736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Times New Roman"/>
                <a:cs typeface="Times New Roman"/>
              </a:rPr>
              <a:t>Nettoyer</a:t>
            </a:r>
            <a:endParaRPr lang="en-US" sz="950">
              <a:latin typeface="Times New Roman"/>
              <a:cs typeface="Times New Roman"/>
            </a:endParaRPr>
          </a:p>
        </p:txBody>
      </p:sp>
      <p:sp>
        <p:nvSpPr>
          <p:cNvPr id="1884573391" name="Shape 24"/>
          <p:cNvSpPr/>
          <p:nvPr/>
        </p:nvSpPr>
        <p:spPr bwMode="auto">
          <a:xfrm>
            <a:off x="7086600" y="1280160"/>
            <a:ext cx="1417320" cy="43891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6659058" name="Text 25"/>
          <p:cNvSpPr/>
          <p:nvPr/>
        </p:nvSpPr>
        <p:spPr bwMode="auto">
          <a:xfrm>
            <a:off x="7086600" y="128016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Times New Roman"/>
                <a:cs typeface="Times New Roman"/>
              </a:rPr>
              <a:t>Transformer</a:t>
            </a:r>
            <a:endParaRPr lang="en-US" sz="950">
              <a:latin typeface="Times New Roman"/>
              <a:cs typeface="Times New Roman"/>
            </a:endParaRPr>
          </a:p>
        </p:txBody>
      </p:sp>
      <p:sp>
        <p:nvSpPr>
          <p:cNvPr id="2093470091" name="Shape 26"/>
          <p:cNvSpPr/>
          <p:nvPr/>
        </p:nvSpPr>
        <p:spPr bwMode="auto">
          <a:xfrm>
            <a:off x="6309360" y="2514600"/>
            <a:ext cx="1417320" cy="43891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19642459" name="Text 27"/>
          <p:cNvSpPr/>
          <p:nvPr/>
        </p:nvSpPr>
        <p:spPr bwMode="auto">
          <a:xfrm>
            <a:off x="6309360" y="25146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Times New Roman"/>
                <a:cs typeface="Times New Roman"/>
              </a:rPr>
              <a:t>Charger BD</a:t>
            </a:r>
            <a:endParaRPr lang="en-US" sz="950">
              <a:latin typeface="Times New Roman"/>
              <a:cs typeface="Times New Roman"/>
            </a:endParaRPr>
          </a:p>
        </p:txBody>
      </p:sp>
      <p:sp>
        <p:nvSpPr>
          <p:cNvPr id="1432991152" name="Shape 28"/>
          <p:cNvSpPr/>
          <p:nvPr/>
        </p:nvSpPr>
        <p:spPr bwMode="auto">
          <a:xfrm>
            <a:off x="3520440" y="3246120"/>
            <a:ext cx="5349240" cy="594360"/>
          </a:xfrm>
          <a:prstGeom prst="roundRect">
            <a:avLst>
              <a:gd name="adj" fmla="val 7692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1603558" name="Text 29"/>
          <p:cNvSpPr/>
          <p:nvPr/>
        </p:nvSpPr>
        <p:spPr bwMode="auto">
          <a:xfrm>
            <a:off x="3703320" y="32918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92400E"/>
                </a:solidFill>
                <a:latin typeface="Times New Roman"/>
                <a:cs typeface="Times New Roman"/>
              </a:rPr>
              <a:t>⚠  </a:t>
            </a:r>
            <a:r>
              <a:rPr lang="en-US" sz="1050">
                <a:solidFill>
                  <a:srgbClr val="92400E"/>
                </a:solidFill>
                <a:latin typeface="Times New Roman"/>
                <a:cs typeface="Times New Roman"/>
              </a:rPr>
              <a:t>Acyclique</a:t>
            </a:r>
            <a:r>
              <a:rPr lang="en-US" sz="1050">
                <a:solidFill>
                  <a:srgbClr val="92400E"/>
                </a:solidFill>
                <a:latin typeface="Times New Roman"/>
                <a:cs typeface="Times New Roman"/>
              </a:rPr>
              <a:t> : </a:t>
            </a:r>
            <a:r>
              <a:rPr lang="en-US" sz="1050">
                <a:solidFill>
                  <a:srgbClr val="92400E"/>
                </a:solidFill>
                <a:latin typeface="Times New Roman"/>
                <a:cs typeface="Times New Roman"/>
              </a:rPr>
              <a:t>aucune</a:t>
            </a:r>
            <a:r>
              <a:rPr lang="en-US" sz="1050">
                <a:solidFill>
                  <a:srgbClr val="92400E"/>
                </a:solidFill>
                <a:latin typeface="Times New Roman"/>
                <a:cs typeface="Times New Roman"/>
              </a:rPr>
              <a:t> </a:t>
            </a:r>
            <a:r>
              <a:rPr lang="en-US" sz="1050">
                <a:solidFill>
                  <a:srgbClr val="92400E"/>
                </a:solidFill>
                <a:latin typeface="Times New Roman"/>
                <a:cs typeface="Times New Roman"/>
              </a:rPr>
              <a:t>tâche</a:t>
            </a:r>
            <a:r>
              <a:rPr lang="en-US" sz="1050">
                <a:solidFill>
                  <a:srgbClr val="92400E"/>
                </a:solidFill>
                <a:latin typeface="Times New Roman"/>
                <a:cs typeface="Times New Roman"/>
              </a:rPr>
              <a:t> ne </a:t>
            </a:r>
            <a:r>
              <a:rPr lang="en-US" sz="1050">
                <a:solidFill>
                  <a:srgbClr val="92400E"/>
                </a:solidFill>
                <a:latin typeface="Times New Roman"/>
                <a:cs typeface="Times New Roman"/>
              </a:rPr>
              <a:t>peut</a:t>
            </a:r>
            <a:r>
              <a:rPr lang="en-US" sz="1050">
                <a:solidFill>
                  <a:srgbClr val="92400E"/>
                </a:solidFill>
                <a:latin typeface="Times New Roman"/>
                <a:cs typeface="Times New Roman"/>
              </a:rPr>
              <a:t> </a:t>
            </a:r>
            <a:r>
              <a:rPr lang="en-US" sz="1050">
                <a:solidFill>
                  <a:srgbClr val="92400E"/>
                </a:solidFill>
                <a:latin typeface="Times New Roman"/>
                <a:cs typeface="Times New Roman"/>
              </a:rPr>
              <a:t>dépendre</a:t>
            </a:r>
            <a:r>
              <a:rPr lang="en-US" sz="1050">
                <a:solidFill>
                  <a:srgbClr val="92400E"/>
                </a:solidFill>
                <a:latin typeface="Times New Roman"/>
                <a:cs typeface="Times New Roman"/>
              </a:rPr>
              <a:t> </a:t>
            </a:r>
            <a:r>
              <a:rPr lang="en-US" sz="1050">
                <a:solidFill>
                  <a:srgbClr val="92400E"/>
                </a:solidFill>
                <a:latin typeface="Times New Roman"/>
                <a:cs typeface="Times New Roman"/>
              </a:rPr>
              <a:t>d'elle-même</a:t>
            </a:r>
            <a:r>
              <a:rPr lang="en-US" sz="1050">
                <a:solidFill>
                  <a:srgbClr val="92400E"/>
                </a:solidFill>
                <a:latin typeface="Times New Roman"/>
                <a:cs typeface="Times New Roman"/>
              </a:rPr>
              <a:t> (pas de boucle)</a:t>
            </a:r>
            <a:endParaRPr lang="en-US" sz="1050">
              <a:latin typeface="Times New Roman"/>
              <a:cs typeface="Times New Roman"/>
            </a:endParaRPr>
          </a:p>
        </p:txBody>
      </p:sp>
      <p:sp>
        <p:nvSpPr>
          <p:cNvPr id="1808363764" name="Text 30"/>
          <p:cNvSpPr/>
          <p:nvPr/>
        </p:nvSpPr>
        <p:spPr bwMode="auto">
          <a:xfrm>
            <a:off x="3520440" y="397764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B8CAE"/>
                </a:solidFill>
                <a:latin typeface="Times New Roman"/>
                <a:cs typeface="Times New Roman"/>
              </a:rPr>
              <a:t>Lorsqu'un DAG est exécuté, Airflow garantit que chaque tâche ne démarre</a:t>
            </a:r>
            <a:endParaRPr lang="en-US" sz="1100"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1100">
                <a:solidFill>
                  <a:srgbClr val="6B8CAE"/>
                </a:solidFill>
                <a:latin typeface="Times New Roman"/>
                <a:cs typeface="Times New Roman"/>
              </a:rPr>
              <a:t>qu'une fois toutes ses dépendances satisfaites.</a:t>
            </a:r>
            <a:endParaRPr lang="en-US" sz="11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081874" name="Google Shape;144;p20"/>
          <p:cNvSpPr txBox="1">
            <a:spLocks noGrp="1"/>
          </p:cNvSpPr>
          <p:nvPr>
            <p:ph type="sldNum" idx="12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>
                <a:latin typeface="Times New Roman"/>
                <a:cs typeface="Times New Roman"/>
              </a:rPr>
              <a:t>9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429763870" name="Text 1"/>
          <p:cNvSpPr/>
          <p:nvPr/>
        </p:nvSpPr>
        <p:spPr bwMode="auto">
          <a:xfrm>
            <a:off x="499078" y="206768"/>
            <a:ext cx="8229600" cy="551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002060"/>
                </a:solidFill>
                <a:latin typeface="+mn-lt"/>
                <a:cs typeface="Times New Roman"/>
              </a:rPr>
              <a:t>Operators</a:t>
            </a:r>
            <a:endParaRPr lang="en-US" sz="2400">
              <a:solidFill>
                <a:srgbClr val="002060"/>
              </a:solidFill>
              <a:latin typeface="+mn-lt"/>
              <a:cs typeface="Times New Roman"/>
            </a:endParaRPr>
          </a:p>
        </p:txBody>
      </p:sp>
      <p:sp>
        <p:nvSpPr>
          <p:cNvPr id="1883913525" name="Text 2"/>
          <p:cNvSpPr/>
          <p:nvPr/>
        </p:nvSpPr>
        <p:spPr bwMode="auto">
          <a:xfrm>
            <a:off x="415322" y="57165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endParaRPr lang="en-US" sz="1300">
              <a:latin typeface="Times New Roman"/>
              <a:cs typeface="Times New Roman"/>
            </a:endParaRPr>
          </a:p>
        </p:txBody>
      </p:sp>
      <p:sp>
        <p:nvSpPr>
          <p:cNvPr id="1635524785" name="Shape 3"/>
          <p:cNvSpPr/>
          <p:nvPr/>
        </p:nvSpPr>
        <p:spPr bwMode="auto">
          <a:xfrm>
            <a:off x="182880" y="1097280"/>
            <a:ext cx="8778240" cy="59436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F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76703821" name="Text 4"/>
          <p:cNvSpPr/>
          <p:nvPr/>
        </p:nvSpPr>
        <p:spPr bwMode="auto">
          <a:xfrm>
            <a:off x="365760" y="11430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i="1">
                <a:solidFill>
                  <a:srgbClr val="FFFFFF"/>
                </a:solidFill>
                <a:latin typeface="Times New Roman"/>
                <a:cs typeface="Times New Roman"/>
              </a:rPr>
              <a:t>Un Operator définit ce qu'une tâche doit faire — chaque nœud d'un DAG est un Operator.</a:t>
            </a:r>
            <a:endParaRPr lang="en-US" sz="1250">
              <a:latin typeface="Times New Roman"/>
              <a:cs typeface="Times New Roman"/>
            </a:endParaRPr>
          </a:p>
        </p:txBody>
      </p:sp>
      <p:sp>
        <p:nvSpPr>
          <p:cNvPr id="1624722758" name="Shape 5"/>
          <p:cNvSpPr/>
          <p:nvPr/>
        </p:nvSpPr>
        <p:spPr bwMode="auto">
          <a:xfrm>
            <a:off x="182880" y="1847088"/>
            <a:ext cx="28346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93562843" name="Shape 6"/>
          <p:cNvSpPr/>
          <p:nvPr/>
        </p:nvSpPr>
        <p:spPr bwMode="auto">
          <a:xfrm>
            <a:off x="182880" y="1862456"/>
            <a:ext cx="2834640" cy="457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38138976" name="Text 7"/>
          <p:cNvSpPr/>
          <p:nvPr/>
        </p:nvSpPr>
        <p:spPr bwMode="auto">
          <a:xfrm>
            <a:off x="274320" y="186537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chemeClr val="tx1"/>
                </a:solidFill>
                <a:latin typeface="Times New Roman"/>
                <a:cs typeface="Times New Roman"/>
              </a:rPr>
              <a:t>Action Operators</a:t>
            </a:r>
            <a:endParaRPr lang="en-US" sz="12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362878169" name="Shape 8"/>
          <p:cNvSpPr/>
          <p:nvPr/>
        </p:nvSpPr>
        <p:spPr bwMode="auto">
          <a:xfrm>
            <a:off x="274320" y="2441448"/>
            <a:ext cx="2651760" cy="640080"/>
          </a:xfrm>
          <a:prstGeom prst="rect">
            <a:avLst/>
          </a:prstGeom>
          <a:solidFill>
            <a:srgbClr val="F3F8FD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1371830012" name="Text 9"/>
          <p:cNvSpPr/>
          <p:nvPr/>
        </p:nvSpPr>
        <p:spPr bwMode="auto">
          <a:xfrm>
            <a:off x="365760" y="2450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chemeClr val="accent2"/>
                </a:solidFill>
                <a:latin typeface="Times New Roman"/>
                <a:cs typeface="Times New Roman"/>
              </a:rPr>
              <a:t>PythonOperator</a:t>
            </a:r>
            <a:endParaRPr lang="en-US" sz="1000">
              <a:solidFill>
                <a:schemeClr val="accent2"/>
              </a:solidFill>
              <a:latin typeface="Times New Roman"/>
              <a:cs typeface="Times New Roman"/>
            </a:endParaRPr>
          </a:p>
        </p:txBody>
      </p:sp>
      <p:sp>
        <p:nvSpPr>
          <p:cNvPr id="1118746694" name="Text 10"/>
          <p:cNvSpPr/>
          <p:nvPr/>
        </p:nvSpPr>
        <p:spPr bwMode="auto">
          <a:xfrm>
            <a:off x="365760" y="27066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→ Exécute une fonction Python</a:t>
            </a:r>
            <a:endParaRPr lang="en-US" sz="900">
              <a:latin typeface="Times New Roman"/>
              <a:cs typeface="Times New Roman"/>
            </a:endParaRPr>
          </a:p>
        </p:txBody>
      </p:sp>
      <p:sp>
        <p:nvSpPr>
          <p:cNvPr id="1475046526" name="Shape 11"/>
          <p:cNvSpPr/>
          <p:nvPr/>
        </p:nvSpPr>
        <p:spPr bwMode="auto">
          <a:xfrm>
            <a:off x="274320" y="3218688"/>
            <a:ext cx="2651760" cy="640080"/>
          </a:xfrm>
          <a:prstGeom prst="rect">
            <a:avLst/>
          </a:prstGeom>
          <a:solidFill>
            <a:srgbClr val="F3F8FD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859461211" name="Text 12"/>
          <p:cNvSpPr/>
          <p:nvPr/>
        </p:nvSpPr>
        <p:spPr bwMode="auto">
          <a:xfrm>
            <a:off x="365760" y="3227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chemeClr val="accent2"/>
                </a:solidFill>
                <a:latin typeface="Times New Roman"/>
                <a:cs typeface="Times New Roman"/>
              </a:rPr>
              <a:t>BashOperator</a:t>
            </a:r>
            <a:endParaRPr lang="en-US" sz="1000">
              <a:solidFill>
                <a:schemeClr val="accent2"/>
              </a:solidFill>
              <a:latin typeface="Times New Roman"/>
              <a:cs typeface="Times New Roman"/>
            </a:endParaRPr>
          </a:p>
        </p:txBody>
      </p:sp>
      <p:sp>
        <p:nvSpPr>
          <p:cNvPr id="1900766789" name="Text 13"/>
          <p:cNvSpPr/>
          <p:nvPr/>
        </p:nvSpPr>
        <p:spPr bwMode="auto">
          <a:xfrm>
            <a:off x="365760" y="3483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→ Exécute un script Bash</a:t>
            </a:r>
            <a:endParaRPr lang="en-US" sz="900">
              <a:latin typeface="Times New Roman"/>
              <a:cs typeface="Times New Roman"/>
            </a:endParaRPr>
          </a:p>
        </p:txBody>
      </p:sp>
      <p:sp>
        <p:nvSpPr>
          <p:cNvPr id="358092519" name="Shape 14"/>
          <p:cNvSpPr/>
          <p:nvPr/>
        </p:nvSpPr>
        <p:spPr bwMode="auto">
          <a:xfrm>
            <a:off x="274320" y="3995928"/>
            <a:ext cx="2651760" cy="640080"/>
          </a:xfrm>
          <a:prstGeom prst="rect">
            <a:avLst/>
          </a:prstGeom>
          <a:solidFill>
            <a:srgbClr val="F3F8FD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1187547175" name="Text 15"/>
          <p:cNvSpPr/>
          <p:nvPr/>
        </p:nvSpPr>
        <p:spPr bwMode="auto">
          <a:xfrm>
            <a:off x="365760" y="4005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chemeClr val="accent2"/>
                </a:solidFill>
                <a:latin typeface="Times New Roman"/>
                <a:cs typeface="Times New Roman"/>
              </a:rPr>
              <a:t>EmailOperator</a:t>
            </a:r>
            <a:endParaRPr lang="en-US" sz="1000">
              <a:solidFill>
                <a:schemeClr val="accent2"/>
              </a:solidFill>
              <a:latin typeface="Times New Roman"/>
              <a:cs typeface="Times New Roman"/>
            </a:endParaRPr>
          </a:p>
        </p:txBody>
      </p:sp>
      <p:sp>
        <p:nvSpPr>
          <p:cNvPr id="2065380225" name="Text 16"/>
          <p:cNvSpPr/>
          <p:nvPr/>
        </p:nvSpPr>
        <p:spPr bwMode="auto">
          <a:xfrm>
            <a:off x="365760" y="42611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→ Envoie un e-mail</a:t>
            </a:r>
            <a:endParaRPr lang="en-US" sz="900">
              <a:latin typeface="Times New Roman"/>
              <a:cs typeface="Times New Roman"/>
            </a:endParaRPr>
          </a:p>
        </p:txBody>
      </p:sp>
      <p:sp>
        <p:nvSpPr>
          <p:cNvPr id="430114791" name="Shape 17"/>
          <p:cNvSpPr/>
          <p:nvPr/>
        </p:nvSpPr>
        <p:spPr bwMode="auto">
          <a:xfrm>
            <a:off x="3246120" y="1847088"/>
            <a:ext cx="28346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9982054" name="Shape 18"/>
          <p:cNvSpPr/>
          <p:nvPr/>
        </p:nvSpPr>
        <p:spPr bwMode="auto">
          <a:xfrm>
            <a:off x="3246120" y="1847088"/>
            <a:ext cx="2834640" cy="457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49279272" name="Text 19"/>
          <p:cNvSpPr/>
          <p:nvPr/>
        </p:nvSpPr>
        <p:spPr bwMode="auto">
          <a:xfrm>
            <a:off x="3337560" y="186537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chemeClr val="tx1"/>
                </a:solidFill>
                <a:latin typeface="Times New Roman"/>
                <a:cs typeface="Times New Roman"/>
              </a:rPr>
              <a:t>Transfer Operators</a:t>
            </a:r>
            <a:endParaRPr lang="en-US" sz="12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2041264739" name="Shape 20"/>
          <p:cNvSpPr/>
          <p:nvPr/>
        </p:nvSpPr>
        <p:spPr bwMode="auto">
          <a:xfrm>
            <a:off x="3337560" y="2441448"/>
            <a:ext cx="2651760" cy="640080"/>
          </a:xfrm>
          <a:prstGeom prst="rect">
            <a:avLst/>
          </a:prstGeom>
          <a:solidFill>
            <a:srgbClr val="F3F8FD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1520574159" name="Text 21"/>
          <p:cNvSpPr/>
          <p:nvPr/>
        </p:nvSpPr>
        <p:spPr bwMode="auto">
          <a:xfrm>
            <a:off x="3429000" y="2450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4539A"/>
                </a:solidFill>
                <a:latin typeface="Times New Roman"/>
                <a:cs typeface="Times New Roman"/>
              </a:rPr>
              <a:t>S3ToRedshiftOperator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587071873" name="Text 22"/>
          <p:cNvSpPr/>
          <p:nvPr/>
        </p:nvSpPr>
        <p:spPr bwMode="auto">
          <a:xfrm>
            <a:off x="3429000" y="27066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→ Copie S3 vers Redshift</a:t>
            </a:r>
            <a:endParaRPr lang="en-US" sz="900">
              <a:latin typeface="Times New Roman"/>
              <a:cs typeface="Times New Roman"/>
            </a:endParaRPr>
          </a:p>
        </p:txBody>
      </p:sp>
      <p:sp>
        <p:nvSpPr>
          <p:cNvPr id="1654884396" name="Shape 23"/>
          <p:cNvSpPr/>
          <p:nvPr/>
        </p:nvSpPr>
        <p:spPr bwMode="auto">
          <a:xfrm>
            <a:off x="3337560" y="3218688"/>
            <a:ext cx="2651760" cy="640080"/>
          </a:xfrm>
          <a:prstGeom prst="rect">
            <a:avLst/>
          </a:prstGeom>
          <a:solidFill>
            <a:srgbClr val="F3F8FD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1669315818" name="Text 24"/>
          <p:cNvSpPr/>
          <p:nvPr/>
        </p:nvSpPr>
        <p:spPr bwMode="auto">
          <a:xfrm>
            <a:off x="3429000" y="3227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4539A"/>
                </a:solidFill>
                <a:latin typeface="Times New Roman"/>
                <a:cs typeface="Times New Roman"/>
              </a:rPr>
              <a:t>MySqlToHiveOperator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1951079200" name="Text 25"/>
          <p:cNvSpPr/>
          <p:nvPr/>
        </p:nvSpPr>
        <p:spPr bwMode="auto">
          <a:xfrm>
            <a:off x="3429000" y="3483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→ MySQL vers Hive</a:t>
            </a:r>
            <a:endParaRPr lang="en-US" sz="900">
              <a:latin typeface="Times New Roman"/>
              <a:cs typeface="Times New Roman"/>
            </a:endParaRPr>
          </a:p>
        </p:txBody>
      </p:sp>
      <p:sp>
        <p:nvSpPr>
          <p:cNvPr id="977710878" name="Shape 26"/>
          <p:cNvSpPr/>
          <p:nvPr/>
        </p:nvSpPr>
        <p:spPr bwMode="auto">
          <a:xfrm>
            <a:off x="3337560" y="3995928"/>
            <a:ext cx="2651760" cy="640080"/>
          </a:xfrm>
          <a:prstGeom prst="rect">
            <a:avLst/>
          </a:prstGeom>
          <a:solidFill>
            <a:srgbClr val="F3F8FD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1935062515" name="Text 27"/>
          <p:cNvSpPr/>
          <p:nvPr/>
        </p:nvSpPr>
        <p:spPr bwMode="auto">
          <a:xfrm>
            <a:off x="3429000" y="4005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4539A"/>
                </a:solidFill>
                <a:latin typeface="Times New Roman"/>
                <a:cs typeface="Times New Roman"/>
              </a:rPr>
              <a:t>GenericTransfer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1685935851" name="Text 28"/>
          <p:cNvSpPr/>
          <p:nvPr/>
        </p:nvSpPr>
        <p:spPr bwMode="auto">
          <a:xfrm>
            <a:off x="3429000" y="42611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→ Base vers base</a:t>
            </a:r>
            <a:endParaRPr lang="en-US" sz="900">
              <a:latin typeface="Times New Roman"/>
              <a:cs typeface="Times New Roman"/>
            </a:endParaRPr>
          </a:p>
        </p:txBody>
      </p:sp>
      <p:sp>
        <p:nvSpPr>
          <p:cNvPr id="105298191" name="Shape 29"/>
          <p:cNvSpPr/>
          <p:nvPr/>
        </p:nvSpPr>
        <p:spPr bwMode="auto">
          <a:xfrm>
            <a:off x="6217920" y="1830222"/>
            <a:ext cx="28346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2910732" name="Shape 30"/>
          <p:cNvSpPr/>
          <p:nvPr/>
        </p:nvSpPr>
        <p:spPr bwMode="auto">
          <a:xfrm>
            <a:off x="6217920" y="1837944"/>
            <a:ext cx="2834640" cy="457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67387048" name="Text 31"/>
          <p:cNvSpPr/>
          <p:nvPr/>
        </p:nvSpPr>
        <p:spPr bwMode="auto">
          <a:xfrm>
            <a:off x="6400800" y="186537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chemeClr val="tx1"/>
                </a:solidFill>
                <a:latin typeface="Times New Roman"/>
                <a:cs typeface="Times New Roman"/>
              </a:rPr>
              <a:t>Sensor Operators</a:t>
            </a:r>
            <a:endParaRPr lang="en-US" sz="12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854681527" name="Shape 32"/>
          <p:cNvSpPr/>
          <p:nvPr/>
        </p:nvSpPr>
        <p:spPr bwMode="auto">
          <a:xfrm>
            <a:off x="6301324" y="2441448"/>
            <a:ext cx="2651760" cy="640080"/>
          </a:xfrm>
          <a:prstGeom prst="rect">
            <a:avLst/>
          </a:prstGeom>
          <a:solidFill>
            <a:srgbClr val="F3F8FD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517609819" name="Text 33"/>
          <p:cNvSpPr/>
          <p:nvPr/>
        </p:nvSpPr>
        <p:spPr bwMode="auto">
          <a:xfrm>
            <a:off x="6492240" y="2450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chemeClr val="accent2"/>
                </a:solidFill>
                <a:latin typeface="Times New Roman"/>
                <a:cs typeface="Times New Roman"/>
              </a:rPr>
              <a:t>FileSensor</a:t>
            </a:r>
            <a:endParaRPr lang="en-US" sz="1000">
              <a:solidFill>
                <a:schemeClr val="accent2"/>
              </a:solidFill>
              <a:latin typeface="Times New Roman"/>
              <a:cs typeface="Times New Roman"/>
            </a:endParaRPr>
          </a:p>
        </p:txBody>
      </p:sp>
      <p:sp>
        <p:nvSpPr>
          <p:cNvPr id="1728587225" name="Text 34"/>
          <p:cNvSpPr/>
          <p:nvPr/>
        </p:nvSpPr>
        <p:spPr bwMode="auto">
          <a:xfrm>
            <a:off x="6492240" y="27066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→ Attente d'un fichier</a:t>
            </a:r>
            <a:endParaRPr lang="en-US" sz="900">
              <a:latin typeface="Times New Roman"/>
              <a:cs typeface="Times New Roman"/>
            </a:endParaRPr>
          </a:p>
        </p:txBody>
      </p:sp>
      <p:sp>
        <p:nvSpPr>
          <p:cNvPr id="1549521080" name="Shape 35"/>
          <p:cNvSpPr/>
          <p:nvPr/>
        </p:nvSpPr>
        <p:spPr bwMode="auto">
          <a:xfrm>
            <a:off x="6309360" y="3209544"/>
            <a:ext cx="2651760" cy="640080"/>
          </a:xfrm>
          <a:prstGeom prst="rect">
            <a:avLst/>
          </a:prstGeom>
          <a:solidFill>
            <a:srgbClr val="F3F8FD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1582950262" name="Text 36"/>
          <p:cNvSpPr/>
          <p:nvPr/>
        </p:nvSpPr>
        <p:spPr bwMode="auto">
          <a:xfrm>
            <a:off x="6492240" y="3227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chemeClr val="accent2"/>
                </a:solidFill>
                <a:latin typeface="Times New Roman"/>
                <a:cs typeface="Times New Roman"/>
              </a:rPr>
              <a:t>HttpSensor</a:t>
            </a:r>
            <a:endParaRPr lang="en-US" sz="1000">
              <a:solidFill>
                <a:schemeClr val="accent2"/>
              </a:solidFill>
              <a:latin typeface="Times New Roman"/>
              <a:cs typeface="Times New Roman"/>
            </a:endParaRPr>
          </a:p>
        </p:txBody>
      </p:sp>
      <p:sp>
        <p:nvSpPr>
          <p:cNvPr id="1662040957" name="Text 37"/>
          <p:cNvSpPr/>
          <p:nvPr/>
        </p:nvSpPr>
        <p:spPr bwMode="auto">
          <a:xfrm>
            <a:off x="6492240" y="3483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→ Ping HTTP</a:t>
            </a:r>
            <a:endParaRPr lang="en-US" sz="900">
              <a:latin typeface="Times New Roman"/>
              <a:cs typeface="Times New Roman"/>
            </a:endParaRPr>
          </a:p>
        </p:txBody>
      </p:sp>
      <p:sp>
        <p:nvSpPr>
          <p:cNvPr id="48629521" name="Shape 38"/>
          <p:cNvSpPr/>
          <p:nvPr/>
        </p:nvSpPr>
        <p:spPr bwMode="auto">
          <a:xfrm>
            <a:off x="6309360" y="3986784"/>
            <a:ext cx="2651760" cy="640080"/>
          </a:xfrm>
          <a:prstGeom prst="rect">
            <a:avLst/>
          </a:prstGeom>
          <a:solidFill>
            <a:srgbClr val="F3F8FD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1238757799" name="Text 39"/>
          <p:cNvSpPr/>
          <p:nvPr/>
        </p:nvSpPr>
        <p:spPr bwMode="auto">
          <a:xfrm>
            <a:off x="6492240" y="4005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chemeClr val="accent2"/>
                </a:solidFill>
                <a:latin typeface="Times New Roman"/>
                <a:cs typeface="Times New Roman"/>
              </a:rPr>
              <a:t>ExternalTaskSensor</a:t>
            </a:r>
            <a:endParaRPr lang="en-US" sz="1000">
              <a:solidFill>
                <a:schemeClr val="accent2"/>
              </a:solidFill>
              <a:latin typeface="Times New Roman"/>
              <a:cs typeface="Times New Roman"/>
            </a:endParaRPr>
          </a:p>
        </p:txBody>
      </p:sp>
      <p:sp>
        <p:nvSpPr>
          <p:cNvPr id="956591444" name="Text 40"/>
          <p:cNvSpPr/>
          <p:nvPr/>
        </p:nvSpPr>
        <p:spPr bwMode="auto">
          <a:xfrm>
            <a:off x="6492240" y="42611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→ Attente d'un autre DAG</a:t>
            </a:r>
            <a:endParaRPr lang="en-US" sz="900">
              <a:latin typeface="Times New Roman"/>
              <a:cs typeface="Times New Roman"/>
            </a:endParaRPr>
          </a:p>
        </p:txBody>
      </p:sp>
      <p:sp>
        <p:nvSpPr>
          <p:cNvPr id="1728948651" name="Text 41"/>
          <p:cNvSpPr/>
          <p:nvPr/>
        </p:nvSpPr>
        <p:spPr bwMode="auto">
          <a:xfrm>
            <a:off x="182880" y="482803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B8CAE"/>
                </a:solidFill>
                <a:latin typeface="Times New Roman"/>
                <a:cs typeface="Times New Roman"/>
              </a:rPr>
              <a:t>+ Possibilité de créer ses propres Operators personnalisés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933773596" name="Shape 1"/>
          <p:cNvSpPr/>
          <p:nvPr/>
        </p:nvSpPr>
        <p:spPr bwMode="auto">
          <a:xfrm>
            <a:off x="499078" y="762343"/>
            <a:ext cx="8229600" cy="4571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2539015" name="Google Shape;171;p23"/>
          <p:cNvSpPr txBox="1">
            <a:spLocks noGrp="1"/>
          </p:cNvSpPr>
          <p:nvPr>
            <p:ph type="sldNum" idx="12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>
                <a:latin typeface="Times New Roman"/>
                <a:cs typeface="Times New Roman"/>
              </a:rPr>
              <a:t>10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154550713" name="Text 2"/>
          <p:cNvSpPr/>
          <p:nvPr/>
        </p:nvSpPr>
        <p:spPr bwMode="auto">
          <a:xfrm>
            <a:off x="320040" y="94040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6B8CAE"/>
                </a:solidFill>
                <a:latin typeface="Times New Roman"/>
                <a:cs typeface="Times New Roman"/>
              </a:rPr>
              <a:t>De la définition à l'exécution réelle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1990687506" name="Shape 3"/>
          <p:cNvSpPr/>
          <p:nvPr/>
        </p:nvSpPr>
        <p:spPr bwMode="auto">
          <a:xfrm>
            <a:off x="320040" y="1325880"/>
            <a:ext cx="4023360" cy="1417320"/>
          </a:xfrm>
          <a:prstGeom prst="rect">
            <a:avLst/>
          </a:prstGeom>
          <a:solidFill>
            <a:srgbClr val="F0F4FF"/>
          </a:solidFill>
          <a:ln w="19050">
            <a:solidFill>
              <a:srgbClr val="145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5902860" name="Text 4"/>
          <p:cNvSpPr/>
          <p:nvPr/>
        </p:nvSpPr>
        <p:spPr bwMode="auto">
          <a:xfrm>
            <a:off x="502920" y="1371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4539A"/>
                </a:solidFill>
                <a:latin typeface="Times New Roman"/>
                <a:cs typeface="Times New Roman"/>
              </a:rPr>
              <a:t>Task</a:t>
            </a:r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342417554" name="Text 5"/>
          <p:cNvSpPr/>
          <p:nvPr/>
        </p:nvSpPr>
        <p:spPr bwMode="auto">
          <a:xfrm>
            <a:off x="502920" y="17647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i="1">
                <a:solidFill>
                  <a:srgbClr val="1A2B3C"/>
                </a:solidFill>
                <a:latin typeface="Times New Roman"/>
                <a:cs typeface="Times New Roman"/>
              </a:rPr>
              <a:t>= Instance d'un Operator</a:t>
            </a:r>
            <a:endParaRPr lang="en-US" sz="1150">
              <a:latin typeface="Times New Roman"/>
              <a:cs typeface="Times New Roman"/>
            </a:endParaRPr>
          </a:p>
        </p:txBody>
      </p:sp>
      <p:sp>
        <p:nvSpPr>
          <p:cNvPr id="653047818" name="Text 6"/>
          <p:cNvSpPr/>
          <p:nvPr/>
        </p:nvSpPr>
        <p:spPr bwMode="auto">
          <a:xfrm>
            <a:off x="502920" y="20848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8CAE"/>
                </a:solidFill>
                <a:latin typeface="Times New Roman"/>
                <a:cs typeface="Times New Roman"/>
              </a:rPr>
              <a:t>C'est la définition abstraite de ce qui doit être fait dans le DAG. Elle n'est pas encore exécutée.</a:t>
            </a:r>
            <a:endParaRPr lang="en-US" sz="1050">
              <a:latin typeface="Times New Roman"/>
              <a:cs typeface="Times New Roman"/>
            </a:endParaRPr>
          </a:p>
        </p:txBody>
      </p:sp>
      <p:sp>
        <p:nvSpPr>
          <p:cNvPr id="1984436451" name="Shape 7"/>
          <p:cNvSpPr/>
          <p:nvPr/>
        </p:nvSpPr>
        <p:spPr bwMode="auto">
          <a:xfrm>
            <a:off x="4617720" y="1325880"/>
            <a:ext cx="4297680" cy="14173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chemeClr val="accent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4450835" name="Text 8"/>
          <p:cNvSpPr/>
          <p:nvPr/>
        </p:nvSpPr>
        <p:spPr bwMode="auto">
          <a:xfrm>
            <a:off x="480060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accent2"/>
                </a:solidFill>
                <a:latin typeface="Times New Roman"/>
                <a:cs typeface="Times New Roman"/>
              </a:rPr>
              <a:t>Task Instance</a:t>
            </a:r>
            <a:endParaRPr lang="en-US" sz="1600">
              <a:solidFill>
                <a:schemeClr val="accent2"/>
              </a:solidFill>
              <a:latin typeface="Times New Roman"/>
              <a:cs typeface="Times New Roman"/>
            </a:endParaRPr>
          </a:p>
        </p:txBody>
      </p:sp>
      <p:sp>
        <p:nvSpPr>
          <p:cNvPr id="258527422" name="Text 9"/>
          <p:cNvSpPr/>
          <p:nvPr/>
        </p:nvSpPr>
        <p:spPr bwMode="auto">
          <a:xfrm>
            <a:off x="4800600" y="17647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i="1">
                <a:solidFill>
                  <a:srgbClr val="1A2B3C"/>
                </a:solidFill>
                <a:latin typeface="Times New Roman"/>
                <a:cs typeface="Times New Roman"/>
              </a:rPr>
              <a:t>= Exécution concrète d'une Task</a:t>
            </a:r>
            <a:endParaRPr lang="en-US" sz="1150">
              <a:latin typeface="Times New Roman"/>
              <a:cs typeface="Times New Roman"/>
            </a:endParaRPr>
          </a:p>
        </p:txBody>
      </p:sp>
      <p:sp>
        <p:nvSpPr>
          <p:cNvPr id="1590984837" name="Text 10"/>
          <p:cNvSpPr/>
          <p:nvPr/>
        </p:nvSpPr>
        <p:spPr bwMode="auto">
          <a:xfrm>
            <a:off x="4800600" y="20848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8CAE"/>
                </a:solidFill>
                <a:latin typeface="Times New Roman"/>
                <a:cs typeface="Times New Roman"/>
              </a:rPr>
              <a:t>Créée à chaque run du DAG. C'est ce que les workers Airflow exécutent réellement.</a:t>
            </a:r>
            <a:endParaRPr lang="en-US" sz="1050">
              <a:latin typeface="Times New Roman"/>
              <a:cs typeface="Times New Roman"/>
            </a:endParaRPr>
          </a:p>
        </p:txBody>
      </p:sp>
      <p:pic>
        <p:nvPicPr>
          <p:cNvPr id="1330449287" name="Image 0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251960" y="1737360"/>
            <a:ext cx="411480" cy="411480"/>
          </a:xfrm>
          <a:prstGeom prst="rect">
            <a:avLst/>
          </a:prstGeom>
        </p:spPr>
      </p:pic>
      <p:sp>
        <p:nvSpPr>
          <p:cNvPr id="1804293995" name="Text 11"/>
          <p:cNvSpPr/>
          <p:nvPr/>
        </p:nvSpPr>
        <p:spPr bwMode="auto">
          <a:xfrm>
            <a:off x="320040" y="2926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2137"/>
                </a:solidFill>
                <a:latin typeface="Times New Roman"/>
                <a:cs typeface="Times New Roman"/>
              </a:rPr>
              <a:t>Cycle de vie d'une Task Instance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933983522" name="Shape 12"/>
          <p:cNvSpPr/>
          <p:nvPr/>
        </p:nvSpPr>
        <p:spPr bwMode="auto">
          <a:xfrm>
            <a:off x="320040" y="3429000"/>
            <a:ext cx="1298448" cy="47548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1929105" name="Text 13"/>
          <p:cNvSpPr/>
          <p:nvPr/>
        </p:nvSpPr>
        <p:spPr bwMode="auto">
          <a:xfrm>
            <a:off x="320040" y="344728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Times New Roman"/>
                <a:cs typeface="Times New Roman"/>
              </a:rPr>
              <a:t>Queued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131147184" name="Text 14"/>
          <p:cNvSpPr/>
          <p:nvPr/>
        </p:nvSpPr>
        <p:spPr bwMode="auto">
          <a:xfrm>
            <a:off x="320040" y="395935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En attente</a:t>
            </a:r>
            <a:endParaRPr lang="en-US" sz="900">
              <a:latin typeface="Times New Roman"/>
              <a:cs typeface="Times New Roman"/>
            </a:endParaRPr>
          </a:p>
        </p:txBody>
      </p:sp>
      <p:pic>
        <p:nvPicPr>
          <p:cNvPr id="781165567" name="Image 1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81912" y="3547872"/>
            <a:ext cx="228600" cy="228600"/>
          </a:xfrm>
          <a:prstGeom prst="rect">
            <a:avLst/>
          </a:prstGeom>
        </p:spPr>
      </p:pic>
      <p:sp>
        <p:nvSpPr>
          <p:cNvPr id="866911903" name="Shape 15"/>
          <p:cNvSpPr/>
          <p:nvPr/>
        </p:nvSpPr>
        <p:spPr bwMode="auto">
          <a:xfrm>
            <a:off x="1764792" y="3429000"/>
            <a:ext cx="1298448" cy="475488"/>
          </a:xfrm>
          <a:prstGeom prst="rect">
            <a:avLst/>
          </a:prstGeom>
          <a:solidFill>
            <a:srgbClr val="3B82F6"/>
          </a:solidFill>
          <a:ln w="12700">
            <a:solidFill>
              <a:schemeClr val="accent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67328216" name="Text 16"/>
          <p:cNvSpPr/>
          <p:nvPr/>
        </p:nvSpPr>
        <p:spPr bwMode="auto">
          <a:xfrm>
            <a:off x="1764792" y="344728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Times New Roman"/>
                <a:cs typeface="Times New Roman"/>
              </a:rPr>
              <a:t>Running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512369499" name="Text 17"/>
          <p:cNvSpPr/>
          <p:nvPr/>
        </p:nvSpPr>
        <p:spPr bwMode="auto">
          <a:xfrm>
            <a:off x="1764792" y="395935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En cours</a:t>
            </a:r>
            <a:endParaRPr lang="en-US" sz="900">
              <a:latin typeface="Times New Roman"/>
              <a:cs typeface="Times New Roman"/>
            </a:endParaRPr>
          </a:p>
        </p:txBody>
      </p:sp>
      <p:pic>
        <p:nvPicPr>
          <p:cNvPr id="756362882" name="Image 2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26664" y="3547872"/>
            <a:ext cx="228600" cy="228600"/>
          </a:xfrm>
          <a:prstGeom prst="rect">
            <a:avLst/>
          </a:prstGeom>
        </p:spPr>
      </p:pic>
      <p:sp>
        <p:nvSpPr>
          <p:cNvPr id="2087495020" name="Shape 18"/>
          <p:cNvSpPr/>
          <p:nvPr/>
        </p:nvSpPr>
        <p:spPr bwMode="auto">
          <a:xfrm>
            <a:off x="3209544" y="3429000"/>
            <a:ext cx="1298448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71352837" name="Text 19"/>
          <p:cNvSpPr/>
          <p:nvPr/>
        </p:nvSpPr>
        <p:spPr bwMode="auto">
          <a:xfrm>
            <a:off x="3209544" y="344728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Times New Roman"/>
                <a:cs typeface="Times New Roman"/>
              </a:rPr>
              <a:t>Success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312238553" name="Text 20"/>
          <p:cNvSpPr/>
          <p:nvPr/>
        </p:nvSpPr>
        <p:spPr bwMode="auto">
          <a:xfrm>
            <a:off x="3209544" y="395935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Réussie</a:t>
            </a:r>
            <a:endParaRPr lang="en-US" sz="900">
              <a:latin typeface="Times New Roman"/>
              <a:cs typeface="Times New Roman"/>
            </a:endParaRPr>
          </a:p>
        </p:txBody>
      </p:sp>
      <p:pic>
        <p:nvPicPr>
          <p:cNvPr id="822083128" name="Image 3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471416" y="3547872"/>
            <a:ext cx="228600" cy="228600"/>
          </a:xfrm>
          <a:prstGeom prst="rect">
            <a:avLst/>
          </a:prstGeom>
        </p:spPr>
      </p:pic>
      <p:sp>
        <p:nvSpPr>
          <p:cNvPr id="1278249634" name="Shape 21"/>
          <p:cNvSpPr/>
          <p:nvPr/>
        </p:nvSpPr>
        <p:spPr bwMode="auto">
          <a:xfrm>
            <a:off x="4654296" y="3429000"/>
            <a:ext cx="1298448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9316448" name="Text 22"/>
          <p:cNvSpPr/>
          <p:nvPr/>
        </p:nvSpPr>
        <p:spPr bwMode="auto">
          <a:xfrm>
            <a:off x="4654296" y="344728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Times New Roman"/>
                <a:cs typeface="Times New Roman"/>
              </a:rPr>
              <a:t>Failed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737576306" name="Text 23"/>
          <p:cNvSpPr/>
          <p:nvPr/>
        </p:nvSpPr>
        <p:spPr bwMode="auto">
          <a:xfrm>
            <a:off x="4654296" y="395935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Échouée</a:t>
            </a:r>
            <a:endParaRPr lang="en-US" sz="900">
              <a:latin typeface="Times New Roman"/>
              <a:cs typeface="Times New Roman"/>
            </a:endParaRPr>
          </a:p>
        </p:txBody>
      </p:sp>
      <p:pic>
        <p:nvPicPr>
          <p:cNvPr id="1050502987" name="Image 4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916168" y="3547872"/>
            <a:ext cx="228600" cy="228600"/>
          </a:xfrm>
          <a:prstGeom prst="rect">
            <a:avLst/>
          </a:prstGeom>
        </p:spPr>
      </p:pic>
      <p:sp>
        <p:nvSpPr>
          <p:cNvPr id="2117560216" name="Shape 24"/>
          <p:cNvSpPr/>
          <p:nvPr/>
        </p:nvSpPr>
        <p:spPr bwMode="auto">
          <a:xfrm>
            <a:off x="6099048" y="3429000"/>
            <a:ext cx="1298448" cy="47548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85528142" name="Text 25"/>
          <p:cNvSpPr/>
          <p:nvPr/>
        </p:nvSpPr>
        <p:spPr bwMode="auto">
          <a:xfrm>
            <a:off x="6099048" y="344728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Times New Roman"/>
                <a:cs typeface="Times New Roman"/>
              </a:rPr>
              <a:t>Skipped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291287383" name="Text 26"/>
          <p:cNvSpPr/>
          <p:nvPr/>
        </p:nvSpPr>
        <p:spPr bwMode="auto">
          <a:xfrm>
            <a:off x="6099048" y="395935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Ignorée</a:t>
            </a:r>
            <a:endParaRPr lang="en-US" sz="900">
              <a:latin typeface="Times New Roman"/>
              <a:cs typeface="Times New Roman"/>
            </a:endParaRPr>
          </a:p>
        </p:txBody>
      </p:sp>
      <p:pic>
        <p:nvPicPr>
          <p:cNvPr id="2058061063" name="Image 5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360920" y="3547872"/>
            <a:ext cx="228600" cy="228600"/>
          </a:xfrm>
          <a:prstGeom prst="rect">
            <a:avLst/>
          </a:prstGeom>
        </p:spPr>
      </p:pic>
      <p:sp>
        <p:nvSpPr>
          <p:cNvPr id="1486295351" name="Shape 27"/>
          <p:cNvSpPr/>
          <p:nvPr/>
        </p:nvSpPr>
        <p:spPr bwMode="auto">
          <a:xfrm>
            <a:off x="7543800" y="3429000"/>
            <a:ext cx="129844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9175108" name="Text 28"/>
          <p:cNvSpPr/>
          <p:nvPr/>
        </p:nvSpPr>
        <p:spPr bwMode="auto">
          <a:xfrm>
            <a:off x="7543800" y="344728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Times New Roman"/>
                <a:cs typeface="Times New Roman"/>
              </a:rPr>
              <a:t>Retry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951568737" name="Text 29"/>
          <p:cNvSpPr/>
          <p:nvPr/>
        </p:nvSpPr>
        <p:spPr bwMode="auto">
          <a:xfrm>
            <a:off x="7543800" y="395935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Relance</a:t>
            </a:r>
            <a:endParaRPr lang="en-US" sz="900">
              <a:latin typeface="Times New Roman"/>
              <a:cs typeface="Times New Roman"/>
            </a:endParaRPr>
          </a:p>
        </p:txBody>
      </p:sp>
      <p:sp>
        <p:nvSpPr>
          <p:cNvPr id="184607942" name="TextBox 2"/>
          <p:cNvSpPr txBox="1"/>
          <p:nvPr/>
        </p:nvSpPr>
        <p:spPr bwMode="auto">
          <a:xfrm>
            <a:off x="499078" y="119385"/>
            <a:ext cx="8229600" cy="577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US" sz="2400" b="1">
                <a:solidFill>
                  <a:srgbClr val="002060"/>
                </a:solidFill>
                <a:latin typeface="+mj-lt"/>
                <a:cs typeface="Times New Roman"/>
              </a:rPr>
              <a:t>Tasks &amp; Task Instances</a:t>
            </a:r>
            <a:endParaRPr lang="en-US" sz="2400">
              <a:solidFill>
                <a:srgbClr val="002060"/>
              </a:solidFill>
              <a:latin typeface="+mj-lt"/>
              <a:cs typeface="Times New Roman"/>
            </a:endParaRPr>
          </a:p>
        </p:txBody>
      </p:sp>
      <p:sp>
        <p:nvSpPr>
          <p:cNvPr id="453762691" name="Shape 1"/>
          <p:cNvSpPr/>
          <p:nvPr/>
        </p:nvSpPr>
        <p:spPr bwMode="auto">
          <a:xfrm>
            <a:off x="499078" y="762343"/>
            <a:ext cx="8229600" cy="4571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336862" name="Google Shape;216;p25"/>
          <p:cNvSpPr txBox="1">
            <a:spLocks noGrp="1"/>
          </p:cNvSpPr>
          <p:nvPr>
            <p:ph type="sldNum" idx="12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>
                <a:latin typeface="Times New Roman"/>
                <a:cs typeface="Times New Roman"/>
              </a:rPr>
              <a:t>11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604955576" name="Text 1"/>
          <p:cNvSpPr/>
          <p:nvPr/>
        </p:nvSpPr>
        <p:spPr bwMode="auto">
          <a:xfrm>
            <a:off x="499078" y="209004"/>
            <a:ext cx="8229600" cy="499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002060"/>
                </a:solidFill>
                <a:latin typeface="+mn-lt"/>
                <a:cs typeface="Times New Roman"/>
              </a:rPr>
              <a:t>Workflow Scheduling</a:t>
            </a:r>
            <a:endParaRPr lang="en-US" sz="2400">
              <a:solidFill>
                <a:srgbClr val="002060"/>
              </a:solidFill>
              <a:latin typeface="+mn-lt"/>
              <a:cs typeface="Times New Roman"/>
            </a:endParaRPr>
          </a:p>
        </p:txBody>
      </p:sp>
      <p:sp>
        <p:nvSpPr>
          <p:cNvPr id="1181733417" name="Shape 3"/>
          <p:cNvSpPr/>
          <p:nvPr/>
        </p:nvSpPr>
        <p:spPr bwMode="auto">
          <a:xfrm>
            <a:off x="182880" y="1143000"/>
            <a:ext cx="8778240" cy="8046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3821906" name="Text 4"/>
          <p:cNvSpPr/>
          <p:nvPr/>
        </p:nvSpPr>
        <p:spPr bwMode="auto">
          <a:xfrm>
            <a:off x="365760" y="11887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B8CAE"/>
                </a:solidFill>
                <a:latin typeface="Times New Roman"/>
                <a:cs typeface="Times New Roman"/>
              </a:rPr>
              <a:t>Expression Cron :</a:t>
            </a:r>
            <a:endParaRPr lang="en-US" sz="1100">
              <a:latin typeface="Times New Roman"/>
              <a:cs typeface="Times New Roman"/>
            </a:endParaRPr>
          </a:p>
        </p:txBody>
      </p:sp>
      <p:sp>
        <p:nvSpPr>
          <p:cNvPr id="436848290" name="Text 5"/>
          <p:cNvSpPr/>
          <p:nvPr/>
        </p:nvSpPr>
        <p:spPr bwMode="auto">
          <a:xfrm>
            <a:off x="365760" y="14813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/>
                <a:ea typeface="Consolas"/>
                <a:cs typeface="Times New Roman"/>
              </a:rPr>
              <a:t>schedule_interval</a:t>
            </a:r>
            <a:r>
              <a:rPr lang="en-US" sz="1350" b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/>
                <a:ea typeface="Consolas"/>
                <a:cs typeface="Times New Roman"/>
              </a:rPr>
              <a:t> = '0 6 * * *'</a:t>
            </a:r>
            <a:endParaRPr lang="en-US" sz="1350">
              <a:solidFill>
                <a:schemeClr val="accent1">
                  <a:lumMod val="20000"/>
                  <a:lumOff val="8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754166656" name="Shape 6"/>
          <p:cNvSpPr/>
          <p:nvPr/>
        </p:nvSpPr>
        <p:spPr bwMode="auto">
          <a:xfrm>
            <a:off x="182880" y="2075688"/>
            <a:ext cx="1627632" cy="5029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</p:sp>
      <p:sp>
        <p:nvSpPr>
          <p:cNvPr id="131790467" name="Text 7"/>
          <p:cNvSpPr/>
          <p:nvPr/>
        </p:nvSpPr>
        <p:spPr bwMode="auto">
          <a:xfrm>
            <a:off x="182880" y="2084832"/>
            <a:ext cx="1627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F2137"/>
                </a:solidFill>
                <a:latin typeface="Times New Roman"/>
                <a:cs typeface="Times New Roman"/>
              </a:rPr>
              <a:t>0</a:t>
            </a:r>
            <a:endParaRPr lang="en-US" sz="1800">
              <a:latin typeface="Times New Roman"/>
              <a:cs typeface="Times New Roman"/>
            </a:endParaRPr>
          </a:p>
        </p:txBody>
      </p:sp>
      <p:sp>
        <p:nvSpPr>
          <p:cNvPr id="529510516" name="Text 8"/>
          <p:cNvSpPr/>
          <p:nvPr/>
        </p:nvSpPr>
        <p:spPr bwMode="auto">
          <a:xfrm>
            <a:off x="182880" y="26060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Minute</a:t>
            </a:r>
            <a:endParaRPr lang="en-US" sz="900">
              <a:latin typeface="Times New Roman"/>
              <a:cs typeface="Times New Roman"/>
            </a:endParaRPr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(0)</a:t>
            </a:r>
            <a:endParaRPr lang="en-US" sz="900">
              <a:latin typeface="Times New Roman"/>
              <a:cs typeface="Times New Roman"/>
            </a:endParaRPr>
          </a:p>
        </p:txBody>
      </p:sp>
      <p:sp>
        <p:nvSpPr>
          <p:cNvPr id="1465177620" name="Shape 9"/>
          <p:cNvSpPr/>
          <p:nvPr/>
        </p:nvSpPr>
        <p:spPr bwMode="auto">
          <a:xfrm>
            <a:off x="1965960" y="2075688"/>
            <a:ext cx="1627632" cy="5029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</p:sp>
      <p:sp>
        <p:nvSpPr>
          <p:cNvPr id="684721001" name="Text 10"/>
          <p:cNvSpPr/>
          <p:nvPr/>
        </p:nvSpPr>
        <p:spPr bwMode="auto">
          <a:xfrm>
            <a:off x="1965960" y="2084832"/>
            <a:ext cx="1627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F2137"/>
                </a:solidFill>
                <a:latin typeface="Times New Roman"/>
                <a:cs typeface="Times New Roman"/>
              </a:rPr>
              <a:t>6</a:t>
            </a:r>
            <a:endParaRPr lang="en-US" sz="1800">
              <a:latin typeface="Times New Roman"/>
              <a:cs typeface="Times New Roman"/>
            </a:endParaRPr>
          </a:p>
        </p:txBody>
      </p:sp>
      <p:sp>
        <p:nvSpPr>
          <p:cNvPr id="1427970718" name="Text 11"/>
          <p:cNvSpPr/>
          <p:nvPr/>
        </p:nvSpPr>
        <p:spPr bwMode="auto">
          <a:xfrm>
            <a:off x="1965960" y="26060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Heure</a:t>
            </a:r>
            <a:endParaRPr lang="en-US" sz="900">
              <a:latin typeface="Times New Roman"/>
              <a:cs typeface="Times New Roman"/>
            </a:endParaRPr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(6h)</a:t>
            </a:r>
            <a:endParaRPr lang="en-US" sz="900">
              <a:latin typeface="Times New Roman"/>
              <a:cs typeface="Times New Roman"/>
            </a:endParaRPr>
          </a:p>
        </p:txBody>
      </p:sp>
      <p:sp>
        <p:nvSpPr>
          <p:cNvPr id="1661327246" name="Shape 12"/>
          <p:cNvSpPr/>
          <p:nvPr/>
        </p:nvSpPr>
        <p:spPr bwMode="auto">
          <a:xfrm>
            <a:off x="3749040" y="2075688"/>
            <a:ext cx="1627632" cy="5029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</p:sp>
      <p:sp>
        <p:nvSpPr>
          <p:cNvPr id="1102642091" name="Text 13"/>
          <p:cNvSpPr/>
          <p:nvPr/>
        </p:nvSpPr>
        <p:spPr bwMode="auto">
          <a:xfrm>
            <a:off x="3749040" y="2084832"/>
            <a:ext cx="1627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F2137"/>
                </a:solidFill>
                <a:latin typeface="Times New Roman"/>
                <a:cs typeface="Times New Roman"/>
              </a:rPr>
              <a:t>*</a:t>
            </a:r>
            <a:endParaRPr lang="en-US" sz="1800">
              <a:latin typeface="Times New Roman"/>
              <a:cs typeface="Times New Roman"/>
            </a:endParaRPr>
          </a:p>
        </p:txBody>
      </p:sp>
      <p:sp>
        <p:nvSpPr>
          <p:cNvPr id="1287419688" name="Text 14"/>
          <p:cNvSpPr/>
          <p:nvPr/>
        </p:nvSpPr>
        <p:spPr bwMode="auto">
          <a:xfrm>
            <a:off x="3749040" y="26060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Jour</a:t>
            </a:r>
            <a:endParaRPr lang="en-US" sz="900">
              <a:latin typeface="Times New Roman"/>
              <a:cs typeface="Times New Roman"/>
            </a:endParaRPr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(tous)</a:t>
            </a:r>
            <a:endParaRPr lang="en-US" sz="900">
              <a:latin typeface="Times New Roman"/>
              <a:cs typeface="Times New Roman"/>
            </a:endParaRPr>
          </a:p>
        </p:txBody>
      </p:sp>
      <p:sp>
        <p:nvSpPr>
          <p:cNvPr id="1643671653" name="Shape 15"/>
          <p:cNvSpPr/>
          <p:nvPr/>
        </p:nvSpPr>
        <p:spPr bwMode="auto">
          <a:xfrm>
            <a:off x="5532120" y="2075688"/>
            <a:ext cx="1627632" cy="5029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</p:sp>
      <p:sp>
        <p:nvSpPr>
          <p:cNvPr id="274563034" name="Text 16"/>
          <p:cNvSpPr/>
          <p:nvPr/>
        </p:nvSpPr>
        <p:spPr bwMode="auto">
          <a:xfrm>
            <a:off x="5532120" y="2084832"/>
            <a:ext cx="1627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F2137"/>
                </a:solidFill>
                <a:latin typeface="Times New Roman"/>
                <a:cs typeface="Times New Roman"/>
              </a:rPr>
              <a:t>*</a:t>
            </a:r>
            <a:endParaRPr lang="en-US" sz="1800">
              <a:latin typeface="Times New Roman"/>
              <a:cs typeface="Times New Roman"/>
            </a:endParaRPr>
          </a:p>
        </p:txBody>
      </p:sp>
      <p:sp>
        <p:nvSpPr>
          <p:cNvPr id="335036796" name="Text 17"/>
          <p:cNvSpPr/>
          <p:nvPr/>
        </p:nvSpPr>
        <p:spPr bwMode="auto">
          <a:xfrm>
            <a:off x="5532120" y="26060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Mois</a:t>
            </a:r>
            <a:endParaRPr lang="en-US" sz="900">
              <a:latin typeface="Times New Roman"/>
              <a:cs typeface="Times New Roman"/>
            </a:endParaRPr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(tous)</a:t>
            </a:r>
            <a:endParaRPr lang="en-US" sz="900">
              <a:latin typeface="Times New Roman"/>
              <a:cs typeface="Times New Roman"/>
            </a:endParaRPr>
          </a:p>
        </p:txBody>
      </p:sp>
      <p:sp>
        <p:nvSpPr>
          <p:cNvPr id="2068220257" name="Shape 18"/>
          <p:cNvSpPr/>
          <p:nvPr/>
        </p:nvSpPr>
        <p:spPr bwMode="auto">
          <a:xfrm>
            <a:off x="7315200" y="2075688"/>
            <a:ext cx="1627632" cy="5029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</p:sp>
      <p:sp>
        <p:nvSpPr>
          <p:cNvPr id="592073167" name="Text 19"/>
          <p:cNvSpPr/>
          <p:nvPr/>
        </p:nvSpPr>
        <p:spPr bwMode="auto">
          <a:xfrm>
            <a:off x="7315200" y="2084832"/>
            <a:ext cx="1627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0F2137"/>
                </a:solidFill>
                <a:latin typeface="Times New Roman"/>
                <a:cs typeface="Times New Roman"/>
              </a:rPr>
              <a:t>*</a:t>
            </a:r>
            <a:endParaRPr lang="en-US" sz="1800">
              <a:latin typeface="Times New Roman"/>
              <a:cs typeface="Times New Roman"/>
            </a:endParaRPr>
          </a:p>
        </p:txBody>
      </p:sp>
      <p:sp>
        <p:nvSpPr>
          <p:cNvPr id="1315083170" name="Text 20"/>
          <p:cNvSpPr/>
          <p:nvPr/>
        </p:nvSpPr>
        <p:spPr bwMode="auto">
          <a:xfrm>
            <a:off x="7315200" y="26060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Semaine</a:t>
            </a:r>
            <a:endParaRPr lang="en-US" sz="900">
              <a:latin typeface="Times New Roman"/>
              <a:cs typeface="Times New Roman"/>
            </a:endParaRPr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(tous)</a:t>
            </a:r>
            <a:endParaRPr lang="en-US" sz="900">
              <a:latin typeface="Times New Roman"/>
              <a:cs typeface="Times New Roman"/>
            </a:endParaRPr>
          </a:p>
        </p:txBody>
      </p:sp>
      <p:sp>
        <p:nvSpPr>
          <p:cNvPr id="899629587" name="Text 21"/>
          <p:cNvSpPr/>
          <p:nvPr/>
        </p:nvSpPr>
        <p:spPr bwMode="auto">
          <a:xfrm>
            <a:off x="182880" y="309067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i="1">
                <a:solidFill>
                  <a:srgbClr val="FFFFFF"/>
                </a:solidFill>
                <a:latin typeface="Times New Roman"/>
                <a:cs typeface="Times New Roman"/>
              </a:rPr>
              <a:t>→ Exécution chaque jour à 6h00</a:t>
            </a:r>
            <a:endParaRPr lang="en-US" sz="1150">
              <a:latin typeface="Times New Roman"/>
              <a:cs typeface="Times New Roman"/>
            </a:endParaRPr>
          </a:p>
        </p:txBody>
      </p:sp>
      <p:sp>
        <p:nvSpPr>
          <p:cNvPr id="457857893" name="Shape 22"/>
          <p:cNvSpPr/>
          <p:nvPr/>
        </p:nvSpPr>
        <p:spPr bwMode="auto">
          <a:xfrm>
            <a:off x="182880" y="3566160"/>
            <a:ext cx="2084832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3A5F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08248020" name="Text 23"/>
          <p:cNvSpPr/>
          <p:nvPr/>
        </p:nvSpPr>
        <p:spPr bwMode="auto">
          <a:xfrm>
            <a:off x="256032" y="3584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/>
                <a:ea typeface="Consolas"/>
                <a:cs typeface="Times New Roman"/>
              </a:rPr>
              <a:t>@daily</a:t>
            </a:r>
            <a:endParaRPr lang="en-US" sz="1200">
              <a:solidFill>
                <a:schemeClr val="accent1">
                  <a:lumMod val="20000"/>
                  <a:lumOff val="8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3961971" name="Text 24"/>
          <p:cNvSpPr/>
          <p:nvPr/>
        </p:nvSpPr>
        <p:spPr bwMode="auto">
          <a:xfrm>
            <a:off x="256032" y="3840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B8CAE"/>
                </a:solidFill>
                <a:latin typeface="Times New Roman"/>
                <a:cs typeface="Times New Roman"/>
              </a:rPr>
              <a:t>Chaque jour à minuit</a:t>
            </a:r>
            <a:endParaRPr lang="en-US" sz="950">
              <a:latin typeface="Times New Roman"/>
              <a:cs typeface="Times New Roman"/>
            </a:endParaRPr>
          </a:p>
        </p:txBody>
      </p:sp>
      <p:sp>
        <p:nvSpPr>
          <p:cNvPr id="2144923927" name="Shape 25"/>
          <p:cNvSpPr/>
          <p:nvPr/>
        </p:nvSpPr>
        <p:spPr bwMode="auto">
          <a:xfrm>
            <a:off x="2423160" y="3566160"/>
            <a:ext cx="2084832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3A5F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2819859" name="Text 26"/>
          <p:cNvSpPr/>
          <p:nvPr/>
        </p:nvSpPr>
        <p:spPr bwMode="auto">
          <a:xfrm>
            <a:off x="2496312" y="3584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/>
                <a:ea typeface="Consolas"/>
                <a:cs typeface="Times New Roman"/>
              </a:rPr>
              <a:t>@hourly</a:t>
            </a:r>
            <a:endParaRPr lang="en-US" sz="1200">
              <a:solidFill>
                <a:schemeClr val="accent1">
                  <a:lumMod val="20000"/>
                  <a:lumOff val="8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696350663" name="Text 27"/>
          <p:cNvSpPr/>
          <p:nvPr/>
        </p:nvSpPr>
        <p:spPr bwMode="auto">
          <a:xfrm>
            <a:off x="2496312" y="3840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B8CAE"/>
                </a:solidFill>
                <a:latin typeface="Times New Roman"/>
                <a:cs typeface="Times New Roman"/>
              </a:rPr>
              <a:t>Chaque heure</a:t>
            </a:r>
            <a:endParaRPr lang="en-US" sz="950">
              <a:latin typeface="Times New Roman"/>
              <a:cs typeface="Times New Roman"/>
            </a:endParaRPr>
          </a:p>
        </p:txBody>
      </p:sp>
      <p:sp>
        <p:nvSpPr>
          <p:cNvPr id="1725434807" name="Shape 28"/>
          <p:cNvSpPr/>
          <p:nvPr/>
        </p:nvSpPr>
        <p:spPr bwMode="auto">
          <a:xfrm>
            <a:off x="4663440" y="3566160"/>
            <a:ext cx="2084832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3A5F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57940973" name="Text 29"/>
          <p:cNvSpPr/>
          <p:nvPr/>
        </p:nvSpPr>
        <p:spPr bwMode="auto">
          <a:xfrm>
            <a:off x="4736592" y="3584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/>
                <a:ea typeface="Consolas"/>
                <a:cs typeface="Times New Roman"/>
              </a:rPr>
              <a:t>@weekly</a:t>
            </a:r>
            <a:endParaRPr lang="en-US" sz="1200">
              <a:solidFill>
                <a:schemeClr val="accent1">
                  <a:lumMod val="20000"/>
                  <a:lumOff val="8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228941606" name="Text 30"/>
          <p:cNvSpPr/>
          <p:nvPr/>
        </p:nvSpPr>
        <p:spPr bwMode="auto">
          <a:xfrm>
            <a:off x="4736592" y="3840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B8CAE"/>
                </a:solidFill>
                <a:latin typeface="Times New Roman"/>
                <a:cs typeface="Times New Roman"/>
              </a:rPr>
              <a:t>Chaque dimanche</a:t>
            </a:r>
            <a:endParaRPr lang="en-US" sz="950">
              <a:latin typeface="Times New Roman"/>
              <a:cs typeface="Times New Roman"/>
            </a:endParaRPr>
          </a:p>
        </p:txBody>
      </p:sp>
      <p:sp>
        <p:nvSpPr>
          <p:cNvPr id="606036386" name="Shape 31"/>
          <p:cNvSpPr/>
          <p:nvPr/>
        </p:nvSpPr>
        <p:spPr bwMode="auto">
          <a:xfrm>
            <a:off x="6903720" y="3566160"/>
            <a:ext cx="2084832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3A5F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6603070" name="Text 32"/>
          <p:cNvSpPr/>
          <p:nvPr/>
        </p:nvSpPr>
        <p:spPr bwMode="auto">
          <a:xfrm>
            <a:off x="6976872" y="3584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/>
                <a:ea typeface="Consolas"/>
                <a:cs typeface="Times New Roman"/>
              </a:rPr>
              <a:t>@monthly</a:t>
            </a:r>
            <a:endParaRPr lang="en-US" sz="1200">
              <a:solidFill>
                <a:schemeClr val="accent1">
                  <a:lumMod val="20000"/>
                  <a:lumOff val="8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042803200" name="Text 33"/>
          <p:cNvSpPr/>
          <p:nvPr/>
        </p:nvSpPr>
        <p:spPr bwMode="auto">
          <a:xfrm>
            <a:off x="6976872" y="3840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B8CAE"/>
                </a:solidFill>
                <a:latin typeface="Times New Roman"/>
                <a:cs typeface="Times New Roman"/>
              </a:rPr>
              <a:t>1er du mois</a:t>
            </a:r>
            <a:endParaRPr lang="en-US" sz="950">
              <a:latin typeface="Times New Roman"/>
              <a:cs typeface="Times New Roman"/>
            </a:endParaRPr>
          </a:p>
        </p:txBody>
      </p:sp>
      <p:sp>
        <p:nvSpPr>
          <p:cNvPr id="1138717161" name="Text 34"/>
          <p:cNvSpPr/>
          <p:nvPr/>
        </p:nvSpPr>
        <p:spPr bwMode="auto">
          <a:xfrm>
            <a:off x="182880" y="4297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i="1">
                <a:solidFill>
                  <a:srgbClr val="6B8CAE"/>
                </a:solidFill>
                <a:latin typeface="Times New Roman"/>
                <a:cs typeface="Times New Roman"/>
              </a:rPr>
              <a:t>Idéal pour les pipelines ETL : extraction, transformation et chargement automatisés à intervalles réguliers.</a:t>
            </a:r>
            <a:endParaRPr lang="en-US" sz="1050">
              <a:latin typeface="Times New Roman"/>
              <a:cs typeface="Times New Roman"/>
            </a:endParaRPr>
          </a:p>
        </p:txBody>
      </p:sp>
      <p:sp>
        <p:nvSpPr>
          <p:cNvPr id="1748568374" name="Shape 1"/>
          <p:cNvSpPr/>
          <p:nvPr/>
        </p:nvSpPr>
        <p:spPr bwMode="auto">
          <a:xfrm>
            <a:off x="499078" y="762343"/>
            <a:ext cx="8229600" cy="4571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293965" name="Google Shape;99;p15"/>
          <p:cNvSpPr txBox="1">
            <a:spLocks noGrp="1"/>
          </p:cNvSpPr>
          <p:nvPr>
            <p:ph type="sldNum" idx="4294967295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>
                <a:latin typeface="Times New Roman"/>
                <a:cs typeface="Times New Roman"/>
              </a:rPr>
              <a:t>12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1300819536" name="Text 14"/>
          <p:cNvSpPr>
            <a:spLocks noGrp="1"/>
          </p:cNvSpPr>
          <p:nvPr>
            <p:ph type="ctrTitle"/>
          </p:nvPr>
        </p:nvSpPr>
        <p:spPr bwMode="auto">
          <a:xfrm>
            <a:off x="718992" y="1731742"/>
            <a:ext cx="7488300" cy="115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sz="540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Architecture de Airflow</a:t>
            </a:r>
            <a:endParaRPr lang="en-US" sz="540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261079198" name="TextBox 4"/>
          <p:cNvSpPr txBox="1"/>
          <p:nvPr/>
        </p:nvSpPr>
        <p:spPr bwMode="auto">
          <a:xfrm>
            <a:off x="925284" y="2835738"/>
            <a:ext cx="5821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defRPr/>
            </a:pPr>
            <a:r>
              <a:rPr lang="en-US" sz="1800">
                <a:solidFill>
                  <a:srgbClr val="6B8CAE"/>
                </a:solidFill>
                <a:latin typeface="Abadi"/>
              </a:rPr>
              <a:t>Architecture • Les Workers • </a:t>
            </a:r>
            <a:r>
              <a:rPr lang="en-US" sz="1800">
                <a:solidFill>
                  <a:srgbClr val="6B8CAE"/>
                </a:solidFill>
                <a:latin typeface="Abadi"/>
              </a:rPr>
              <a:t>Fonctionnement</a:t>
            </a:r>
            <a:r>
              <a:rPr lang="en-US" sz="1800">
                <a:solidFill>
                  <a:srgbClr val="6B8CAE"/>
                </a:solidFill>
                <a:latin typeface="Abadi"/>
              </a:rPr>
              <a:t> </a:t>
            </a:r>
            <a:r>
              <a:rPr lang="en-US" sz="1800">
                <a:solidFill>
                  <a:srgbClr val="6B8CAE"/>
                </a:solidFill>
                <a:latin typeface="Abadi"/>
              </a:rPr>
              <a:t>globale</a:t>
            </a:r>
            <a:endParaRPr lang="en-US" sz="1800">
              <a:latin typeface="Abad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248876" name="Text 2"/>
          <p:cNvSpPr/>
          <p:nvPr/>
        </p:nvSpPr>
        <p:spPr bwMode="auto">
          <a:xfrm>
            <a:off x="499077" y="281508"/>
            <a:ext cx="8229600" cy="407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2400" b="1">
                <a:solidFill>
                  <a:srgbClr val="002060"/>
                </a:solidFill>
                <a:latin typeface="+mj-lt"/>
                <a:ea typeface="Calibri"/>
                <a:cs typeface="Times New Roman"/>
              </a:rPr>
              <a:t>Architecture</a:t>
            </a:r>
            <a:endParaRPr lang="en-US" sz="2400">
              <a:solidFill>
                <a:srgbClr val="002060"/>
              </a:solidFill>
              <a:latin typeface="+mj-lt"/>
              <a:cs typeface="Times New Roman"/>
            </a:endParaRPr>
          </a:p>
        </p:txBody>
      </p:sp>
      <p:sp>
        <p:nvSpPr>
          <p:cNvPr id="659939929" name="Shape 5"/>
          <p:cNvSpPr/>
          <p:nvPr/>
        </p:nvSpPr>
        <p:spPr bwMode="auto">
          <a:xfrm>
            <a:off x="220882" y="1112494"/>
            <a:ext cx="2021222" cy="3213287"/>
          </a:xfrm>
          <a:prstGeom prst="rect">
            <a:avLst/>
          </a:prstGeom>
          <a:solidFill>
            <a:srgbClr val="F0F3F6"/>
          </a:solidFill>
          <a:ln w="12700">
            <a:solidFill>
              <a:srgbClr val="DDE3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14508903" name="Shape 6"/>
          <p:cNvSpPr/>
          <p:nvPr/>
        </p:nvSpPr>
        <p:spPr bwMode="auto">
          <a:xfrm>
            <a:off x="220882" y="1112494"/>
            <a:ext cx="2021222" cy="6480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22915032" name="Text 7"/>
          <p:cNvSpPr/>
          <p:nvPr/>
        </p:nvSpPr>
        <p:spPr bwMode="auto">
          <a:xfrm>
            <a:off x="220882" y="1112494"/>
            <a:ext cx="2021222" cy="648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1200" b="1">
                <a:solidFill>
                  <a:srgbClr val="002060"/>
                </a:solidFill>
                <a:latin typeface="Times New Roman"/>
                <a:cs typeface="Times New Roman"/>
              </a:rPr>
              <a:t>Web</a:t>
            </a:r>
            <a:r>
              <a:rPr lang="en-US" sz="1000" b="1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lang="en-US" sz="1200" b="1">
                <a:solidFill>
                  <a:srgbClr val="002060"/>
                </a:solidFill>
                <a:latin typeface="Times New Roman"/>
                <a:cs typeface="Times New Roman"/>
              </a:rPr>
              <a:t>Server</a:t>
            </a:r>
            <a:endParaRPr lang="en-US" sz="1000">
              <a:solidFill>
                <a:srgbClr val="002060"/>
              </a:solidFill>
              <a:latin typeface="Times New Roman"/>
              <a:cs typeface="Times New Roman"/>
            </a:endParaRPr>
          </a:p>
        </p:txBody>
      </p:sp>
      <p:sp>
        <p:nvSpPr>
          <p:cNvPr id="664017340" name="Text 8"/>
          <p:cNvSpPr/>
          <p:nvPr/>
        </p:nvSpPr>
        <p:spPr bwMode="auto">
          <a:xfrm>
            <a:off x="327095" y="1640696"/>
            <a:ext cx="1753455" cy="815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/>
            </a:pPr>
            <a:r>
              <a:rPr lang="en-US" sz="2850">
                <a:latin typeface="Times New Roman"/>
                <a:cs typeface="Times New Roman"/>
              </a:rPr>
              <a:t>🌐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300189616" name="Text 9"/>
          <p:cNvSpPr/>
          <p:nvPr/>
        </p:nvSpPr>
        <p:spPr bwMode="auto">
          <a:xfrm>
            <a:off x="289462" y="2159026"/>
            <a:ext cx="1828724" cy="377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Interface</a:t>
            </a:r>
            <a:endParaRPr lang="en-US" sz="1200">
              <a:solidFill>
                <a:schemeClr val="accent6">
                  <a:lumMod val="5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322016265" name="Shape 10"/>
          <p:cNvSpPr/>
          <p:nvPr/>
        </p:nvSpPr>
        <p:spPr bwMode="auto">
          <a:xfrm>
            <a:off x="433041" y="2517192"/>
            <a:ext cx="1412668" cy="36705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12126627" name="Shape 12"/>
          <p:cNvSpPr/>
          <p:nvPr/>
        </p:nvSpPr>
        <p:spPr bwMode="auto">
          <a:xfrm>
            <a:off x="2465889" y="1146906"/>
            <a:ext cx="2021222" cy="3196144"/>
          </a:xfrm>
          <a:prstGeom prst="rect">
            <a:avLst/>
          </a:prstGeom>
          <a:solidFill>
            <a:srgbClr val="F0F3F6"/>
          </a:solidFill>
          <a:ln w="12700">
            <a:solidFill>
              <a:srgbClr val="DDE3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60652193" name="Shape 13"/>
          <p:cNvSpPr/>
          <p:nvPr/>
        </p:nvSpPr>
        <p:spPr bwMode="auto">
          <a:xfrm>
            <a:off x="2465889" y="1127984"/>
            <a:ext cx="2021222" cy="6480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3145709" name="Text 14"/>
          <p:cNvSpPr/>
          <p:nvPr/>
        </p:nvSpPr>
        <p:spPr bwMode="auto">
          <a:xfrm>
            <a:off x="2465889" y="1127983"/>
            <a:ext cx="2021222" cy="6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1200" b="1">
                <a:solidFill>
                  <a:srgbClr val="002060"/>
                </a:solidFill>
                <a:latin typeface="Times New Roman"/>
                <a:cs typeface="Times New Roman"/>
              </a:rPr>
              <a:t>Scheduler</a:t>
            </a:r>
            <a:endParaRPr lang="en-US" sz="1000">
              <a:solidFill>
                <a:srgbClr val="002060"/>
              </a:solidFill>
              <a:latin typeface="Times New Roman"/>
              <a:cs typeface="Times New Roman"/>
            </a:endParaRPr>
          </a:p>
        </p:txBody>
      </p:sp>
      <p:sp>
        <p:nvSpPr>
          <p:cNvPr id="867923474" name="Text 15"/>
          <p:cNvSpPr/>
          <p:nvPr/>
        </p:nvSpPr>
        <p:spPr bwMode="auto">
          <a:xfrm>
            <a:off x="2551221" y="1716059"/>
            <a:ext cx="1787080" cy="6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/>
            </a:pPr>
            <a:r>
              <a:rPr lang="en-US" sz="2850">
                <a:latin typeface="Times New Roman"/>
                <a:cs typeface="Times New Roman"/>
              </a:rPr>
              <a:t>⏰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278723992" name="Text 16"/>
          <p:cNvSpPr/>
          <p:nvPr/>
        </p:nvSpPr>
        <p:spPr bwMode="auto">
          <a:xfrm>
            <a:off x="2552151" y="2212924"/>
            <a:ext cx="1828725" cy="319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Planificateur</a:t>
            </a:r>
            <a:endParaRPr lang="en-US" sz="1200">
              <a:solidFill>
                <a:schemeClr val="accent6">
                  <a:lumMod val="5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509227696" name="Shape 17"/>
          <p:cNvSpPr/>
          <p:nvPr/>
        </p:nvSpPr>
        <p:spPr bwMode="auto">
          <a:xfrm>
            <a:off x="2712989" y="2527642"/>
            <a:ext cx="1539980" cy="41549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659467685" name="Shape 19"/>
          <p:cNvSpPr/>
          <p:nvPr/>
        </p:nvSpPr>
        <p:spPr bwMode="auto">
          <a:xfrm>
            <a:off x="4667412" y="1127984"/>
            <a:ext cx="2020494" cy="3215066"/>
          </a:xfrm>
          <a:prstGeom prst="rect">
            <a:avLst/>
          </a:prstGeom>
          <a:solidFill>
            <a:srgbClr val="F0F3F6"/>
          </a:solidFill>
          <a:ln w="12700">
            <a:solidFill>
              <a:srgbClr val="DDE3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49668644" name="Shape 20"/>
          <p:cNvSpPr/>
          <p:nvPr/>
        </p:nvSpPr>
        <p:spPr bwMode="auto">
          <a:xfrm>
            <a:off x="4677763" y="1127984"/>
            <a:ext cx="2020494" cy="6218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5102059" name="Text 21"/>
          <p:cNvSpPr/>
          <p:nvPr/>
        </p:nvSpPr>
        <p:spPr bwMode="auto">
          <a:xfrm>
            <a:off x="4677763" y="1127984"/>
            <a:ext cx="2020494" cy="453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endParaRPr lang="en-US" sz="1200" b="1">
              <a:solidFill>
                <a:srgbClr val="002060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en-US" sz="1200" b="1">
                <a:solidFill>
                  <a:srgbClr val="002060"/>
                </a:solidFill>
                <a:latin typeface="Times New Roman"/>
                <a:cs typeface="Times New Roman"/>
              </a:rPr>
              <a:t>Executor</a:t>
            </a:r>
            <a:endParaRPr lang="en-US" sz="1000">
              <a:solidFill>
                <a:srgbClr val="002060"/>
              </a:solidFill>
              <a:latin typeface="Times New Roman"/>
              <a:cs typeface="Times New Roman"/>
            </a:endParaRPr>
          </a:p>
        </p:txBody>
      </p:sp>
      <p:sp>
        <p:nvSpPr>
          <p:cNvPr id="1887100249" name="Text 22"/>
          <p:cNvSpPr/>
          <p:nvPr/>
        </p:nvSpPr>
        <p:spPr bwMode="auto">
          <a:xfrm>
            <a:off x="4677763" y="1723085"/>
            <a:ext cx="2020494" cy="741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/>
            </a:pPr>
            <a:r>
              <a:rPr lang="en-US" sz="2850">
                <a:latin typeface="Times New Roman"/>
                <a:cs typeface="Times New Roman"/>
              </a:rPr>
              <a:t>⚙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70847425" name="Text 23"/>
          <p:cNvSpPr/>
          <p:nvPr/>
        </p:nvSpPr>
        <p:spPr bwMode="auto">
          <a:xfrm>
            <a:off x="4773977" y="2251636"/>
            <a:ext cx="1828066" cy="26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Lanceur</a:t>
            </a:r>
            <a:endParaRPr lang="en-US" sz="1200">
              <a:solidFill>
                <a:schemeClr val="accent6">
                  <a:lumMod val="5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238702255" name="Shape 24"/>
          <p:cNvSpPr/>
          <p:nvPr/>
        </p:nvSpPr>
        <p:spPr bwMode="auto">
          <a:xfrm>
            <a:off x="4878241" y="2532538"/>
            <a:ext cx="1539425" cy="34289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77352355" name="Shape 26"/>
          <p:cNvSpPr/>
          <p:nvPr/>
        </p:nvSpPr>
        <p:spPr bwMode="auto">
          <a:xfrm>
            <a:off x="6898737" y="1146906"/>
            <a:ext cx="2020493" cy="3196144"/>
          </a:xfrm>
          <a:prstGeom prst="rect">
            <a:avLst/>
          </a:prstGeom>
          <a:solidFill>
            <a:srgbClr val="F0F3F6"/>
          </a:solidFill>
          <a:ln w="12700">
            <a:solidFill>
              <a:srgbClr val="DDE3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7549747" name="Shape 27"/>
          <p:cNvSpPr/>
          <p:nvPr/>
        </p:nvSpPr>
        <p:spPr bwMode="auto">
          <a:xfrm>
            <a:off x="6898737" y="1146905"/>
            <a:ext cx="2020493" cy="5568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30355659" name="Text 28"/>
          <p:cNvSpPr/>
          <p:nvPr/>
        </p:nvSpPr>
        <p:spPr bwMode="auto">
          <a:xfrm>
            <a:off x="6898737" y="1146905"/>
            <a:ext cx="2020493" cy="556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1200" b="1">
                <a:solidFill>
                  <a:srgbClr val="002060"/>
                </a:solidFill>
                <a:latin typeface="Times New Roman"/>
                <a:cs typeface="Times New Roman"/>
              </a:rPr>
              <a:t>Metadata</a:t>
            </a:r>
            <a:r>
              <a:rPr lang="en-US" sz="1000" b="1">
                <a:solidFill>
                  <a:srgbClr val="002060"/>
                </a:solidFill>
                <a:latin typeface="Times New Roman"/>
                <a:cs typeface="Times New Roman"/>
              </a:rPr>
              <a:t> DB</a:t>
            </a:r>
            <a:endParaRPr lang="en-US" sz="1000">
              <a:solidFill>
                <a:srgbClr val="002060"/>
              </a:solidFill>
              <a:latin typeface="Times New Roman"/>
              <a:cs typeface="Times New Roman"/>
            </a:endParaRPr>
          </a:p>
        </p:txBody>
      </p:sp>
      <p:sp>
        <p:nvSpPr>
          <p:cNvPr id="1873751669" name="Text 29"/>
          <p:cNvSpPr/>
          <p:nvPr/>
        </p:nvSpPr>
        <p:spPr bwMode="auto">
          <a:xfrm>
            <a:off x="6878035" y="1610922"/>
            <a:ext cx="2020493" cy="911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/>
            </a:pPr>
            <a:r>
              <a:rPr lang="en-US" sz="2850">
                <a:latin typeface="Times New Roman"/>
                <a:cs typeface="Times New Roman"/>
              </a:rPr>
              <a:t>🗃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293831083" name="Text 30"/>
          <p:cNvSpPr/>
          <p:nvPr/>
        </p:nvSpPr>
        <p:spPr bwMode="auto">
          <a:xfrm>
            <a:off x="6994950" y="2229932"/>
            <a:ext cx="1828065" cy="32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Mémoire</a:t>
            </a:r>
            <a:endParaRPr lang="en-US" sz="1200" b="1">
              <a:solidFill>
                <a:schemeClr val="accent6">
                  <a:lumMod val="5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828043596" name="Shape 31"/>
          <p:cNvSpPr/>
          <p:nvPr/>
        </p:nvSpPr>
        <p:spPr bwMode="auto">
          <a:xfrm>
            <a:off x="7111638" y="2527357"/>
            <a:ext cx="1539424" cy="4211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045089969" name="Text 36"/>
          <p:cNvSpPr/>
          <p:nvPr/>
        </p:nvSpPr>
        <p:spPr bwMode="auto">
          <a:xfrm>
            <a:off x="974300" y="4669918"/>
            <a:ext cx="6968531" cy="189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/>
            </a:pPr>
            <a:r>
              <a:rPr lang="en-US" sz="1500" b="1" i="1">
                <a:latin typeface="Times New Roman"/>
                <a:cs typeface="Times New Roman"/>
              </a:rPr>
              <a:t>💡  </a:t>
            </a:r>
            <a:r>
              <a:rPr lang="en-US" sz="1500" b="1" i="1">
                <a:latin typeface="Times New Roman"/>
                <a:cs typeface="Times New Roman"/>
              </a:rPr>
              <a:t>Ces</a:t>
            </a:r>
            <a:r>
              <a:rPr lang="en-US" sz="1500" b="1" i="1">
                <a:latin typeface="Times New Roman"/>
                <a:cs typeface="Times New Roman"/>
              </a:rPr>
              <a:t> 4 </a:t>
            </a:r>
            <a:r>
              <a:rPr lang="en-US" sz="1500" b="1" i="1">
                <a:latin typeface="Times New Roman"/>
                <a:cs typeface="Times New Roman"/>
              </a:rPr>
              <a:t>composants</a:t>
            </a:r>
            <a:r>
              <a:rPr lang="en-US" sz="1500" b="1" i="1">
                <a:latin typeface="Times New Roman"/>
                <a:cs typeface="Times New Roman"/>
              </a:rPr>
              <a:t> constituent </a:t>
            </a:r>
            <a:r>
              <a:rPr lang="en-US" sz="1500" b="1" i="1">
                <a:latin typeface="Times New Roman"/>
                <a:cs typeface="Times New Roman"/>
              </a:rPr>
              <a:t>l'architecture</a:t>
            </a:r>
            <a:r>
              <a:rPr lang="en-US" sz="1500" b="1" i="1">
                <a:latin typeface="Times New Roman"/>
                <a:cs typeface="Times New Roman"/>
              </a:rPr>
              <a:t> </a:t>
            </a:r>
            <a:r>
              <a:rPr lang="en-US" sz="1500" b="1" i="1">
                <a:latin typeface="Times New Roman"/>
                <a:cs typeface="Times New Roman"/>
              </a:rPr>
              <a:t>minimale</a:t>
            </a:r>
            <a:r>
              <a:rPr lang="en-US" sz="1500" b="1" i="1">
                <a:latin typeface="Times New Roman"/>
                <a:cs typeface="Times New Roman"/>
              </a:rPr>
              <a:t> </a:t>
            </a:r>
            <a:r>
              <a:rPr lang="en-US" sz="1500" b="1" i="1">
                <a:latin typeface="Times New Roman"/>
                <a:cs typeface="Times New Roman"/>
              </a:rPr>
              <a:t>officielle</a:t>
            </a:r>
            <a:r>
              <a:rPr lang="en-US" sz="1500" b="1" i="1">
                <a:latin typeface="Times New Roman"/>
                <a:cs typeface="Times New Roman"/>
              </a:rPr>
              <a:t> </a:t>
            </a:r>
            <a:r>
              <a:rPr lang="en-US" sz="1500" b="1" i="1">
                <a:latin typeface="Times New Roman"/>
                <a:cs typeface="Times New Roman"/>
              </a:rPr>
              <a:t>d'Apache</a:t>
            </a:r>
            <a:r>
              <a:rPr lang="en-US" sz="1500" b="1" i="1">
                <a:latin typeface="Times New Roman"/>
                <a:cs typeface="Times New Roman"/>
              </a:rPr>
              <a:t> Airflow</a:t>
            </a:r>
            <a:endParaRPr lang="en-US" sz="1500" b="1">
              <a:latin typeface="Times New Roman"/>
              <a:cs typeface="Times New Roman"/>
            </a:endParaRPr>
          </a:p>
        </p:txBody>
      </p:sp>
      <p:sp>
        <p:nvSpPr>
          <p:cNvPr id="1172230717" name="Text 9"/>
          <p:cNvSpPr/>
          <p:nvPr/>
        </p:nvSpPr>
        <p:spPr bwMode="auto">
          <a:xfrm>
            <a:off x="269548" y="2629601"/>
            <a:ext cx="1871901" cy="354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14313" indent="-214313">
              <a:buFont typeface="Wingdings"/>
              <a:buChar char="Ø"/>
              <a:defRPr/>
            </a:pP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Interface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graphique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accessible via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navigateur</a:t>
            </a:r>
            <a:endParaRPr lang="en-US" sz="1050" b="1">
              <a:latin typeface="Times New Roman"/>
              <a:cs typeface="Times New Roman"/>
            </a:endParaRPr>
          </a:p>
        </p:txBody>
      </p:sp>
      <p:sp>
        <p:nvSpPr>
          <p:cNvPr id="1306774375" name="Text 11"/>
          <p:cNvSpPr/>
          <p:nvPr/>
        </p:nvSpPr>
        <p:spPr bwMode="auto">
          <a:xfrm>
            <a:off x="269548" y="3013749"/>
            <a:ext cx="1704789" cy="354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14313" indent="-214313">
              <a:buFont typeface="Wingdings"/>
              <a:buChar char="Ø"/>
              <a:defRPr/>
            </a:pP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Visualise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l'état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de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chaque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DAG et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tâche</a:t>
            </a:r>
            <a:endParaRPr lang="en-US" sz="1050" b="1">
              <a:latin typeface="Times New Roman"/>
              <a:cs typeface="Times New Roman"/>
            </a:endParaRPr>
          </a:p>
        </p:txBody>
      </p:sp>
      <p:sp>
        <p:nvSpPr>
          <p:cNvPr id="2022361101" name="Text 13"/>
          <p:cNvSpPr/>
          <p:nvPr/>
        </p:nvSpPr>
        <p:spPr bwMode="auto">
          <a:xfrm>
            <a:off x="266198" y="3409005"/>
            <a:ext cx="1875251" cy="299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14313" indent="-214313">
              <a:buFont typeface="Wingdings"/>
              <a:buChar char="Ø"/>
              <a:defRPr/>
            </a:pP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Permet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de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déclencher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ou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relancer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manuellement</a:t>
            </a:r>
            <a:endParaRPr lang="en-US" sz="1050" b="1">
              <a:latin typeface="Times New Roman"/>
              <a:cs typeface="Times New Roman"/>
            </a:endParaRPr>
          </a:p>
        </p:txBody>
      </p:sp>
      <p:sp>
        <p:nvSpPr>
          <p:cNvPr id="807592443" name="Text 15"/>
          <p:cNvSpPr/>
          <p:nvPr/>
        </p:nvSpPr>
        <p:spPr bwMode="auto">
          <a:xfrm>
            <a:off x="269548" y="3764701"/>
            <a:ext cx="1892146" cy="354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14313" indent="-214313">
              <a:buFont typeface="Wingdings"/>
              <a:buChar char="Ø"/>
              <a:defRPr/>
            </a:pP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Affiche les logs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d'erreur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en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temps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réel</a:t>
            </a:r>
            <a:endParaRPr lang="en-US" sz="1050" b="1">
              <a:latin typeface="Times New Roman"/>
              <a:cs typeface="Times New Roman"/>
            </a:endParaRPr>
          </a:p>
        </p:txBody>
      </p:sp>
      <p:sp>
        <p:nvSpPr>
          <p:cNvPr id="738042380" name="Text 20"/>
          <p:cNvSpPr/>
          <p:nvPr/>
        </p:nvSpPr>
        <p:spPr bwMode="auto">
          <a:xfrm>
            <a:off x="2567230" y="2888845"/>
            <a:ext cx="1850968" cy="195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14313" indent="-214313">
              <a:buFont typeface="Wingdings"/>
              <a:buChar char="Ø"/>
              <a:defRPr/>
            </a:pP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Scanne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le dossier ~/airflow/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dags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/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en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continu</a:t>
            </a:r>
            <a:endParaRPr lang="en-US" sz="1050" b="1">
              <a:latin typeface="Times New Roman"/>
              <a:cs typeface="Times New Roman"/>
            </a:endParaRPr>
          </a:p>
        </p:txBody>
      </p:sp>
      <p:sp>
        <p:nvSpPr>
          <p:cNvPr id="515385918" name="Text 22"/>
          <p:cNvSpPr/>
          <p:nvPr/>
        </p:nvSpPr>
        <p:spPr bwMode="auto">
          <a:xfrm>
            <a:off x="2567550" y="3272287"/>
            <a:ext cx="1940263" cy="190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14313" indent="-214313">
              <a:buFont typeface="Wingdings"/>
              <a:buChar char="Ø"/>
              <a:defRPr/>
            </a:pP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Lit la Metadata DB pour savoir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ce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qui est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dû</a:t>
            </a:r>
            <a:endParaRPr lang="en-US" sz="1050" b="1">
              <a:latin typeface="Times New Roman"/>
              <a:cs typeface="Times New Roman"/>
            </a:endParaRPr>
          </a:p>
        </p:txBody>
      </p:sp>
      <p:sp>
        <p:nvSpPr>
          <p:cNvPr id="386034700" name="Text 24"/>
          <p:cNvSpPr/>
          <p:nvPr/>
        </p:nvSpPr>
        <p:spPr bwMode="auto">
          <a:xfrm>
            <a:off x="2551221" y="3647470"/>
            <a:ext cx="1940263" cy="190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14313" indent="-214313">
              <a:buFont typeface="Wingdings"/>
              <a:buChar char="Ø"/>
              <a:defRPr/>
            </a:pP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Respecte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les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dépendances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entre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tâches</a:t>
            </a:r>
            <a:endParaRPr lang="en-US" sz="1050" b="1">
              <a:latin typeface="Times New Roman"/>
              <a:cs typeface="Times New Roman"/>
            </a:endParaRPr>
          </a:p>
        </p:txBody>
      </p:sp>
      <p:sp>
        <p:nvSpPr>
          <p:cNvPr id="395758671" name="Text 31"/>
          <p:cNvSpPr/>
          <p:nvPr/>
        </p:nvSpPr>
        <p:spPr bwMode="auto">
          <a:xfrm>
            <a:off x="4790404" y="3139055"/>
            <a:ext cx="1928555" cy="34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14313" indent="-214313">
              <a:buFont typeface="Wingdings"/>
              <a:buChar char="Ø"/>
              <a:defRPr/>
            </a:pP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Reçoit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les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tâches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à lancer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depuis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le Scheduler</a:t>
            </a:r>
            <a:endParaRPr lang="en-US" sz="1050" b="1">
              <a:latin typeface="Times New Roman"/>
              <a:cs typeface="Times New Roman"/>
            </a:endParaRPr>
          </a:p>
        </p:txBody>
      </p:sp>
      <p:sp>
        <p:nvSpPr>
          <p:cNvPr id="1289447088" name="Text 33"/>
          <p:cNvSpPr/>
          <p:nvPr/>
        </p:nvSpPr>
        <p:spPr bwMode="auto">
          <a:xfrm>
            <a:off x="4790404" y="3530872"/>
            <a:ext cx="1928555" cy="34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14313" indent="-214313">
              <a:buFont typeface="Wingdings"/>
              <a:buChar char="Ø"/>
              <a:defRPr/>
            </a:pP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Décide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comment et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où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les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exécuter</a:t>
            </a:r>
            <a:endParaRPr lang="en-US" sz="1050" b="1">
              <a:latin typeface="Times New Roman"/>
              <a:cs typeface="Times New Roman"/>
            </a:endParaRPr>
          </a:p>
        </p:txBody>
      </p:sp>
      <p:sp>
        <p:nvSpPr>
          <p:cNvPr id="2045349905" name="Text 42"/>
          <p:cNvSpPr/>
          <p:nvPr/>
        </p:nvSpPr>
        <p:spPr bwMode="auto">
          <a:xfrm>
            <a:off x="6953757" y="2895582"/>
            <a:ext cx="1828065" cy="113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8587" indent="-128587">
              <a:buFont typeface="Wingdings"/>
              <a:buChar char="Ø"/>
              <a:defRPr/>
            </a:pP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Stocke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l'état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de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chaque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tâche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(queued, running...)</a:t>
            </a:r>
            <a:endParaRPr lang="en-US" sz="1050" b="1">
              <a:latin typeface="Times New Roman"/>
              <a:cs typeface="Times New Roman"/>
            </a:endParaRPr>
          </a:p>
        </p:txBody>
      </p:sp>
      <p:sp>
        <p:nvSpPr>
          <p:cNvPr id="1998214569" name="Text 44"/>
          <p:cNvSpPr/>
          <p:nvPr/>
        </p:nvSpPr>
        <p:spPr bwMode="auto">
          <a:xfrm>
            <a:off x="6953757" y="3245344"/>
            <a:ext cx="1798042" cy="11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8587" indent="-128587">
              <a:buFont typeface="Wingdings"/>
              <a:buChar char="Ø"/>
              <a:defRPr/>
            </a:pP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Garde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l'historique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complet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de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toutes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les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exécutions</a:t>
            </a:r>
            <a:endParaRPr lang="en-US" sz="1050" b="1">
              <a:latin typeface="Times New Roman"/>
              <a:cs typeface="Times New Roman"/>
            </a:endParaRPr>
          </a:p>
        </p:txBody>
      </p:sp>
      <p:sp>
        <p:nvSpPr>
          <p:cNvPr id="204143388" name="Text 48"/>
          <p:cNvSpPr/>
          <p:nvPr/>
        </p:nvSpPr>
        <p:spPr bwMode="auto">
          <a:xfrm>
            <a:off x="6953757" y="3635837"/>
            <a:ext cx="1728127" cy="11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8587" indent="-128587">
              <a:buFont typeface="Wingdings"/>
              <a:buChar char="Ø"/>
              <a:defRPr/>
            </a:pP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Sans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elle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, Airflow ne se 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souvient</a:t>
            </a:r>
            <a:r>
              <a:rPr lang="en-US" sz="1050" b="1">
                <a:solidFill>
                  <a:srgbClr val="1A2333"/>
                </a:solidFill>
                <a:latin typeface="Times New Roman"/>
                <a:cs typeface="Times New Roman"/>
              </a:rPr>
              <a:t> de rien</a:t>
            </a:r>
            <a:endParaRPr lang="en-US" sz="1050" b="1">
              <a:latin typeface="Times New Roman"/>
              <a:cs typeface="Times New Roman"/>
            </a:endParaRPr>
          </a:p>
        </p:txBody>
      </p:sp>
      <p:sp>
        <p:nvSpPr>
          <p:cNvPr id="582228939" name="Shape 1"/>
          <p:cNvSpPr/>
          <p:nvPr/>
        </p:nvSpPr>
        <p:spPr bwMode="auto">
          <a:xfrm>
            <a:off x="499078" y="762343"/>
            <a:ext cx="8229600" cy="4571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647416" name="Shape 27"/>
          <p:cNvSpPr/>
          <p:nvPr/>
        </p:nvSpPr>
        <p:spPr bwMode="auto">
          <a:xfrm>
            <a:off x="2020034" y="2861614"/>
            <a:ext cx="1563217" cy="409284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1061802894" name="Text 28"/>
          <p:cNvSpPr/>
          <p:nvPr/>
        </p:nvSpPr>
        <p:spPr bwMode="auto">
          <a:xfrm>
            <a:off x="2020034" y="2838562"/>
            <a:ext cx="1563217" cy="409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1600" b="1">
                <a:solidFill>
                  <a:srgbClr val="FFFFFF"/>
                </a:solidFill>
                <a:latin typeface="Times New Roman"/>
                <a:cs typeface="Times New Roman"/>
              </a:rPr>
              <a:t>Executor</a:t>
            </a:r>
            <a:endParaRPr lang="en-US" sz="800">
              <a:latin typeface="Times New Roman"/>
              <a:cs typeface="Times New Roman"/>
            </a:endParaRPr>
          </a:p>
        </p:txBody>
      </p:sp>
      <p:sp>
        <p:nvSpPr>
          <p:cNvPr id="548797993" name="Shape 31"/>
          <p:cNvSpPr/>
          <p:nvPr/>
        </p:nvSpPr>
        <p:spPr bwMode="auto">
          <a:xfrm>
            <a:off x="3583251" y="3050487"/>
            <a:ext cx="1293125" cy="82261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1936677573" name="Text 32"/>
          <p:cNvSpPr/>
          <p:nvPr/>
        </p:nvSpPr>
        <p:spPr bwMode="auto">
          <a:xfrm>
            <a:off x="3845260" y="2811276"/>
            <a:ext cx="769107" cy="155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i="1">
                <a:solidFill>
                  <a:schemeClr val="tx1"/>
                </a:solidFill>
                <a:latin typeface="Times New Roman"/>
                <a:cs typeface="Times New Roman"/>
              </a:rPr>
              <a:t>distribue</a:t>
            </a:r>
            <a:endParaRPr lang="en-US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2136435112" name="Shape 35"/>
          <p:cNvSpPr/>
          <p:nvPr/>
        </p:nvSpPr>
        <p:spPr bwMode="auto">
          <a:xfrm>
            <a:off x="4876376" y="2352643"/>
            <a:ext cx="2580010" cy="417792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1621958505" name="Text 36"/>
          <p:cNvSpPr/>
          <p:nvPr/>
        </p:nvSpPr>
        <p:spPr bwMode="auto">
          <a:xfrm>
            <a:off x="4876376" y="2395749"/>
            <a:ext cx="2483074" cy="35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  <a:latin typeface="Times New Roman"/>
                <a:cs typeface="Times New Roman"/>
              </a:rPr>
              <a:t>Worker 1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1161145716" name="Shape 37"/>
          <p:cNvSpPr/>
          <p:nvPr/>
        </p:nvSpPr>
        <p:spPr bwMode="auto">
          <a:xfrm>
            <a:off x="4876377" y="2863207"/>
            <a:ext cx="2580009" cy="38511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246519578" name="Text 38"/>
          <p:cNvSpPr/>
          <p:nvPr/>
        </p:nvSpPr>
        <p:spPr bwMode="auto">
          <a:xfrm>
            <a:off x="4876378" y="2878557"/>
            <a:ext cx="2483074" cy="35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  <a:latin typeface="Times New Roman"/>
                <a:cs typeface="Times New Roman"/>
              </a:rPr>
              <a:t>Worker 2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1946195067" name="Shape 39"/>
          <p:cNvSpPr/>
          <p:nvPr/>
        </p:nvSpPr>
        <p:spPr bwMode="auto">
          <a:xfrm>
            <a:off x="4876376" y="3312396"/>
            <a:ext cx="2580009" cy="379624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849606725" name="Text 40"/>
          <p:cNvSpPr/>
          <p:nvPr/>
        </p:nvSpPr>
        <p:spPr bwMode="auto">
          <a:xfrm>
            <a:off x="4876377" y="3281698"/>
            <a:ext cx="2483074" cy="35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  <a:latin typeface="Times New Roman"/>
                <a:cs typeface="Times New Roman"/>
              </a:rPr>
              <a:t>Worker 3 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1275894529" name="Text 36"/>
          <p:cNvSpPr/>
          <p:nvPr/>
        </p:nvSpPr>
        <p:spPr bwMode="auto">
          <a:xfrm>
            <a:off x="504142" y="4042186"/>
            <a:ext cx="7957932" cy="690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/>
            </a:pPr>
            <a:r>
              <a:rPr lang="en-US" sz="1500" b="1" i="1">
                <a:latin typeface="Times New Roman"/>
                <a:cs typeface="Times New Roman"/>
              </a:rPr>
              <a:t>💡  </a:t>
            </a:r>
            <a:r>
              <a:rPr lang="fr-FR" sz="1500" b="1" i="1">
                <a:latin typeface="Times New Roman"/>
                <a:cs typeface="Times New Roman"/>
              </a:rPr>
              <a:t>dans les deux cas, (CeleryExecutor et LocalExecutor ) La Metadata DB est connectée à tous les composants, c'est elle qui permet à tout le monde de se synchroniser sans se parler directement.</a:t>
            </a:r>
            <a:endParaRPr lang="en-US" sz="1500" b="1">
              <a:latin typeface="Times New Roman"/>
              <a:cs typeface="Times New Roman"/>
            </a:endParaRPr>
          </a:p>
        </p:txBody>
      </p:sp>
      <p:sp>
        <p:nvSpPr>
          <p:cNvPr id="860775057" name="ZoneTexte 5"/>
          <p:cNvSpPr txBox="1"/>
          <p:nvPr/>
        </p:nvSpPr>
        <p:spPr bwMode="auto">
          <a:xfrm>
            <a:off x="436590" y="1773823"/>
            <a:ext cx="3445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Wingdings"/>
              <a:buChar char="Ø"/>
              <a:defRPr/>
            </a:pPr>
            <a:r>
              <a:rPr lang="fr-FR" b="1">
                <a:latin typeface="Times New Roman"/>
                <a:cs typeface="Times New Roman"/>
              </a:rPr>
              <a:t>LocalExecutor : même machine</a:t>
            </a:r>
            <a:endParaRPr lang="en-US" sz="1800" b="1">
              <a:latin typeface="Times New Roman"/>
              <a:cs typeface="Times New Roman"/>
            </a:endParaRPr>
          </a:p>
        </p:txBody>
      </p:sp>
      <p:sp>
        <p:nvSpPr>
          <p:cNvPr id="379616983" name="ZoneTexte 6"/>
          <p:cNvSpPr txBox="1"/>
          <p:nvPr/>
        </p:nvSpPr>
        <p:spPr bwMode="auto">
          <a:xfrm>
            <a:off x="4876377" y="1755627"/>
            <a:ext cx="38310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Wingdings"/>
              <a:buChar char="Ø"/>
              <a:defRPr/>
            </a:pPr>
            <a:r>
              <a:rPr lang="fr-FR" b="1">
                <a:latin typeface="Times New Roman"/>
                <a:cs typeface="Times New Roman"/>
              </a:rPr>
              <a:t>CeleryExecutor : machines séparées  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844397799" name="ZoneTexte 7"/>
          <p:cNvSpPr txBox="1"/>
          <p:nvPr/>
        </p:nvSpPr>
        <p:spPr bwMode="auto">
          <a:xfrm>
            <a:off x="477810" y="262439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b="1">
                <a:solidFill>
                  <a:srgbClr val="002060"/>
                </a:solidFill>
                <a:latin typeface="+mj-lt"/>
                <a:ea typeface="Calibri"/>
                <a:cs typeface="Times New Roman"/>
              </a:rPr>
              <a:t>Les Workers — un 5ème </a:t>
            </a:r>
            <a:r>
              <a:rPr lang="en-US" sz="2400" b="1">
                <a:solidFill>
                  <a:srgbClr val="002060"/>
                </a:solidFill>
                <a:latin typeface="+mj-lt"/>
                <a:ea typeface="Calibri"/>
                <a:cs typeface="Times New Roman"/>
              </a:rPr>
              <a:t>composant</a:t>
            </a:r>
            <a:r>
              <a:rPr lang="en-US" sz="2400" b="1">
                <a:solidFill>
                  <a:srgbClr val="002060"/>
                </a:solidFill>
                <a:latin typeface="+mj-lt"/>
                <a:ea typeface="Calibri"/>
                <a:cs typeface="Times New Roman"/>
              </a:rPr>
              <a:t> ?</a:t>
            </a:r>
            <a:endParaRPr lang="en-US" sz="2400">
              <a:solidFill>
                <a:srgbClr val="002060"/>
              </a:solidFill>
              <a:latin typeface="+mj-lt"/>
              <a:cs typeface="Times New Roman"/>
            </a:endParaRPr>
          </a:p>
        </p:txBody>
      </p:sp>
      <p:sp>
        <p:nvSpPr>
          <p:cNvPr id="1927169593" name="Text 3"/>
          <p:cNvSpPr/>
          <p:nvPr/>
        </p:nvSpPr>
        <p:spPr bwMode="auto">
          <a:xfrm>
            <a:off x="299548" y="1235367"/>
            <a:ext cx="100275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i="1">
                <a:latin typeface="Times New Roman"/>
                <a:cs typeface="Times New Roman"/>
              </a:rPr>
              <a:t>Ils</a:t>
            </a:r>
            <a:r>
              <a:rPr lang="en-US" sz="1800" i="1">
                <a:latin typeface="Times New Roman"/>
                <a:cs typeface="Times New Roman"/>
              </a:rPr>
              <a:t> </a:t>
            </a:r>
            <a:r>
              <a:rPr lang="en-US" sz="1800" i="1">
                <a:latin typeface="Times New Roman"/>
                <a:cs typeface="Times New Roman"/>
              </a:rPr>
              <a:t>n'existent</a:t>
            </a:r>
            <a:r>
              <a:rPr lang="en-US" sz="1800" i="1">
                <a:latin typeface="Times New Roman"/>
                <a:cs typeface="Times New Roman"/>
              </a:rPr>
              <a:t> </a:t>
            </a:r>
            <a:r>
              <a:rPr lang="en-US" sz="1800" i="1">
                <a:latin typeface="Times New Roman"/>
                <a:cs typeface="Times New Roman"/>
              </a:rPr>
              <a:t>que</a:t>
            </a:r>
            <a:r>
              <a:rPr lang="en-US" sz="1800" i="1">
                <a:latin typeface="Times New Roman"/>
                <a:cs typeface="Times New Roman"/>
              </a:rPr>
              <a:t> dans </a:t>
            </a:r>
            <a:r>
              <a:rPr lang="en-US" sz="1800" i="1">
                <a:latin typeface="Times New Roman"/>
                <a:cs typeface="Times New Roman"/>
              </a:rPr>
              <a:t>une</a:t>
            </a:r>
            <a:r>
              <a:rPr lang="en-US" sz="1800" i="1">
                <a:latin typeface="Times New Roman"/>
                <a:cs typeface="Times New Roman"/>
              </a:rPr>
              <a:t> architecture </a:t>
            </a:r>
            <a:r>
              <a:rPr lang="en-US" sz="1800" i="1">
                <a:latin typeface="Times New Roman"/>
                <a:cs typeface="Times New Roman"/>
              </a:rPr>
              <a:t>distribuée</a:t>
            </a:r>
            <a:r>
              <a:rPr lang="en-US" sz="1800" i="1">
                <a:latin typeface="Times New Roman"/>
                <a:cs typeface="Times New Roman"/>
              </a:rPr>
              <a:t> — tout </a:t>
            </a:r>
            <a:r>
              <a:rPr lang="en-US" sz="1800" i="1">
                <a:latin typeface="Times New Roman"/>
                <a:cs typeface="Times New Roman"/>
              </a:rPr>
              <a:t>dépend</a:t>
            </a:r>
            <a:r>
              <a:rPr lang="en-US" sz="1800" i="1">
                <a:latin typeface="Times New Roman"/>
                <a:cs typeface="Times New Roman"/>
              </a:rPr>
              <a:t> de </a:t>
            </a:r>
            <a:r>
              <a:rPr lang="en-US" sz="1800" i="1">
                <a:latin typeface="Times New Roman"/>
                <a:cs typeface="Times New Roman"/>
              </a:rPr>
              <a:t>l'Executor</a:t>
            </a:r>
            <a:endParaRPr lang="en-US" sz="1800">
              <a:latin typeface="Times New Roman"/>
              <a:cs typeface="Times New Roman"/>
            </a:endParaRPr>
          </a:p>
        </p:txBody>
      </p:sp>
      <p:sp>
        <p:nvSpPr>
          <p:cNvPr id="926070237" name="Shape 1"/>
          <p:cNvSpPr/>
          <p:nvPr/>
        </p:nvSpPr>
        <p:spPr bwMode="auto">
          <a:xfrm>
            <a:off x="499078" y="762343"/>
            <a:ext cx="8229600" cy="4571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30118" name="Text 7"/>
          <p:cNvSpPr/>
          <p:nvPr/>
        </p:nvSpPr>
        <p:spPr bwMode="auto">
          <a:xfrm>
            <a:off x="682293" y="1233389"/>
            <a:ext cx="929923" cy="840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/>
            </a:pPr>
            <a:r>
              <a:rPr lang="en-US" sz="2700">
                <a:latin typeface="Times New Roman"/>
                <a:cs typeface="Times New Roman"/>
              </a:rPr>
              <a:t>📝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80330462" name="Text 8"/>
          <p:cNvSpPr/>
          <p:nvPr/>
        </p:nvSpPr>
        <p:spPr bwMode="auto">
          <a:xfrm>
            <a:off x="584191" y="2152002"/>
            <a:ext cx="1299657" cy="7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105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Tu </a:t>
            </a:r>
            <a:r>
              <a:rPr lang="en-US" sz="105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écris</a:t>
            </a:r>
            <a:endParaRPr lang="en-US" sz="1050"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en-US" sz="105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un DAG .</a:t>
            </a:r>
            <a:r>
              <a:rPr lang="en-US" sz="105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py</a:t>
            </a:r>
            <a:r>
              <a:rPr lang="en-US" sz="105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,</a:t>
            </a:r>
            <a:r>
              <a:rPr lang="fr-FR" sz="105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 décris les tâches et leurs dépendances</a:t>
            </a:r>
            <a:endParaRPr lang="en-US" sz="1050"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776014940" name="Text 11"/>
          <p:cNvSpPr/>
          <p:nvPr/>
        </p:nvSpPr>
        <p:spPr bwMode="auto">
          <a:xfrm>
            <a:off x="1731744" y="1575029"/>
            <a:ext cx="194627" cy="3255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/>
            </a:pPr>
            <a:r>
              <a:rPr lang="en-US" sz="2100">
                <a:latin typeface="Times New Roman"/>
                <a:cs typeface="Times New Roman"/>
              </a:rPr>
              <a:t>→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62730655" name="Text 14"/>
          <p:cNvSpPr/>
          <p:nvPr/>
        </p:nvSpPr>
        <p:spPr bwMode="auto">
          <a:xfrm>
            <a:off x="2303195" y="1266035"/>
            <a:ext cx="913727" cy="840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/>
            </a:pPr>
            <a:r>
              <a:rPr lang="en-US" sz="2700">
                <a:latin typeface="Times New Roman"/>
                <a:cs typeface="Times New Roman"/>
              </a:rPr>
              <a:t>⏰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707206119" name="Text 15"/>
          <p:cNvSpPr/>
          <p:nvPr/>
        </p:nvSpPr>
        <p:spPr bwMode="auto">
          <a:xfrm>
            <a:off x="2077084" y="2255814"/>
            <a:ext cx="1580738" cy="762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fr-FR" sz="105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fr-FR" sz="105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scheduler</a:t>
            </a:r>
            <a:r>
              <a:rPr lang="fr-FR" sz="105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 consulte la </a:t>
            </a:r>
            <a:r>
              <a:rPr lang="fr-FR" sz="105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Metadata</a:t>
            </a:r>
            <a:r>
              <a:rPr lang="fr-FR" sz="105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 DB pour savoir ce qui a déjà tourné, et décide quelles tâches sont prêtes à partir</a:t>
            </a:r>
            <a:endParaRPr lang="en-US" sz="1050"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92731529" name="Text 18"/>
          <p:cNvSpPr/>
          <p:nvPr/>
        </p:nvSpPr>
        <p:spPr bwMode="auto">
          <a:xfrm>
            <a:off x="3497610" y="1575029"/>
            <a:ext cx="194627" cy="3255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/>
            </a:pPr>
            <a:r>
              <a:rPr lang="en-US" sz="2100">
                <a:latin typeface="Times New Roman"/>
                <a:cs typeface="Times New Roman"/>
              </a:rPr>
              <a:t>→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452903797" name="Text 21"/>
          <p:cNvSpPr/>
          <p:nvPr/>
        </p:nvSpPr>
        <p:spPr bwMode="auto">
          <a:xfrm>
            <a:off x="4061066" y="1285093"/>
            <a:ext cx="895203" cy="73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/>
            </a:pPr>
            <a:r>
              <a:rPr lang="en-US" sz="2700">
                <a:latin typeface="Times New Roman"/>
                <a:cs typeface="Times New Roman"/>
              </a:rPr>
              <a:t>🗃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358410463" name="Text 22"/>
          <p:cNvSpPr/>
          <p:nvPr/>
        </p:nvSpPr>
        <p:spPr bwMode="auto">
          <a:xfrm>
            <a:off x="3982261" y="2217879"/>
            <a:ext cx="1052812" cy="66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fr-FR" sz="105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La </a:t>
            </a:r>
            <a:r>
              <a:rPr lang="fr-FR" sz="105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metabase</a:t>
            </a:r>
            <a:r>
              <a:rPr lang="fr-FR" sz="105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fr-FR" sz="105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db</a:t>
            </a:r>
            <a:r>
              <a:rPr lang="fr-FR" sz="105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 est la mémoire partagée de tout le système</a:t>
            </a:r>
            <a:endParaRPr lang="en-US" sz="1050"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646394465" name="Text 25"/>
          <p:cNvSpPr/>
          <p:nvPr/>
        </p:nvSpPr>
        <p:spPr bwMode="auto">
          <a:xfrm>
            <a:off x="5217708" y="1635903"/>
            <a:ext cx="194627" cy="3255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/>
            </a:pPr>
            <a:r>
              <a:rPr lang="en-US" sz="2100">
                <a:latin typeface="Times New Roman"/>
                <a:cs typeface="Times New Roman"/>
              </a:rPr>
              <a:t>→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504036206" name="Text 28"/>
          <p:cNvSpPr/>
          <p:nvPr/>
        </p:nvSpPr>
        <p:spPr bwMode="auto">
          <a:xfrm>
            <a:off x="5713018" y="1266034"/>
            <a:ext cx="954695" cy="7605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/>
            </a:pPr>
            <a:r>
              <a:rPr lang="en-US" sz="2700">
                <a:latin typeface="Times New Roman"/>
                <a:cs typeface="Times New Roman"/>
              </a:rPr>
              <a:t>⚙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852044693" name="Text 29"/>
          <p:cNvSpPr/>
          <p:nvPr/>
        </p:nvSpPr>
        <p:spPr bwMode="auto">
          <a:xfrm>
            <a:off x="5370821" y="2364273"/>
            <a:ext cx="1639088" cy="503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fr-FR" sz="105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fr-FR" sz="105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executor</a:t>
            </a:r>
            <a:r>
              <a:rPr lang="fr-FR" sz="105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 reçoit les tâches du </a:t>
            </a:r>
            <a:r>
              <a:rPr lang="fr-FR" sz="105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Scheduler</a:t>
            </a:r>
            <a:r>
              <a:rPr lang="fr-FR" sz="105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 et  choisit comment les lancer, et mets à jour le statut dans la </a:t>
            </a:r>
            <a:r>
              <a:rPr lang="fr-FR" sz="105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Metadata</a:t>
            </a:r>
            <a:r>
              <a:rPr lang="fr-FR" sz="105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 DB."</a:t>
            </a:r>
            <a:endParaRPr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658244161" name="Text 32"/>
          <p:cNvSpPr/>
          <p:nvPr/>
        </p:nvSpPr>
        <p:spPr bwMode="auto">
          <a:xfrm>
            <a:off x="6699037" y="1577340"/>
            <a:ext cx="433179" cy="455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/>
            </a:pPr>
            <a:r>
              <a:rPr lang="en-US" sz="2100">
                <a:latin typeface="Times New Roman"/>
                <a:cs typeface="Times New Roman"/>
              </a:rPr>
              <a:t>→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979875374" name="Text 35"/>
          <p:cNvSpPr/>
          <p:nvPr/>
        </p:nvSpPr>
        <p:spPr bwMode="auto">
          <a:xfrm>
            <a:off x="7046413" y="1113192"/>
            <a:ext cx="1290153" cy="11236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/>
            </a:pPr>
            <a:r>
              <a:rPr lang="en-US" sz="2700">
                <a:latin typeface="Times New Roman"/>
                <a:cs typeface="Times New Roman"/>
              </a:rPr>
              <a:t>🌐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47233294" name="Text 36"/>
          <p:cNvSpPr/>
          <p:nvPr/>
        </p:nvSpPr>
        <p:spPr bwMode="auto">
          <a:xfrm>
            <a:off x="7088238" y="2192309"/>
            <a:ext cx="1386670" cy="5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fr-FR" sz="105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L’interface web affiche tout en temps réel dans ton navigateur.</a:t>
            </a:r>
            <a:endParaRPr lang="en-US" sz="1050"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837651871" name="Cadre 28"/>
          <p:cNvSpPr/>
          <p:nvPr/>
        </p:nvSpPr>
        <p:spPr bwMode="auto">
          <a:xfrm>
            <a:off x="485789" y="1285093"/>
            <a:ext cx="8067447" cy="2161362"/>
          </a:xfrm>
          <a:prstGeom prst="frame">
            <a:avLst>
              <a:gd name="adj1" fmla="val 526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 sz="15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76035726" name="ZoneTexte 30"/>
          <p:cNvSpPr txBox="1"/>
          <p:nvPr/>
        </p:nvSpPr>
        <p:spPr bwMode="auto">
          <a:xfrm>
            <a:off x="746778" y="3991968"/>
            <a:ext cx="7600972" cy="5078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350" b="1" i="1">
                <a:latin typeface="Times New Roman"/>
                <a:cs typeface="Times New Roman"/>
              </a:rPr>
              <a:t>Airflow ne touche jamais tes données. Il décide uniquement QUI fait QUOI et QUAND et s'assure que rien ne se perd si une étape échoue.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759168946" name="ZoneTexte 2"/>
          <p:cNvSpPr txBox="1"/>
          <p:nvPr/>
        </p:nvSpPr>
        <p:spPr bwMode="auto">
          <a:xfrm>
            <a:off x="472500" y="272196"/>
            <a:ext cx="82428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b="1">
                <a:solidFill>
                  <a:srgbClr val="002060"/>
                </a:solidFill>
                <a:latin typeface="+mj-lt"/>
                <a:ea typeface="Calibri"/>
                <a:cs typeface="Times New Roman"/>
              </a:rPr>
              <a:t>Fonctionnement</a:t>
            </a:r>
            <a:r>
              <a:rPr lang="en-US" sz="2400" b="1">
                <a:solidFill>
                  <a:srgbClr val="002060"/>
                </a:solidFill>
                <a:latin typeface="+mj-lt"/>
                <a:ea typeface="Calibri"/>
                <a:cs typeface="Times New Roman"/>
              </a:rPr>
              <a:t> global</a:t>
            </a:r>
            <a:endParaRPr lang="en-US" sz="2400">
              <a:solidFill>
                <a:srgbClr val="002060"/>
              </a:solidFill>
              <a:latin typeface="+mj-lt"/>
              <a:cs typeface="Times New Roman"/>
            </a:endParaRPr>
          </a:p>
        </p:txBody>
      </p:sp>
      <p:sp>
        <p:nvSpPr>
          <p:cNvPr id="1895927208" name="Shape 1"/>
          <p:cNvSpPr/>
          <p:nvPr/>
        </p:nvSpPr>
        <p:spPr bwMode="auto">
          <a:xfrm>
            <a:off x="499078" y="762343"/>
            <a:ext cx="8229600" cy="4571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81513" name="Title 1"/>
          <p:cNvSpPr>
            <a:spLocks noGrp="1"/>
          </p:cNvSpPr>
          <p:nvPr>
            <p:ph type="ctrTitle"/>
          </p:nvPr>
        </p:nvSpPr>
        <p:spPr bwMode="auto">
          <a:xfrm>
            <a:off x="981234" y="1436514"/>
            <a:ext cx="7400260" cy="1828800"/>
          </a:xfrm>
        </p:spPr>
        <p:txBody>
          <a:bodyPr/>
          <a:lstStyle/>
          <a:p>
            <a:pPr>
              <a:defRPr/>
            </a:pPr>
            <a:r>
              <a:rPr lang="en-CA" sz="4800">
                <a:solidFill>
                  <a:schemeClr val="accent2">
                    <a:lumMod val="75000"/>
                  </a:schemeClr>
                </a:solidFill>
                <a:latin typeface="Times New Roman"/>
                <a:cs typeface="Times New Roman"/>
              </a:rPr>
              <a:t>Fonctionnement</a:t>
            </a:r>
            <a:r>
              <a:rPr lang="en-CA" sz="4400">
                <a:solidFill>
                  <a:schemeClr val="accent2">
                    <a:lumMod val="75000"/>
                  </a:schemeClr>
                </a:solidFill>
                <a:latin typeface="Times New Roman"/>
                <a:cs typeface="Times New Roman"/>
              </a:rPr>
              <a:t> des DAGs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26373161" name="TextBox 2"/>
          <p:cNvSpPr txBox="1"/>
          <p:nvPr/>
        </p:nvSpPr>
        <p:spPr bwMode="auto">
          <a:xfrm flipH="0" flipV="0">
            <a:off x="1035807" y="2822630"/>
            <a:ext cx="7346406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defRPr/>
            </a:pPr>
            <a:r>
              <a:rPr lang="en-US" sz="1800">
                <a:solidFill>
                  <a:srgbClr val="6B8CAE"/>
                </a:solidFill>
                <a:latin typeface="Abadi"/>
              </a:rPr>
              <a:t>D</a:t>
            </a:r>
            <a:r>
              <a:rPr lang="fr-FR" sz="1800">
                <a:solidFill>
                  <a:srgbClr val="6B8CAE"/>
                </a:solidFill>
                <a:latin typeface="Abadi"/>
              </a:rPr>
              <a:t>é</a:t>
            </a:r>
            <a:r>
              <a:rPr lang="en-US" sz="1800">
                <a:solidFill>
                  <a:srgbClr val="6B8CAE"/>
                </a:solidFill>
                <a:latin typeface="Abadi"/>
              </a:rPr>
              <a:t>finition</a:t>
            </a:r>
            <a:r>
              <a:rPr lang="en-US" sz="1800">
                <a:solidFill>
                  <a:srgbClr val="6B8CAE"/>
                </a:solidFill>
                <a:latin typeface="Abadi"/>
              </a:rPr>
              <a:t> du DAG • Structure de base • Principe de </a:t>
            </a:r>
            <a:r>
              <a:rPr lang="en-US" sz="1800">
                <a:solidFill>
                  <a:srgbClr val="6B8CAE"/>
                </a:solidFill>
                <a:latin typeface="Abadi"/>
              </a:rPr>
              <a:t>fonctionnement</a:t>
            </a:r>
            <a:r>
              <a:rPr lang="en-US" sz="1800">
                <a:solidFill>
                  <a:srgbClr val="6B8CAE"/>
                </a:solidFill>
                <a:latin typeface="Abadi"/>
              </a:rPr>
              <a:t> • </a:t>
            </a:r>
            <a:r>
              <a:rPr lang="en-US" sz="1800">
                <a:solidFill>
                  <a:srgbClr val="6B8CAE"/>
                </a:solidFill>
                <a:latin typeface="Abadi"/>
              </a:rPr>
              <a:t>Propri</a:t>
            </a:r>
            <a:r>
              <a:rPr lang="fr-FR" sz="1800">
                <a:solidFill>
                  <a:srgbClr val="6B8CAE"/>
                </a:solidFill>
                <a:latin typeface="Abadi"/>
              </a:rPr>
              <a:t>étés</a:t>
            </a:r>
            <a:r>
              <a:rPr lang="en-US" sz="1800">
                <a:solidFill>
                  <a:srgbClr val="6B8CAE"/>
                </a:solidFill>
                <a:latin typeface="Abadi"/>
              </a:rPr>
              <a:t> </a:t>
            </a:r>
            <a:r>
              <a:rPr lang="en-US" sz="1800">
                <a:solidFill>
                  <a:srgbClr val="6B8CAE"/>
                </a:solidFill>
                <a:latin typeface="Abadi"/>
              </a:rPr>
              <a:t>importantes</a:t>
            </a:r>
            <a:endParaRPr lang="en-US" sz="1800">
              <a:latin typeface="Abad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701307" name="Google Shape;144;p20"/>
          <p:cNvSpPr txBox="1">
            <a:spLocks noGrp="1"/>
          </p:cNvSpPr>
          <p:nvPr>
            <p:ph type="sldNum" idx="12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>
                <a:latin typeface="Times New Roman"/>
                <a:cs typeface="Times New Roman"/>
              </a:rPr>
              <a:t>17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1260764743" name="Text 1"/>
          <p:cNvSpPr/>
          <p:nvPr/>
        </p:nvSpPr>
        <p:spPr bwMode="auto">
          <a:xfrm>
            <a:off x="499078" y="257999"/>
            <a:ext cx="8229600" cy="527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fr-FR" sz="2400" b="1">
                <a:solidFill>
                  <a:srgbClr val="002060"/>
                </a:solidFill>
                <a:latin typeface="+mj-lt"/>
                <a:cs typeface="Times New Roman"/>
              </a:rPr>
              <a:t>Définition</a:t>
            </a:r>
            <a:r>
              <a:rPr lang="fr-FR" sz="2400" b="1" spc="388">
                <a:solidFill>
                  <a:srgbClr val="002060"/>
                </a:solidFill>
                <a:latin typeface="+mj-lt"/>
              </a:rPr>
              <a:t> </a:t>
            </a:r>
            <a:r>
              <a:rPr lang="fr-FR" sz="2400" b="1">
                <a:solidFill>
                  <a:srgbClr val="002060"/>
                </a:solidFill>
                <a:latin typeface="+mj-lt"/>
              </a:rPr>
              <a:t>du</a:t>
            </a:r>
            <a:r>
              <a:rPr lang="fr-FR" sz="2400" b="1" spc="403">
                <a:solidFill>
                  <a:srgbClr val="002060"/>
                </a:solidFill>
                <a:latin typeface="+mj-lt"/>
              </a:rPr>
              <a:t> </a:t>
            </a:r>
            <a:r>
              <a:rPr lang="fr-FR" sz="2400" b="1" spc="40">
                <a:solidFill>
                  <a:srgbClr val="002060"/>
                </a:solidFill>
                <a:latin typeface="+mj-lt"/>
              </a:rPr>
              <a:t>DAG</a:t>
            </a:r>
            <a:endParaRPr lang="en-US" sz="2400" b="1">
              <a:solidFill>
                <a:srgbClr val="002060"/>
              </a:solidFill>
              <a:latin typeface="+mj-lt"/>
              <a:cs typeface="Times New Roman"/>
            </a:endParaRPr>
          </a:p>
        </p:txBody>
      </p:sp>
      <p:sp>
        <p:nvSpPr>
          <p:cNvPr id="418942261" name="Text 4"/>
          <p:cNvSpPr/>
          <p:nvPr/>
        </p:nvSpPr>
        <p:spPr bwMode="auto">
          <a:xfrm>
            <a:off x="365760" y="11430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i="1">
                <a:solidFill>
                  <a:srgbClr val="FFFFFF"/>
                </a:solidFill>
                <a:latin typeface="Times New Roman"/>
                <a:cs typeface="Times New Roman"/>
              </a:rPr>
              <a:t>Un Operator définit ce qu'une tâche doit faire — chaque nœud d'un DAG est un Operator.</a:t>
            </a:r>
            <a:endParaRPr lang="en-US" sz="1250">
              <a:latin typeface="Times New Roman"/>
              <a:cs typeface="Times New Roman"/>
            </a:endParaRPr>
          </a:p>
        </p:txBody>
      </p:sp>
      <p:sp>
        <p:nvSpPr>
          <p:cNvPr id="1814698120" name="Shape 4"/>
          <p:cNvSpPr/>
          <p:nvPr/>
        </p:nvSpPr>
        <p:spPr bwMode="auto">
          <a:xfrm>
            <a:off x="773398" y="1131531"/>
            <a:ext cx="7680960" cy="8062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5">
                <a:lumMod val="90000"/>
              </a:schemeClr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>
              <a:latin typeface="Times New Roman"/>
              <a:cs typeface="Times New Roman"/>
            </a:endParaRPr>
          </a:p>
        </p:txBody>
      </p:sp>
      <p:sp>
        <p:nvSpPr>
          <p:cNvPr id="739256094" name="Shape 6"/>
          <p:cNvSpPr/>
          <p:nvPr/>
        </p:nvSpPr>
        <p:spPr bwMode="auto">
          <a:xfrm>
            <a:off x="1218654" y="2505201"/>
            <a:ext cx="1846760" cy="387441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532459" defTabSz="1449415">
              <a:spcBef>
                <a:spcPts val="403"/>
              </a:spcBef>
              <a:buClrTx/>
              <a:defRPr/>
            </a:pPr>
            <a:r>
              <a:rPr lang="fr-FR" sz="1600" b="1" spc="-16">
                <a:solidFill>
                  <a:schemeClr val="bg1"/>
                </a:solidFill>
                <a:latin typeface="Times New Roman"/>
                <a:cs typeface="Times New Roman"/>
              </a:rPr>
              <a:t>Nœuds</a:t>
            </a:r>
            <a:endParaRPr lang="fr-FR" sz="16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932237836" name="Text 5"/>
          <p:cNvSpPr/>
          <p:nvPr/>
        </p:nvSpPr>
        <p:spPr bwMode="auto">
          <a:xfrm>
            <a:off x="773398" y="1143000"/>
            <a:ext cx="7680959" cy="794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50165" marR="226695">
              <a:lnSpc>
                <a:spcPct val="106700"/>
              </a:lnSpc>
              <a:spcBef>
                <a:spcPts val="280"/>
              </a:spcBef>
              <a:defRPr/>
            </a:pPr>
            <a:r>
              <a:rPr lang="fr-FR">
                <a:solidFill>
                  <a:srgbClr val="263238"/>
                </a:solidFill>
                <a:latin typeface="Arial MT"/>
                <a:cs typeface="Arial MT"/>
              </a:rPr>
              <a:t>Un</a:t>
            </a:r>
            <a:r>
              <a:rPr lang="fr-FR" spc="-50">
                <a:solidFill>
                  <a:srgbClr val="263238"/>
                </a:solidFill>
                <a:latin typeface="Arial MT"/>
                <a:cs typeface="Arial MT"/>
              </a:rPr>
              <a:t> </a:t>
            </a:r>
            <a:r>
              <a:rPr lang="fr-FR" b="1" spc="50">
                <a:solidFill>
                  <a:srgbClr val="0091EA"/>
                </a:solidFill>
              </a:rPr>
              <a:t>DAG</a:t>
            </a:r>
            <a:r>
              <a:rPr lang="fr-FR" b="1">
                <a:solidFill>
                  <a:srgbClr val="0091EA"/>
                </a:solidFill>
              </a:rPr>
              <a:t> </a:t>
            </a:r>
            <a:r>
              <a:rPr lang="fr-FR" spc="-45">
                <a:solidFill>
                  <a:srgbClr val="263238"/>
                </a:solidFill>
                <a:latin typeface="Arial MT"/>
                <a:cs typeface="Arial MT"/>
              </a:rPr>
              <a:t>est</a:t>
            </a:r>
            <a:r>
              <a:rPr lang="fr-FR">
                <a:solidFill>
                  <a:srgbClr val="263238"/>
                </a:solidFill>
                <a:latin typeface="Arial MT"/>
                <a:cs typeface="Arial MT"/>
              </a:rPr>
              <a:t> </a:t>
            </a:r>
            <a:r>
              <a:rPr lang="fr-FR" spc="-85">
                <a:solidFill>
                  <a:srgbClr val="263238"/>
                </a:solidFill>
                <a:latin typeface="Arial MT"/>
                <a:cs typeface="Arial MT"/>
              </a:rPr>
              <a:t>une</a:t>
            </a:r>
            <a:r>
              <a:rPr lang="fr-FR" spc="-5">
                <a:solidFill>
                  <a:srgbClr val="263238"/>
                </a:solidFill>
                <a:latin typeface="Arial MT"/>
                <a:cs typeface="Arial MT"/>
              </a:rPr>
              <a:t> </a:t>
            </a:r>
            <a:r>
              <a:rPr lang="fr-FR" spc="-30">
                <a:solidFill>
                  <a:srgbClr val="263238"/>
                </a:solidFill>
                <a:latin typeface="Arial MT"/>
                <a:cs typeface="Arial MT"/>
              </a:rPr>
              <a:t>structure</a:t>
            </a:r>
            <a:r>
              <a:rPr lang="fr-FR">
                <a:solidFill>
                  <a:srgbClr val="263238"/>
                </a:solidFill>
                <a:latin typeface="Arial MT"/>
                <a:cs typeface="Arial MT"/>
              </a:rPr>
              <a:t> </a:t>
            </a:r>
            <a:r>
              <a:rPr lang="fr-FR" spc="-90">
                <a:solidFill>
                  <a:srgbClr val="263238"/>
                </a:solidFill>
                <a:latin typeface="Arial MT"/>
                <a:cs typeface="Arial MT"/>
              </a:rPr>
              <a:t>de</a:t>
            </a:r>
            <a:r>
              <a:rPr lang="fr-FR">
                <a:solidFill>
                  <a:srgbClr val="263238"/>
                </a:solidFill>
                <a:latin typeface="Arial MT"/>
                <a:cs typeface="Arial MT"/>
              </a:rPr>
              <a:t> </a:t>
            </a:r>
            <a:r>
              <a:rPr lang="fr-FR" spc="-120">
                <a:solidFill>
                  <a:srgbClr val="263238"/>
                </a:solidFill>
                <a:latin typeface="Arial MT"/>
                <a:cs typeface="Arial MT"/>
              </a:rPr>
              <a:t>données</a:t>
            </a:r>
            <a:r>
              <a:rPr lang="fr-FR" spc="20">
                <a:solidFill>
                  <a:srgbClr val="263238"/>
                </a:solidFill>
                <a:latin typeface="Arial MT"/>
                <a:cs typeface="Arial MT"/>
              </a:rPr>
              <a:t> </a:t>
            </a:r>
            <a:r>
              <a:rPr lang="fr-FR" spc="-114">
                <a:solidFill>
                  <a:srgbClr val="263238"/>
                </a:solidFill>
                <a:latin typeface="Arial MT"/>
                <a:cs typeface="Arial MT"/>
              </a:rPr>
              <a:t>composée</a:t>
            </a:r>
            <a:r>
              <a:rPr lang="fr-FR" spc="20">
                <a:solidFill>
                  <a:srgbClr val="263238"/>
                </a:solidFill>
                <a:latin typeface="Arial MT"/>
                <a:cs typeface="Arial MT"/>
              </a:rPr>
              <a:t> </a:t>
            </a:r>
            <a:r>
              <a:rPr lang="fr-FR" spc="-90">
                <a:solidFill>
                  <a:srgbClr val="263238"/>
                </a:solidFill>
                <a:latin typeface="Arial MT"/>
                <a:cs typeface="Arial MT"/>
              </a:rPr>
              <a:t>de</a:t>
            </a:r>
            <a:r>
              <a:rPr lang="fr-FR" spc="-5">
                <a:solidFill>
                  <a:srgbClr val="263238"/>
                </a:solidFill>
                <a:latin typeface="Arial MT"/>
                <a:cs typeface="Arial MT"/>
              </a:rPr>
              <a:t> </a:t>
            </a:r>
            <a:r>
              <a:rPr lang="fr-FR" b="1" spc="-25">
                <a:solidFill>
                  <a:srgbClr val="263238"/>
                </a:solidFill>
              </a:rPr>
              <a:t>nœuds</a:t>
            </a:r>
            <a:r>
              <a:rPr lang="fr-FR" b="1" spc="-5">
                <a:solidFill>
                  <a:srgbClr val="263238"/>
                </a:solidFill>
              </a:rPr>
              <a:t> </a:t>
            </a:r>
            <a:r>
              <a:rPr lang="fr-FR" spc="-55">
                <a:solidFill>
                  <a:srgbClr val="263238"/>
                </a:solidFill>
                <a:latin typeface="Arial MT"/>
                <a:cs typeface="Arial MT"/>
              </a:rPr>
              <a:t>reliés </a:t>
            </a:r>
            <a:r>
              <a:rPr lang="fr-FR" spc="-45">
                <a:solidFill>
                  <a:srgbClr val="263238"/>
                </a:solidFill>
                <a:latin typeface="Arial MT"/>
                <a:cs typeface="Arial MT"/>
              </a:rPr>
              <a:t>par</a:t>
            </a:r>
            <a:r>
              <a:rPr lang="fr-FR" spc="-55">
                <a:solidFill>
                  <a:srgbClr val="263238"/>
                </a:solidFill>
                <a:latin typeface="Arial MT"/>
                <a:cs typeface="Arial MT"/>
              </a:rPr>
              <a:t> </a:t>
            </a:r>
            <a:r>
              <a:rPr lang="fr-FR" spc="-135">
                <a:solidFill>
                  <a:srgbClr val="263238"/>
                </a:solidFill>
                <a:latin typeface="Arial MT"/>
                <a:cs typeface="Arial MT"/>
              </a:rPr>
              <a:t>des</a:t>
            </a:r>
            <a:r>
              <a:rPr lang="fr-FR" spc="40">
                <a:solidFill>
                  <a:srgbClr val="263238"/>
                </a:solidFill>
                <a:latin typeface="Arial MT"/>
                <a:cs typeface="Arial MT"/>
              </a:rPr>
              <a:t> </a:t>
            </a:r>
            <a:r>
              <a:rPr lang="fr-FR" b="1">
                <a:solidFill>
                  <a:srgbClr val="263238"/>
                </a:solidFill>
              </a:rPr>
              <a:t>arêtes</a:t>
            </a:r>
            <a:r>
              <a:rPr lang="fr-FR" b="1" spc="45">
                <a:solidFill>
                  <a:srgbClr val="263238"/>
                </a:solidFill>
              </a:rPr>
              <a:t> </a:t>
            </a:r>
            <a:r>
              <a:rPr lang="fr-FR" b="1" spc="-10">
                <a:solidFill>
                  <a:srgbClr val="263238"/>
                </a:solidFill>
              </a:rPr>
              <a:t>orientées</a:t>
            </a:r>
            <a:r>
              <a:rPr lang="fr-FR" spc="-10">
                <a:solidFill>
                  <a:srgbClr val="263238"/>
                </a:solidFill>
                <a:latin typeface="Arial MT"/>
                <a:cs typeface="Arial MT"/>
              </a:rPr>
              <a:t>,</a:t>
            </a:r>
            <a:r>
              <a:rPr lang="fr-FR">
                <a:solidFill>
                  <a:srgbClr val="263238"/>
                </a:solidFill>
                <a:latin typeface="Arial MT"/>
                <a:cs typeface="Arial MT"/>
              </a:rPr>
              <a:t> </a:t>
            </a:r>
            <a:r>
              <a:rPr lang="fr-FR" i="1" spc="-140">
                <a:solidFill>
                  <a:srgbClr val="263238"/>
                </a:solidFill>
              </a:rPr>
              <a:t>sans</a:t>
            </a:r>
            <a:r>
              <a:rPr lang="fr-FR" i="1" spc="45">
                <a:solidFill>
                  <a:srgbClr val="263238"/>
                </a:solidFill>
              </a:rPr>
              <a:t> </a:t>
            </a:r>
            <a:r>
              <a:rPr lang="fr-FR" i="1" spc="-65">
                <a:solidFill>
                  <a:srgbClr val="263238"/>
                </a:solidFill>
              </a:rPr>
              <a:t>jamais</a:t>
            </a:r>
            <a:r>
              <a:rPr lang="fr-FR" i="1">
                <a:solidFill>
                  <a:srgbClr val="263238"/>
                </a:solidFill>
              </a:rPr>
              <a:t> </a:t>
            </a:r>
            <a:r>
              <a:rPr lang="fr-FR" i="1" spc="-50">
                <a:solidFill>
                  <a:srgbClr val="263238"/>
                </a:solidFill>
              </a:rPr>
              <a:t>former</a:t>
            </a:r>
            <a:r>
              <a:rPr lang="fr-FR" i="1" spc="-5">
                <a:solidFill>
                  <a:srgbClr val="263238"/>
                </a:solidFill>
              </a:rPr>
              <a:t> </a:t>
            </a:r>
            <a:r>
              <a:rPr lang="fr-FR" i="1" spc="-90">
                <a:solidFill>
                  <a:srgbClr val="263238"/>
                </a:solidFill>
              </a:rPr>
              <a:t>de</a:t>
            </a:r>
            <a:r>
              <a:rPr lang="fr-FR" i="1">
                <a:solidFill>
                  <a:srgbClr val="263238"/>
                </a:solidFill>
              </a:rPr>
              <a:t> </a:t>
            </a:r>
            <a:r>
              <a:rPr lang="fr-FR" i="1" spc="-10">
                <a:solidFill>
                  <a:srgbClr val="263238"/>
                </a:solidFill>
              </a:rPr>
              <a:t>cycle</a:t>
            </a:r>
            <a:r>
              <a:rPr lang="fr-FR" spc="-10">
                <a:solidFill>
                  <a:srgbClr val="263238"/>
                </a:solidFill>
                <a:latin typeface="Arial MT"/>
                <a:cs typeface="Arial MT"/>
              </a:rPr>
              <a:t>.</a:t>
            </a:r>
            <a:endParaRPr lang="fr-FR">
              <a:latin typeface="Arial MT"/>
              <a:cs typeface="Arial MT"/>
            </a:endParaRPr>
          </a:p>
        </p:txBody>
      </p:sp>
      <p:sp>
        <p:nvSpPr>
          <p:cNvPr id="1153550574" name="Shape 1"/>
          <p:cNvSpPr/>
          <p:nvPr/>
        </p:nvSpPr>
        <p:spPr bwMode="auto">
          <a:xfrm>
            <a:off x="499078" y="762343"/>
            <a:ext cx="8229600" cy="4571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934190195" name="Shape 6"/>
          <p:cNvSpPr/>
          <p:nvPr/>
        </p:nvSpPr>
        <p:spPr bwMode="auto">
          <a:xfrm>
            <a:off x="3711756" y="2505197"/>
            <a:ext cx="1846760" cy="387441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423753" defTabSz="1449415">
              <a:spcBef>
                <a:spcPts val="238"/>
              </a:spcBef>
              <a:buClrTx/>
              <a:defRPr/>
            </a:pPr>
            <a:r>
              <a:rPr lang="fr-FR" sz="1600" spc="-16">
                <a:solidFill>
                  <a:srgbClr val="FFFFFF"/>
                </a:solidFill>
                <a:latin typeface="Arial MT"/>
                <a:cs typeface="Arial MT"/>
              </a:rPr>
              <a:t> Arêtes</a:t>
            </a:r>
            <a:endParaRPr lang="fr-FR" sz="160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1423865625" name="Shape 6"/>
          <p:cNvSpPr/>
          <p:nvPr/>
        </p:nvSpPr>
        <p:spPr bwMode="auto">
          <a:xfrm>
            <a:off x="6078587" y="2505197"/>
            <a:ext cx="1846760" cy="387441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459988" defTabSz="1449415">
              <a:spcBef>
                <a:spcPts val="363"/>
              </a:spcBef>
              <a:buClrTx/>
              <a:defRPr/>
            </a:pPr>
            <a:r>
              <a:rPr lang="fr-FR" sz="1600" spc="-16">
                <a:solidFill>
                  <a:srgbClr val="FFFFFF"/>
                </a:solidFill>
                <a:latin typeface="Arial MT"/>
                <a:cs typeface="Arial MT"/>
              </a:rPr>
              <a:t>Acyclique</a:t>
            </a:r>
            <a:endParaRPr lang="fr-FR" sz="160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891014185" name="TextBox 12"/>
          <p:cNvSpPr txBox="1"/>
          <p:nvPr/>
        </p:nvSpPr>
        <p:spPr bwMode="auto">
          <a:xfrm>
            <a:off x="1218654" y="2963636"/>
            <a:ext cx="1846760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4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pc="-159">
                <a:solidFill>
                  <a:srgbClr val="263238"/>
                </a:solidFill>
                <a:latin typeface="Arial MT"/>
                <a:cs typeface="Arial MT"/>
              </a:rPr>
              <a:t>Les</a:t>
            </a:r>
            <a:r>
              <a:rPr lang="fr-FR" spc="23">
                <a:solidFill>
                  <a:srgbClr val="263238"/>
                </a:solidFill>
                <a:latin typeface="Arial MT"/>
                <a:cs typeface="Arial MT"/>
              </a:rPr>
              <a:t> </a:t>
            </a:r>
            <a:r>
              <a:rPr lang="fr-FR" spc="-47">
                <a:solidFill>
                  <a:srgbClr val="263238"/>
                </a:solidFill>
              </a:rPr>
              <a:t>tâches</a:t>
            </a:r>
            <a:r>
              <a:rPr lang="fr-FR" spc="-71">
                <a:solidFill>
                  <a:srgbClr val="263238"/>
                </a:solidFill>
              </a:rPr>
              <a:t> </a:t>
            </a:r>
            <a:r>
              <a:rPr lang="fr-FR" spc="-16">
                <a:solidFill>
                  <a:srgbClr val="263238"/>
                </a:solidFill>
                <a:latin typeface="Arial MT"/>
                <a:cs typeface="Arial MT"/>
              </a:rPr>
              <a:t>ou </a:t>
            </a:r>
            <a:r>
              <a:rPr lang="fr-FR" spc="-127">
                <a:solidFill>
                  <a:srgbClr val="263238"/>
                </a:solidFill>
                <a:latin typeface="Arial MT"/>
                <a:cs typeface="Arial MT"/>
              </a:rPr>
              <a:t>étapes</a:t>
            </a:r>
            <a:r>
              <a:rPr lang="fr-FR" spc="-8">
                <a:solidFill>
                  <a:srgbClr val="263238"/>
                </a:solidFill>
                <a:latin typeface="Arial MT"/>
                <a:cs typeface="Arial MT"/>
              </a:rPr>
              <a:t> </a:t>
            </a:r>
            <a:r>
              <a:rPr lang="fr-FR" spc="-143">
                <a:solidFill>
                  <a:srgbClr val="263238"/>
                </a:solidFill>
                <a:latin typeface="Arial MT"/>
                <a:cs typeface="Arial MT"/>
              </a:rPr>
              <a:t>à </a:t>
            </a:r>
            <a:r>
              <a:rPr lang="fr-FR" spc="-16">
                <a:solidFill>
                  <a:srgbClr val="263238"/>
                </a:solidFill>
                <a:latin typeface="Arial MT"/>
                <a:cs typeface="Arial MT"/>
              </a:rPr>
              <a:t>exécuter.</a:t>
            </a:r>
            <a:endParaRPr lang="fr-FR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739982204" name="TextBox 13"/>
          <p:cNvSpPr txBox="1"/>
          <p:nvPr/>
        </p:nvSpPr>
        <p:spPr bwMode="auto">
          <a:xfrm>
            <a:off x="3711756" y="2966457"/>
            <a:ext cx="1846760" cy="8412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4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marL="79517" marR="623047" algn="just" defTabSz="1449415">
              <a:spcBef>
                <a:spcPts val="386"/>
              </a:spcBef>
              <a:buClrTx/>
              <a:defRPr/>
            </a:pPr>
            <a:endParaRPr lang="en-US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79517" marR="623047" algn="just" defTabSz="1449415">
              <a:spcBef>
                <a:spcPts val="386"/>
              </a:spcBef>
              <a:buClrTx/>
              <a:defRPr/>
            </a:pPr>
            <a:endParaRPr lang="fr-FR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79517" marR="623047" algn="just" defTabSz="1449415">
              <a:spcBef>
                <a:spcPts val="386"/>
              </a:spcBef>
              <a:buClrTx/>
              <a:defRPr/>
            </a:pPr>
            <a:endParaRPr lang="fr-FR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1330172644" name="TextBox 14"/>
          <p:cNvSpPr txBox="1"/>
          <p:nvPr/>
        </p:nvSpPr>
        <p:spPr bwMode="auto">
          <a:xfrm>
            <a:off x="6078587" y="2963636"/>
            <a:ext cx="1846760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4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pc="-32">
                <a:solidFill>
                  <a:srgbClr val="263238"/>
                </a:solidFill>
              </a:rPr>
              <a:t>Aucun</a:t>
            </a:r>
            <a:r>
              <a:rPr lang="fr-FR">
                <a:solidFill>
                  <a:srgbClr val="263238"/>
                </a:solidFill>
              </a:rPr>
              <a:t> retour</a:t>
            </a:r>
            <a:r>
              <a:rPr lang="fr-FR" spc="-47">
                <a:solidFill>
                  <a:srgbClr val="263238"/>
                </a:solidFill>
              </a:rPr>
              <a:t> </a:t>
            </a:r>
            <a:r>
              <a:rPr lang="fr-FR" spc="-16">
                <a:solidFill>
                  <a:srgbClr val="263238"/>
                </a:solidFill>
                <a:latin typeface="Arial MT"/>
                <a:cs typeface="Arial MT"/>
              </a:rPr>
              <a:t>possible.</a:t>
            </a:r>
            <a:endParaRPr lang="fr-FR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796357102" name="TextBox 15"/>
          <p:cNvSpPr txBox="1"/>
          <p:nvPr/>
        </p:nvSpPr>
        <p:spPr bwMode="auto">
          <a:xfrm>
            <a:off x="3711756" y="3017753"/>
            <a:ext cx="18467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pc="-95">
                <a:solidFill>
                  <a:srgbClr val="263238"/>
                </a:solidFill>
                <a:latin typeface="Arial MT"/>
                <a:cs typeface="Arial MT"/>
              </a:rPr>
              <a:t>Définissent</a:t>
            </a:r>
            <a:r>
              <a:rPr lang="fr-FR" spc="16">
                <a:solidFill>
                  <a:srgbClr val="263238"/>
                </a:solidFill>
                <a:latin typeface="Arial MT"/>
                <a:cs typeface="Arial MT"/>
              </a:rPr>
              <a:t> </a:t>
            </a:r>
            <a:r>
              <a:rPr lang="fr-FR" spc="-40">
                <a:solidFill>
                  <a:srgbClr val="263238"/>
                </a:solidFill>
                <a:latin typeface="Arial MT"/>
                <a:cs typeface="Arial MT"/>
              </a:rPr>
              <a:t>les </a:t>
            </a:r>
            <a:r>
              <a:rPr lang="fr-FR" spc="-77">
                <a:solidFill>
                  <a:srgbClr val="263238"/>
                </a:solidFill>
              </a:rPr>
              <a:t>dépendances</a:t>
            </a:r>
            <a:r>
              <a:rPr lang="fr-FR" spc="-40">
                <a:solidFill>
                  <a:srgbClr val="263238"/>
                </a:solidFill>
              </a:rPr>
              <a:t> </a:t>
            </a:r>
            <a:r>
              <a:rPr lang="fr-FR" spc="-87">
                <a:solidFill>
                  <a:srgbClr val="263238"/>
                </a:solidFill>
                <a:latin typeface="Arial MT"/>
                <a:cs typeface="Arial MT"/>
              </a:rPr>
              <a:t>entre </a:t>
            </a:r>
            <a:r>
              <a:rPr lang="fr-FR" spc="-16">
                <a:solidFill>
                  <a:srgbClr val="263238"/>
                </a:solidFill>
                <a:latin typeface="Arial MT"/>
                <a:cs typeface="Arial MT"/>
              </a:rPr>
              <a:t>tâches.</a:t>
            </a:r>
            <a:endParaRPr lang="fr-FR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089559" name="Google Shape;144;p20"/>
          <p:cNvSpPr txBox="1">
            <a:spLocks noGrp="1"/>
          </p:cNvSpPr>
          <p:nvPr>
            <p:ph type="sldNum" idx="12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>
                <a:latin typeface="Times New Roman"/>
                <a:cs typeface="Times New Roman"/>
              </a:rPr>
              <a:t>18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928527258" name="Text 1"/>
          <p:cNvSpPr/>
          <p:nvPr/>
        </p:nvSpPr>
        <p:spPr bwMode="auto">
          <a:xfrm>
            <a:off x="407639" y="328719"/>
            <a:ext cx="8279161" cy="380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CA" sz="2400" b="1">
                <a:solidFill>
                  <a:srgbClr val="002060"/>
                </a:solidFill>
                <a:latin typeface="+mj-lt"/>
                <a:cs typeface="Times New Roman"/>
              </a:rPr>
              <a:t>Structure</a:t>
            </a:r>
            <a:r>
              <a:rPr lang="en-CA" sz="2400" b="1" spc="317">
                <a:solidFill>
                  <a:srgbClr val="002060"/>
                </a:solidFill>
                <a:latin typeface="+mj-lt"/>
                <a:cs typeface="Times New Roman"/>
              </a:rPr>
              <a:t> </a:t>
            </a:r>
            <a:r>
              <a:rPr lang="en-CA" sz="2400" b="1">
                <a:solidFill>
                  <a:srgbClr val="002060"/>
                </a:solidFill>
                <a:latin typeface="+mj-lt"/>
                <a:cs typeface="Times New Roman"/>
              </a:rPr>
              <a:t>de</a:t>
            </a:r>
            <a:r>
              <a:rPr lang="en-CA" sz="2400" b="1" spc="317">
                <a:solidFill>
                  <a:srgbClr val="002060"/>
                </a:solidFill>
                <a:latin typeface="+mj-lt"/>
                <a:cs typeface="Times New Roman"/>
              </a:rPr>
              <a:t> </a:t>
            </a:r>
            <a:r>
              <a:rPr lang="en-CA" sz="2400" b="1" spc="-32">
                <a:solidFill>
                  <a:srgbClr val="002060"/>
                </a:solidFill>
                <a:latin typeface="+mj-lt"/>
                <a:cs typeface="Times New Roman"/>
              </a:rPr>
              <a:t>base</a:t>
            </a:r>
            <a:endParaRPr lang="en-US" sz="2400" b="1">
              <a:solidFill>
                <a:srgbClr val="002060"/>
              </a:solidFill>
              <a:latin typeface="+mj-lt"/>
              <a:cs typeface="Times New Roman"/>
            </a:endParaRPr>
          </a:p>
        </p:txBody>
      </p:sp>
      <p:sp>
        <p:nvSpPr>
          <p:cNvPr id="5613141" name="Shape 1"/>
          <p:cNvSpPr/>
          <p:nvPr/>
        </p:nvSpPr>
        <p:spPr bwMode="auto">
          <a:xfrm>
            <a:off x="499078" y="762343"/>
            <a:ext cx="8229600" cy="4571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44326560" name="Shape 3"/>
          <p:cNvSpPr/>
          <p:nvPr/>
        </p:nvSpPr>
        <p:spPr bwMode="auto">
          <a:xfrm>
            <a:off x="1826215" y="1725350"/>
            <a:ext cx="987878" cy="700823"/>
          </a:xfrm>
          <a:prstGeom prst="ellipse">
            <a:avLst/>
          </a:prstGeom>
          <a:solidFill>
            <a:srgbClr val="1F4068"/>
          </a:solidFill>
          <a:ln w="12700">
            <a:noFill/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18645798" name="TextBox 3"/>
          <p:cNvSpPr txBox="1"/>
          <p:nvPr/>
        </p:nvSpPr>
        <p:spPr bwMode="auto">
          <a:xfrm>
            <a:off x="1899694" y="1921872"/>
            <a:ext cx="1074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b="1" spc="-32">
                <a:solidFill>
                  <a:schemeClr val="bg1"/>
                </a:solidFill>
              </a:rPr>
              <a:t>Nœud</a:t>
            </a:r>
            <a:r>
              <a:rPr lang="fr-FR" b="1" spc="-40">
                <a:solidFill>
                  <a:schemeClr val="bg1"/>
                </a:solidFill>
              </a:rPr>
              <a:t> </a:t>
            </a:r>
            <a:r>
              <a:rPr lang="fr-FR" b="1" spc="-77">
                <a:solidFill>
                  <a:schemeClr val="bg1"/>
                </a:solidFill>
              </a:rPr>
              <a:t>A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1136398518" name="Shape 3"/>
          <p:cNvSpPr/>
          <p:nvPr/>
        </p:nvSpPr>
        <p:spPr bwMode="auto">
          <a:xfrm>
            <a:off x="471085" y="2724423"/>
            <a:ext cx="987878" cy="700823"/>
          </a:xfrm>
          <a:prstGeom prst="ellipse">
            <a:avLst/>
          </a:prstGeom>
          <a:solidFill>
            <a:srgbClr val="1F4068"/>
          </a:solidFill>
          <a:ln w="12700">
            <a:noFill/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350678887" name="Shape 3"/>
          <p:cNvSpPr/>
          <p:nvPr/>
        </p:nvSpPr>
        <p:spPr bwMode="auto">
          <a:xfrm>
            <a:off x="3156262" y="2740728"/>
            <a:ext cx="987878" cy="642947"/>
          </a:xfrm>
          <a:prstGeom prst="ellipse">
            <a:avLst/>
          </a:prstGeom>
          <a:solidFill>
            <a:srgbClr val="1F4068"/>
          </a:solidFill>
          <a:ln w="12700">
            <a:noFill/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60184198" name="Shape 3"/>
          <p:cNvSpPr/>
          <p:nvPr/>
        </p:nvSpPr>
        <p:spPr bwMode="auto">
          <a:xfrm>
            <a:off x="1801526" y="3897469"/>
            <a:ext cx="987878" cy="700823"/>
          </a:xfrm>
          <a:prstGeom prst="ellipse">
            <a:avLst/>
          </a:prstGeom>
          <a:solidFill>
            <a:srgbClr val="1F4068"/>
          </a:solidFill>
          <a:ln w="12700">
            <a:noFill/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45833232" name="TextBox 7"/>
          <p:cNvSpPr txBox="1"/>
          <p:nvPr/>
        </p:nvSpPr>
        <p:spPr bwMode="auto">
          <a:xfrm>
            <a:off x="555554" y="2908312"/>
            <a:ext cx="1074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b="1" spc="-32">
                <a:solidFill>
                  <a:schemeClr val="bg1"/>
                </a:solidFill>
              </a:rPr>
              <a:t>Nœud</a:t>
            </a:r>
            <a:r>
              <a:rPr lang="fr-FR" b="1" spc="-40">
                <a:solidFill>
                  <a:schemeClr val="bg1"/>
                </a:solidFill>
              </a:rPr>
              <a:t> </a:t>
            </a:r>
            <a:r>
              <a:rPr lang="fr-FR" b="1" spc="-77">
                <a:solidFill>
                  <a:schemeClr val="bg1"/>
                </a:solidFill>
              </a:rPr>
              <a:t>B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1758729352" name="TextBox 8"/>
          <p:cNvSpPr txBox="1"/>
          <p:nvPr/>
        </p:nvSpPr>
        <p:spPr bwMode="auto">
          <a:xfrm>
            <a:off x="3227600" y="2866735"/>
            <a:ext cx="1074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b="1" spc="-32">
                <a:solidFill>
                  <a:schemeClr val="bg1"/>
                </a:solidFill>
              </a:rPr>
              <a:t>Nœud</a:t>
            </a:r>
            <a:r>
              <a:rPr lang="fr-FR" b="1" spc="-40">
                <a:solidFill>
                  <a:schemeClr val="bg1"/>
                </a:solidFill>
              </a:rPr>
              <a:t> </a:t>
            </a:r>
            <a:r>
              <a:rPr lang="fr-FR" b="1" spc="-77">
                <a:solidFill>
                  <a:schemeClr val="bg1"/>
                </a:solidFill>
              </a:rPr>
              <a:t>C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391278613" name="TextBox 9"/>
          <p:cNvSpPr txBox="1"/>
          <p:nvPr/>
        </p:nvSpPr>
        <p:spPr bwMode="auto">
          <a:xfrm>
            <a:off x="1865551" y="4074236"/>
            <a:ext cx="1074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b="1" spc="-32">
                <a:solidFill>
                  <a:schemeClr val="bg1"/>
                </a:solidFill>
              </a:rPr>
              <a:t>Nœud</a:t>
            </a:r>
            <a:r>
              <a:rPr lang="fr-FR" b="1" spc="-40">
                <a:solidFill>
                  <a:schemeClr val="bg1"/>
                </a:solidFill>
              </a:rPr>
              <a:t> </a:t>
            </a:r>
            <a:r>
              <a:rPr lang="fr-FR" b="1" spc="-77">
                <a:solidFill>
                  <a:schemeClr val="bg1"/>
                </a:solidFill>
              </a:rPr>
              <a:t>D</a:t>
            </a:r>
            <a:endParaRPr lang="fr-FR">
              <a:solidFill>
                <a:schemeClr val="bg1"/>
              </a:solidFill>
            </a:endParaRPr>
          </a:p>
        </p:txBody>
      </p:sp>
      <p:cxnSp>
        <p:nvCxnSpPr>
          <p:cNvPr id="1582613764" name="Connecteur droit avec flèche 32"/>
          <p:cNvCxnSpPr>
            <a:endCxn id="1136398518" idx="7"/>
          </p:cNvCxnSpPr>
          <p:nvPr/>
        </p:nvCxnSpPr>
        <p:spPr bwMode="auto">
          <a:xfrm flipH="1">
            <a:off x="1314292" y="2391227"/>
            <a:ext cx="552838" cy="435829"/>
          </a:xfrm>
          <a:prstGeom prst="straightConnector1">
            <a:avLst/>
          </a:prstGeom>
          <a:ln>
            <a:solidFill>
              <a:srgbClr val="1F406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120401" name="Connecteur droit avec flèche 23"/>
          <p:cNvCxnSpPr/>
          <p:nvPr/>
        </p:nvCxnSpPr>
        <p:spPr bwMode="auto">
          <a:xfrm>
            <a:off x="2726983" y="2222524"/>
            <a:ext cx="683382" cy="508731"/>
          </a:xfrm>
          <a:prstGeom prst="straightConnector1">
            <a:avLst/>
          </a:prstGeom>
          <a:ln>
            <a:solidFill>
              <a:srgbClr val="1F406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406897" name="Connecteur droit avec flèche 30"/>
          <p:cNvCxnSpPr>
            <a:stCxn id="1136398518" idx="5"/>
            <a:endCxn id="1760184198" idx="1"/>
          </p:cNvCxnSpPr>
          <p:nvPr/>
        </p:nvCxnSpPr>
        <p:spPr bwMode="auto">
          <a:xfrm>
            <a:off x="1314292" y="3322613"/>
            <a:ext cx="631905" cy="677489"/>
          </a:xfrm>
          <a:prstGeom prst="straightConnector1">
            <a:avLst/>
          </a:prstGeom>
          <a:ln>
            <a:solidFill>
              <a:srgbClr val="1F406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9254279" name="Connecteur droit avec flèche 31"/>
          <p:cNvCxnSpPr>
            <a:stCxn id="1350678887" idx="3"/>
            <a:endCxn id="1760184198" idx="7"/>
          </p:cNvCxnSpPr>
          <p:nvPr/>
        </p:nvCxnSpPr>
        <p:spPr bwMode="auto">
          <a:xfrm flipH="1">
            <a:off x="2644733" y="3289519"/>
            <a:ext cx="656200" cy="710583"/>
          </a:xfrm>
          <a:prstGeom prst="straightConnector1">
            <a:avLst/>
          </a:prstGeom>
          <a:ln>
            <a:solidFill>
              <a:srgbClr val="1F406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6538242" name="TextBox 30"/>
          <p:cNvSpPr txBox="1"/>
          <p:nvPr/>
        </p:nvSpPr>
        <p:spPr bwMode="auto">
          <a:xfrm>
            <a:off x="537393" y="107728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62447"/>
                </a:solidFill>
                <a:latin typeface="Times New Roman"/>
                <a:ea typeface="Calibri"/>
                <a:cs typeface="Times New Roman"/>
              </a:rPr>
              <a:t>Représentation</a:t>
            </a:r>
            <a:r>
              <a:rPr lang="en-US" sz="1800" b="1">
                <a:solidFill>
                  <a:srgbClr val="162447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800" b="1">
                <a:solidFill>
                  <a:srgbClr val="162447"/>
                </a:solidFill>
                <a:latin typeface="Times New Roman"/>
                <a:ea typeface="Calibri"/>
                <a:cs typeface="Times New Roman"/>
              </a:rPr>
              <a:t>visuelle</a:t>
            </a:r>
            <a:r>
              <a:rPr lang="en-US" sz="1800" b="1">
                <a:solidFill>
                  <a:srgbClr val="162447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b="1">
                <a:solidFill>
                  <a:srgbClr val="162447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400"/>
          </a:p>
        </p:txBody>
      </p:sp>
      <p:sp>
        <p:nvSpPr>
          <p:cNvPr id="1517846375" name="ZoneTexte 36"/>
          <p:cNvSpPr txBox="1"/>
          <p:nvPr/>
        </p:nvSpPr>
        <p:spPr bwMode="auto">
          <a:xfrm>
            <a:off x="1843746" y="2401685"/>
            <a:ext cx="172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 i="1">
                <a:solidFill>
                  <a:srgbClr val="5F7D8B"/>
                </a:solidFill>
                <a:latin typeface="Verdana"/>
                <a:cs typeface="Verdana"/>
              </a:rPr>
              <a:t>Étape</a:t>
            </a:r>
            <a:r>
              <a:rPr lang="fr-FR" sz="1200" i="1" spc="16">
                <a:solidFill>
                  <a:srgbClr val="5F7D8B"/>
                </a:solidFill>
                <a:latin typeface="Verdana"/>
                <a:cs typeface="Verdana"/>
              </a:rPr>
              <a:t> </a:t>
            </a:r>
            <a:r>
              <a:rPr lang="fr-FR" sz="1200" i="1" spc="-16">
                <a:solidFill>
                  <a:srgbClr val="5F7D8B"/>
                </a:solidFill>
                <a:latin typeface="Verdana"/>
                <a:cs typeface="Verdana"/>
              </a:rPr>
              <a:t>initiale</a:t>
            </a:r>
            <a:endParaRPr lang="fr-FR" sz="1200"/>
          </a:p>
        </p:txBody>
      </p:sp>
      <p:sp>
        <p:nvSpPr>
          <p:cNvPr id="2028600800" name="ZoneTexte 36"/>
          <p:cNvSpPr txBox="1"/>
          <p:nvPr/>
        </p:nvSpPr>
        <p:spPr bwMode="auto">
          <a:xfrm>
            <a:off x="1801526" y="4611351"/>
            <a:ext cx="172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1200" i="1">
                <a:solidFill>
                  <a:srgbClr val="5F7D8B"/>
                </a:solidFill>
                <a:latin typeface="Verdana"/>
                <a:cs typeface="Verdana"/>
              </a:rPr>
              <a:t>Étape</a:t>
            </a:r>
            <a:r>
              <a:rPr lang="fr-FR" sz="1200" i="1" spc="16">
                <a:solidFill>
                  <a:srgbClr val="5F7D8B"/>
                </a:solidFill>
                <a:latin typeface="Verdana"/>
                <a:cs typeface="Verdana"/>
              </a:rPr>
              <a:t> </a:t>
            </a:r>
            <a:r>
              <a:rPr lang="fr-FR" sz="1200" i="1" spc="-16">
                <a:solidFill>
                  <a:srgbClr val="5F7D8B"/>
                </a:solidFill>
                <a:latin typeface="Verdana"/>
                <a:cs typeface="Verdana"/>
              </a:rPr>
              <a:t>finale</a:t>
            </a:r>
            <a:endParaRPr lang="fr-FR" sz="1200"/>
          </a:p>
        </p:txBody>
      </p:sp>
      <p:sp>
        <p:nvSpPr>
          <p:cNvPr id="1395430822" name="Text 11"/>
          <p:cNvSpPr/>
          <p:nvPr/>
        </p:nvSpPr>
        <p:spPr bwMode="auto">
          <a:xfrm>
            <a:off x="5515792" y="1079068"/>
            <a:ext cx="38241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62447"/>
                </a:solidFill>
                <a:latin typeface="Times New Roman"/>
                <a:ea typeface="Calibri"/>
                <a:cs typeface="Times New Roman"/>
              </a:rPr>
              <a:t>Composants clés </a:t>
            </a:r>
            <a:r>
              <a:rPr lang="en-US" sz="1800" b="1">
                <a:solidFill>
                  <a:srgbClr val="162447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800"/>
          </a:p>
        </p:txBody>
      </p:sp>
      <p:sp>
        <p:nvSpPr>
          <p:cNvPr id="1039954594" name="Shape 1"/>
          <p:cNvSpPr/>
          <p:nvPr/>
        </p:nvSpPr>
        <p:spPr bwMode="auto">
          <a:xfrm rot="5400000" flipV="1">
            <a:off x="3144644" y="2854535"/>
            <a:ext cx="3467913" cy="45719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  <a:prstDash val="soli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</p:sp>
      <p:sp>
        <p:nvSpPr>
          <p:cNvPr id="1907839327" name="Text 13"/>
          <p:cNvSpPr/>
          <p:nvPr/>
        </p:nvSpPr>
        <p:spPr bwMode="auto">
          <a:xfrm>
            <a:off x="5657749" y="1725350"/>
            <a:ext cx="317311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b="1">
                <a:solidFill>
                  <a:srgbClr val="1E2A3A"/>
                </a:solidFill>
                <a:latin typeface="Times New Roman"/>
                <a:ea typeface="Calibri"/>
                <a:cs typeface="Times New Roman"/>
              </a:rPr>
              <a:t>Nœud</a:t>
            </a:r>
            <a:r>
              <a:rPr lang="en-US" b="1">
                <a:solidFill>
                  <a:srgbClr val="1E2A3A"/>
                </a:solidFill>
                <a:latin typeface="Times New Roman"/>
                <a:ea typeface="Calibri"/>
                <a:cs typeface="Times New Roman"/>
              </a:rPr>
              <a:t> initial (A)</a:t>
            </a:r>
            <a:r>
              <a:rPr lang="en-US">
                <a:solidFill>
                  <a:srgbClr val="1E2A3A"/>
                </a:solidFill>
                <a:latin typeface="Times New Roman"/>
                <a:ea typeface="Calibri"/>
                <a:cs typeface="Times New Roman"/>
              </a:rPr>
              <a:t> — aucune dépendance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1760318439" name="Arrow: Down 45"/>
          <p:cNvSpPr/>
          <p:nvPr/>
        </p:nvSpPr>
        <p:spPr bwMode="auto">
          <a:xfrm rot="16199998" flipH="1">
            <a:off x="5383322" y="1760883"/>
            <a:ext cx="198433" cy="339890"/>
          </a:xfrm>
          <a:prstGeom prst="downArrow">
            <a:avLst>
              <a:gd name="adj1" fmla="val 50000"/>
              <a:gd name="adj2" fmla="val 60108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fr-FR">
              <a:ln>
                <a:solidFill>
                  <a:schemeClr val="bg2"/>
                </a:solidFill>
              </a:ln>
              <a:solidFill>
                <a:schemeClr val="accent3"/>
              </a:solidFill>
            </a:endParaRPr>
          </a:p>
        </p:txBody>
      </p:sp>
      <p:sp>
        <p:nvSpPr>
          <p:cNvPr id="477812242" name="TextBox 47"/>
          <p:cNvSpPr txBox="1"/>
          <p:nvPr/>
        </p:nvSpPr>
        <p:spPr bwMode="auto">
          <a:xfrm>
            <a:off x="5652481" y="2314488"/>
            <a:ext cx="34915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b="1">
                <a:solidFill>
                  <a:srgbClr val="1E2A3A"/>
                </a:solidFill>
                <a:latin typeface="Times New Roman"/>
                <a:ea typeface="Calibri"/>
                <a:cs typeface="Times New Roman"/>
              </a:rPr>
              <a:t>Intermédiaires</a:t>
            </a:r>
            <a:r>
              <a:rPr lang="en-US" b="1">
                <a:solidFill>
                  <a:srgbClr val="1E2A3A"/>
                </a:solidFill>
                <a:latin typeface="Times New Roman"/>
                <a:ea typeface="Calibri"/>
                <a:cs typeface="Times New Roman"/>
              </a:rPr>
              <a:t> (B,C)</a:t>
            </a:r>
            <a:r>
              <a:rPr lang="en-US">
                <a:solidFill>
                  <a:srgbClr val="1E2A3A"/>
                </a:solidFill>
                <a:latin typeface="Times New Roman"/>
                <a:ea typeface="Calibri"/>
                <a:cs typeface="Times New Roman"/>
              </a:rPr>
              <a:t> — </a:t>
            </a:r>
            <a:r>
              <a:rPr lang="en-US">
                <a:solidFill>
                  <a:srgbClr val="1E2A3A"/>
                </a:solidFill>
                <a:latin typeface="Times New Roman"/>
                <a:ea typeface="Calibri"/>
                <a:cs typeface="Times New Roman"/>
              </a:rPr>
              <a:t>exécution</a:t>
            </a:r>
            <a:r>
              <a:rPr lang="en-US">
                <a:solidFill>
                  <a:srgbClr val="1E2A3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>
                <a:solidFill>
                  <a:srgbClr val="1E2A3A"/>
                </a:solidFill>
                <a:latin typeface="Times New Roman"/>
                <a:ea typeface="Calibri"/>
                <a:cs typeface="Times New Roman"/>
              </a:rPr>
              <a:t>parallèle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56818312" name="Arrow: Down 49"/>
          <p:cNvSpPr/>
          <p:nvPr/>
        </p:nvSpPr>
        <p:spPr bwMode="auto">
          <a:xfrm rot="16199998" flipH="1">
            <a:off x="5383321" y="2320499"/>
            <a:ext cx="198433" cy="339890"/>
          </a:xfrm>
          <a:prstGeom prst="downArrow">
            <a:avLst>
              <a:gd name="adj1" fmla="val 50000"/>
              <a:gd name="adj2" fmla="val 60108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fr-FR">
              <a:ln>
                <a:solidFill>
                  <a:schemeClr val="bg2"/>
                </a:solidFill>
              </a:ln>
              <a:solidFill>
                <a:schemeClr val="accent3"/>
              </a:solidFill>
            </a:endParaRPr>
          </a:p>
        </p:txBody>
      </p:sp>
      <p:sp>
        <p:nvSpPr>
          <p:cNvPr id="19626625" name="Arrow: Down 50"/>
          <p:cNvSpPr/>
          <p:nvPr/>
        </p:nvSpPr>
        <p:spPr bwMode="auto">
          <a:xfrm rot="16199998" flipH="1">
            <a:off x="5383321" y="2907930"/>
            <a:ext cx="198433" cy="339890"/>
          </a:xfrm>
          <a:prstGeom prst="downArrow">
            <a:avLst>
              <a:gd name="adj1" fmla="val 50000"/>
              <a:gd name="adj2" fmla="val 60108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fr-FR">
              <a:ln>
                <a:solidFill>
                  <a:schemeClr val="bg2"/>
                </a:solidFill>
              </a:ln>
              <a:solidFill>
                <a:schemeClr val="accent3"/>
              </a:solidFill>
            </a:endParaRPr>
          </a:p>
        </p:txBody>
      </p:sp>
      <p:sp>
        <p:nvSpPr>
          <p:cNvPr id="282858099" name="TextBox 52"/>
          <p:cNvSpPr txBox="1"/>
          <p:nvPr/>
        </p:nvSpPr>
        <p:spPr bwMode="auto">
          <a:xfrm>
            <a:off x="5670158" y="2901251"/>
            <a:ext cx="4669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A3A"/>
                </a:solidFill>
                <a:latin typeface="Times New Roman"/>
                <a:ea typeface="Calibri"/>
                <a:cs typeface="Times New Roman"/>
              </a:rPr>
              <a:t>Nœud</a:t>
            </a:r>
            <a:r>
              <a:rPr lang="en-US" sz="1400" b="1">
                <a:solidFill>
                  <a:srgbClr val="1E2A3A"/>
                </a:solidFill>
                <a:latin typeface="Times New Roman"/>
                <a:ea typeface="Calibri"/>
                <a:cs typeface="Times New Roman"/>
              </a:rPr>
              <a:t> final (D)</a:t>
            </a:r>
            <a:r>
              <a:rPr lang="en-US" sz="1400">
                <a:solidFill>
                  <a:srgbClr val="1E2A3A"/>
                </a:solidFill>
                <a:latin typeface="Times New Roman"/>
                <a:ea typeface="Calibri"/>
                <a:cs typeface="Times New Roman"/>
              </a:rPr>
              <a:t> — </a:t>
            </a:r>
            <a:r>
              <a:rPr lang="en-US" sz="1400">
                <a:solidFill>
                  <a:srgbClr val="1E2A3A"/>
                </a:solidFill>
                <a:latin typeface="Times New Roman"/>
                <a:ea typeface="Calibri"/>
                <a:cs typeface="Times New Roman"/>
              </a:rPr>
              <a:t>dépend</a:t>
            </a:r>
            <a:r>
              <a:rPr lang="en-US" sz="1400">
                <a:solidFill>
                  <a:srgbClr val="1E2A3A"/>
                </a:solidFill>
                <a:latin typeface="Times New Roman"/>
                <a:ea typeface="Calibri"/>
                <a:cs typeface="Times New Roman"/>
              </a:rPr>
              <a:t> de B et C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1659798255" name="Shape 28"/>
          <p:cNvSpPr/>
          <p:nvPr/>
        </p:nvSpPr>
        <p:spPr bwMode="auto">
          <a:xfrm>
            <a:off x="5342581" y="3696886"/>
            <a:ext cx="3610502" cy="769501"/>
          </a:xfrm>
          <a:prstGeom prst="roundRect">
            <a:avLst>
              <a:gd name="adj" fmla="val 7692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31945324" name="TextBox 55"/>
          <p:cNvSpPr txBox="1"/>
          <p:nvPr/>
        </p:nvSpPr>
        <p:spPr bwMode="auto">
          <a:xfrm>
            <a:off x="5342581" y="3683819"/>
            <a:ext cx="51720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92400E"/>
                </a:solidFill>
                <a:latin typeface="Calibri"/>
                <a:ea typeface="Calibri"/>
                <a:cs typeface="Calibri"/>
              </a:rPr>
              <a:t>Règle</a:t>
            </a:r>
            <a:r>
              <a:rPr lang="en-US" sz="1400" b="1">
                <a:solidFill>
                  <a:srgbClr val="92400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1">
                <a:solidFill>
                  <a:srgbClr val="92400E"/>
                </a:solidFill>
                <a:latin typeface="Calibri"/>
                <a:ea typeface="Calibri"/>
                <a:cs typeface="Calibri"/>
              </a:rPr>
              <a:t>fondamentale</a:t>
            </a:r>
            <a:endParaRPr lang="en-US" sz="1400"/>
          </a:p>
        </p:txBody>
      </p:sp>
      <p:sp>
        <p:nvSpPr>
          <p:cNvPr id="775906409" name="TextBox 57"/>
          <p:cNvSpPr txBox="1"/>
          <p:nvPr/>
        </p:nvSpPr>
        <p:spPr bwMode="auto">
          <a:xfrm>
            <a:off x="5376243" y="4018937"/>
            <a:ext cx="5257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92400E"/>
                </a:solidFill>
                <a:latin typeface="Calibri"/>
                <a:ea typeface="Calibri"/>
                <a:cs typeface="Calibri"/>
              </a:rPr>
              <a:t>Arêtes </a:t>
            </a:r>
            <a:r>
              <a:rPr lang="en-US" sz="1400">
                <a:solidFill>
                  <a:srgbClr val="92400E"/>
                </a:solidFill>
                <a:latin typeface="Calibri"/>
                <a:ea typeface="Calibri"/>
                <a:cs typeface="Calibri"/>
              </a:rPr>
              <a:t>orientées</a:t>
            </a:r>
            <a:r>
              <a:rPr lang="en-US" sz="1400">
                <a:solidFill>
                  <a:srgbClr val="92400E"/>
                </a:solidFill>
                <a:latin typeface="Calibri"/>
                <a:ea typeface="Calibri"/>
                <a:cs typeface="Calibri"/>
              </a:rPr>
              <a:t>, jamais de cycle.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291010" name="Google Shape;144;p20"/>
          <p:cNvSpPr txBox="1">
            <a:spLocks noGrp="1"/>
          </p:cNvSpPr>
          <p:nvPr>
            <p:ph type="sldNum" idx="12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>
                <a:latin typeface="Times New Roman"/>
                <a:cs typeface="Times New Roman"/>
              </a:rPr>
              <a:t>19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1549224063" name="Text 1"/>
          <p:cNvSpPr/>
          <p:nvPr/>
        </p:nvSpPr>
        <p:spPr bwMode="auto">
          <a:xfrm>
            <a:off x="506761" y="332355"/>
            <a:ext cx="8271478" cy="357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fr-FR" sz="2400" b="1">
                <a:solidFill>
                  <a:srgbClr val="002060"/>
                </a:solidFill>
                <a:latin typeface="+mj-lt"/>
                <a:cs typeface="Times New Roman"/>
              </a:rPr>
              <a:t>Principe</a:t>
            </a:r>
            <a:r>
              <a:rPr lang="fr-FR" sz="2400" b="1" spc="254">
                <a:solidFill>
                  <a:srgbClr val="002060"/>
                </a:solidFill>
                <a:latin typeface="+mj-lt"/>
                <a:cs typeface="Times New Roman"/>
              </a:rPr>
              <a:t> </a:t>
            </a:r>
            <a:r>
              <a:rPr lang="fr-FR" sz="2400" b="1">
                <a:solidFill>
                  <a:srgbClr val="002060"/>
                </a:solidFill>
                <a:latin typeface="+mj-lt"/>
                <a:cs typeface="Times New Roman"/>
              </a:rPr>
              <a:t>de</a:t>
            </a:r>
            <a:r>
              <a:rPr lang="fr-FR" sz="2400" b="1" spc="254">
                <a:solidFill>
                  <a:srgbClr val="002060"/>
                </a:solidFill>
                <a:latin typeface="+mj-lt"/>
                <a:cs typeface="Times New Roman"/>
              </a:rPr>
              <a:t> </a:t>
            </a:r>
            <a:r>
              <a:rPr lang="fr-FR" sz="2400" b="1" spc="-16">
                <a:solidFill>
                  <a:srgbClr val="002060"/>
                </a:solidFill>
                <a:latin typeface="+mj-lt"/>
                <a:cs typeface="Times New Roman"/>
              </a:rPr>
              <a:t>fonctionnement</a:t>
            </a:r>
            <a:endParaRPr lang="en-US" sz="2400" b="1">
              <a:solidFill>
                <a:srgbClr val="002060"/>
              </a:solidFill>
              <a:latin typeface="+mj-lt"/>
              <a:cs typeface="Times New Roman"/>
            </a:endParaRPr>
          </a:p>
        </p:txBody>
      </p:sp>
      <p:sp>
        <p:nvSpPr>
          <p:cNvPr id="1783040040" name="Shape 1"/>
          <p:cNvSpPr/>
          <p:nvPr/>
        </p:nvSpPr>
        <p:spPr bwMode="auto">
          <a:xfrm>
            <a:off x="499078" y="762343"/>
            <a:ext cx="8229600" cy="4571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965465371" name="Shape 4"/>
          <p:cNvSpPr/>
          <p:nvPr/>
        </p:nvSpPr>
        <p:spPr bwMode="auto">
          <a:xfrm>
            <a:off x="723356" y="1864723"/>
            <a:ext cx="2583179" cy="421277"/>
          </a:xfrm>
          <a:prstGeom prst="roundRect">
            <a:avLst>
              <a:gd name="adj" fmla="val 10000"/>
            </a:avLst>
          </a:prstGeom>
          <a:solidFill>
            <a:srgbClr val="1F4068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pPr algn="ctr">
              <a:defRPr/>
            </a:pPr>
            <a:r>
              <a:rPr lang="fr-FR" b="1">
                <a:solidFill>
                  <a:srgbClr val="FFFFFF"/>
                </a:solidFill>
              </a:rPr>
              <a:t>A</a:t>
            </a:r>
            <a:r>
              <a:rPr lang="fr-FR" b="1" spc="77">
                <a:solidFill>
                  <a:srgbClr val="FFFFFF"/>
                </a:solidFill>
              </a:rPr>
              <a:t> </a:t>
            </a:r>
            <a:r>
              <a:rPr lang="fr-FR" b="1" spc="150">
                <a:solidFill>
                  <a:srgbClr val="FFFFFF"/>
                </a:solidFill>
              </a:rPr>
              <a:t>—</a:t>
            </a:r>
            <a:r>
              <a:rPr lang="fr-FR" b="1" spc="87">
                <a:solidFill>
                  <a:srgbClr val="FFFFFF"/>
                </a:solidFill>
              </a:rPr>
              <a:t> </a:t>
            </a:r>
            <a:r>
              <a:rPr lang="fr-FR" b="1" spc="-16">
                <a:solidFill>
                  <a:srgbClr val="FFFFFF"/>
                </a:solidFill>
              </a:rPr>
              <a:t>Lire</a:t>
            </a:r>
            <a:r>
              <a:rPr lang="fr-FR" b="1" spc="87">
                <a:solidFill>
                  <a:srgbClr val="FFFFFF"/>
                </a:solidFill>
              </a:rPr>
              <a:t> </a:t>
            </a:r>
            <a:r>
              <a:rPr lang="fr-FR" b="1" spc="-16">
                <a:solidFill>
                  <a:srgbClr val="FFFFFF"/>
                </a:solidFill>
              </a:rPr>
              <a:t>l’énoncé</a:t>
            </a:r>
            <a:endParaRPr lang="fr-FR" b="1"/>
          </a:p>
        </p:txBody>
      </p:sp>
      <p:sp>
        <p:nvSpPr>
          <p:cNvPr id="1022092027" name="Shape 4"/>
          <p:cNvSpPr/>
          <p:nvPr/>
        </p:nvSpPr>
        <p:spPr bwMode="auto">
          <a:xfrm>
            <a:off x="723356" y="2565970"/>
            <a:ext cx="2583179" cy="421277"/>
          </a:xfrm>
          <a:prstGeom prst="roundRect">
            <a:avLst>
              <a:gd name="adj" fmla="val 10000"/>
            </a:avLst>
          </a:prstGeom>
          <a:solidFill>
            <a:srgbClr val="1F4068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pPr algn="ctr">
              <a:defRPr/>
            </a:pPr>
            <a:endParaRPr lang="fr-FR" b="1"/>
          </a:p>
        </p:txBody>
      </p:sp>
      <p:sp>
        <p:nvSpPr>
          <p:cNvPr id="56662098" name="Shape 4"/>
          <p:cNvSpPr/>
          <p:nvPr/>
        </p:nvSpPr>
        <p:spPr bwMode="auto">
          <a:xfrm>
            <a:off x="723356" y="3286942"/>
            <a:ext cx="2583179" cy="421277"/>
          </a:xfrm>
          <a:prstGeom prst="roundRect">
            <a:avLst>
              <a:gd name="adj" fmla="val 10000"/>
            </a:avLst>
          </a:prstGeom>
          <a:solidFill>
            <a:srgbClr val="1F4068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pPr marR="1271258" algn="ctr">
              <a:defRPr/>
            </a:pPr>
            <a:endParaRPr lang="fr-FR"/>
          </a:p>
        </p:txBody>
      </p:sp>
      <p:sp>
        <p:nvSpPr>
          <p:cNvPr id="919494168" name="Shape 4"/>
          <p:cNvSpPr/>
          <p:nvPr/>
        </p:nvSpPr>
        <p:spPr bwMode="auto">
          <a:xfrm>
            <a:off x="723356" y="4007914"/>
            <a:ext cx="2583179" cy="421277"/>
          </a:xfrm>
          <a:prstGeom prst="roundRect">
            <a:avLst>
              <a:gd name="adj" fmla="val 10000"/>
            </a:avLst>
          </a:prstGeom>
          <a:solidFill>
            <a:srgbClr val="1F4068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pPr marR="1271258" algn="ctr">
              <a:defRPr/>
            </a:pPr>
            <a:endParaRPr lang="fr-FR"/>
          </a:p>
        </p:txBody>
      </p:sp>
      <p:sp>
        <p:nvSpPr>
          <p:cNvPr id="2027229302" name="TextBox 6"/>
          <p:cNvSpPr txBox="1"/>
          <p:nvPr/>
        </p:nvSpPr>
        <p:spPr bwMode="auto">
          <a:xfrm>
            <a:off x="723356" y="2622719"/>
            <a:ext cx="4167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1271258">
              <a:defRPr/>
            </a:pPr>
            <a:r>
              <a:rPr lang="fr-FR">
                <a:solidFill>
                  <a:srgbClr val="FFFFFF"/>
                </a:solidFill>
              </a:rPr>
              <a:t>         </a:t>
            </a:r>
            <a:r>
              <a:rPr lang="fr-FR" b="1">
                <a:solidFill>
                  <a:srgbClr val="FFFFFF"/>
                </a:solidFill>
              </a:rPr>
              <a:t>B</a:t>
            </a:r>
            <a:r>
              <a:rPr lang="fr-FR" b="1" spc="143">
                <a:solidFill>
                  <a:srgbClr val="FFFFFF"/>
                </a:solidFill>
              </a:rPr>
              <a:t> </a:t>
            </a:r>
            <a:r>
              <a:rPr lang="fr-FR" b="1" spc="150">
                <a:solidFill>
                  <a:srgbClr val="FFFFFF"/>
                </a:solidFill>
              </a:rPr>
              <a:t>—</a:t>
            </a:r>
            <a:r>
              <a:rPr lang="fr-FR" b="1" spc="143">
                <a:solidFill>
                  <a:srgbClr val="FFFFFF"/>
                </a:solidFill>
              </a:rPr>
              <a:t> </a:t>
            </a:r>
            <a:r>
              <a:rPr lang="fr-FR" b="1" spc="-16">
                <a:solidFill>
                  <a:srgbClr val="FFFFFF"/>
                </a:solidFill>
              </a:rPr>
              <a:t>Comprendre</a:t>
            </a:r>
            <a:endParaRPr/>
          </a:p>
        </p:txBody>
      </p:sp>
      <p:sp>
        <p:nvSpPr>
          <p:cNvPr id="801043611" name="TextBox 7"/>
          <p:cNvSpPr txBox="1"/>
          <p:nvPr/>
        </p:nvSpPr>
        <p:spPr bwMode="auto">
          <a:xfrm>
            <a:off x="723356" y="3343691"/>
            <a:ext cx="4167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1271258">
              <a:defRPr/>
            </a:pPr>
            <a:r>
              <a:rPr lang="fr-FR">
                <a:solidFill>
                  <a:srgbClr val="FFFFFF"/>
                </a:solidFill>
              </a:rPr>
              <a:t>         </a:t>
            </a:r>
            <a:r>
              <a:rPr lang="fr-FR" b="1">
                <a:solidFill>
                  <a:srgbClr val="FFFFFF"/>
                </a:solidFill>
              </a:rPr>
              <a:t>C</a:t>
            </a:r>
            <a:r>
              <a:rPr lang="fr-FR" b="1" spc="119">
                <a:solidFill>
                  <a:srgbClr val="FFFFFF"/>
                </a:solidFill>
              </a:rPr>
              <a:t> </a:t>
            </a:r>
            <a:r>
              <a:rPr lang="fr-FR" b="1" spc="150">
                <a:solidFill>
                  <a:srgbClr val="FFFFFF"/>
                </a:solidFill>
              </a:rPr>
              <a:t>—</a:t>
            </a:r>
            <a:r>
              <a:rPr lang="fr-FR" b="1" spc="119">
                <a:solidFill>
                  <a:srgbClr val="FFFFFF"/>
                </a:solidFill>
              </a:rPr>
              <a:t> </a:t>
            </a:r>
            <a:r>
              <a:rPr lang="fr-FR" b="1" spc="-16">
                <a:solidFill>
                  <a:srgbClr val="FFFFFF"/>
                </a:solidFill>
              </a:rPr>
              <a:t>Répondre</a:t>
            </a:r>
            <a:endParaRPr lang="fr-FR" b="1"/>
          </a:p>
        </p:txBody>
      </p:sp>
      <p:sp>
        <p:nvSpPr>
          <p:cNvPr id="1817365224" name="TextBox 8"/>
          <p:cNvSpPr txBox="1"/>
          <p:nvPr/>
        </p:nvSpPr>
        <p:spPr bwMode="auto">
          <a:xfrm>
            <a:off x="723356" y="4064663"/>
            <a:ext cx="4167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1271258">
              <a:defRPr/>
            </a:pPr>
            <a:r>
              <a:rPr lang="fr-FR">
                <a:solidFill>
                  <a:srgbClr val="FFFFFF"/>
                </a:solidFill>
              </a:rPr>
              <a:t>         </a:t>
            </a:r>
            <a:r>
              <a:rPr lang="fr-FR" b="1" spc="95">
                <a:solidFill>
                  <a:srgbClr val="FFFFFF"/>
                </a:solidFill>
              </a:rPr>
              <a:t>D</a:t>
            </a:r>
            <a:r>
              <a:rPr lang="fr-FR" b="1" spc="143">
                <a:solidFill>
                  <a:srgbClr val="FFFFFF"/>
                </a:solidFill>
              </a:rPr>
              <a:t> </a:t>
            </a:r>
            <a:r>
              <a:rPr lang="fr-FR" b="1" spc="150">
                <a:solidFill>
                  <a:srgbClr val="FFFFFF"/>
                </a:solidFill>
              </a:rPr>
              <a:t>— </a:t>
            </a:r>
            <a:r>
              <a:rPr lang="fr-FR" b="1" spc="-16">
                <a:solidFill>
                  <a:srgbClr val="FFFFFF"/>
                </a:solidFill>
              </a:rPr>
              <a:t>Remettre</a:t>
            </a:r>
            <a:endParaRPr lang="fr-FR" b="1"/>
          </a:p>
        </p:txBody>
      </p:sp>
      <p:cxnSp>
        <p:nvCxnSpPr>
          <p:cNvPr id="1022136454" name="Straight Arrow Connector 11"/>
          <p:cNvCxnSpPr/>
          <p:nvPr/>
        </p:nvCxnSpPr>
        <p:spPr bwMode="auto">
          <a:xfrm>
            <a:off x="1861457" y="2286000"/>
            <a:ext cx="0" cy="2580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40880429" name="Straight Arrow Connector 13"/>
          <p:cNvCxnSpPr/>
          <p:nvPr/>
        </p:nvCxnSpPr>
        <p:spPr bwMode="auto">
          <a:xfrm>
            <a:off x="1858735" y="2987247"/>
            <a:ext cx="0" cy="2580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491299975" name="Straight Arrow Connector 14"/>
          <p:cNvCxnSpPr/>
          <p:nvPr/>
        </p:nvCxnSpPr>
        <p:spPr bwMode="auto">
          <a:xfrm>
            <a:off x="1858735" y="3708219"/>
            <a:ext cx="0" cy="2580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46111519" name="TextBox 16"/>
          <p:cNvSpPr txBox="1"/>
          <p:nvPr/>
        </p:nvSpPr>
        <p:spPr bwMode="auto">
          <a:xfrm>
            <a:off x="636815" y="123469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CA" sz="1800" b="1">
                <a:solidFill>
                  <a:schemeClr val="tx1"/>
                </a:solidFill>
                <a:latin typeface="+mj-lt"/>
              </a:rPr>
              <a:t>Ordre</a:t>
            </a:r>
            <a:r>
              <a:rPr lang="en-CA" sz="1800" b="1" spc="95">
                <a:solidFill>
                  <a:schemeClr val="tx1"/>
                </a:solidFill>
                <a:latin typeface="+mj-lt"/>
              </a:rPr>
              <a:t> </a:t>
            </a:r>
            <a:r>
              <a:rPr lang="en-CA" sz="1800" b="1" spc="-55">
                <a:solidFill>
                  <a:schemeClr val="tx1"/>
                </a:solidFill>
                <a:latin typeface="+mj-lt"/>
              </a:rPr>
              <a:t>topologique</a:t>
            </a:r>
            <a:r>
              <a:rPr lang="en-CA" sz="1800" b="1" spc="95">
                <a:solidFill>
                  <a:schemeClr val="tx1"/>
                </a:solidFill>
                <a:latin typeface="+mj-lt"/>
              </a:rPr>
              <a:t> </a:t>
            </a:r>
            <a:r>
              <a:rPr lang="en-CA" sz="1800" b="1" spc="221">
                <a:solidFill>
                  <a:schemeClr val="tx1"/>
                </a:solidFill>
                <a:latin typeface="+mj-lt"/>
              </a:rPr>
              <a:t>—</a:t>
            </a:r>
            <a:r>
              <a:rPr lang="en-CA" sz="1800" b="1" spc="95">
                <a:solidFill>
                  <a:schemeClr val="tx1"/>
                </a:solidFill>
                <a:latin typeface="+mj-lt"/>
              </a:rPr>
              <a:t> </a:t>
            </a:r>
            <a:r>
              <a:rPr lang="en-CA" sz="1800" b="1" spc="-16">
                <a:solidFill>
                  <a:schemeClr val="tx1"/>
                </a:solidFill>
                <a:latin typeface="+mj-lt"/>
              </a:rPr>
              <a:t>Exemple</a:t>
            </a:r>
            <a:endParaRPr lang="fr-FR" sz="1800" b="1">
              <a:latin typeface="+mj-lt"/>
            </a:endParaRPr>
          </a:p>
        </p:txBody>
      </p:sp>
      <p:sp>
        <p:nvSpPr>
          <p:cNvPr id="1087593493" name="Shape 6"/>
          <p:cNvSpPr/>
          <p:nvPr/>
        </p:nvSpPr>
        <p:spPr bwMode="auto">
          <a:xfrm>
            <a:off x="6237514" y="1373644"/>
            <a:ext cx="2057400" cy="387441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532459" defTabSz="1449415">
              <a:spcBef>
                <a:spcPts val="403"/>
              </a:spcBef>
              <a:buClrTx/>
              <a:defRPr/>
            </a:pPr>
            <a:endParaRPr lang="fr-FR" sz="16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541121514" name="TextBox 20"/>
          <p:cNvSpPr txBox="1"/>
          <p:nvPr/>
        </p:nvSpPr>
        <p:spPr bwMode="auto">
          <a:xfrm>
            <a:off x="5600700" y="1864723"/>
            <a:ext cx="3298369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4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pc="-16">
                <a:solidFill>
                  <a:srgbClr val="263238"/>
                </a:solidFill>
                <a:latin typeface="Arial MT"/>
                <a:cs typeface="Arial MT"/>
              </a:rPr>
              <a:t>.</a:t>
            </a:r>
            <a:br>
              <a:rPr lang="fr-FR" spc="-16">
                <a:solidFill>
                  <a:srgbClr val="263238"/>
                </a:solidFill>
                <a:latin typeface="Arial MT"/>
                <a:cs typeface="Arial MT"/>
              </a:rPr>
            </a:br>
            <a:endParaRPr lang="fr-FR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1495607483" name="TextBox 22"/>
          <p:cNvSpPr txBox="1"/>
          <p:nvPr/>
        </p:nvSpPr>
        <p:spPr bwMode="auto">
          <a:xfrm>
            <a:off x="6221185" y="141576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9988" defTabSz="1449415">
              <a:spcBef>
                <a:spcPts val="363"/>
              </a:spcBef>
              <a:buClrTx/>
              <a:defRPr/>
            </a:pPr>
            <a:r>
              <a:rPr lang="fr-FR" sz="1400" spc="-40">
                <a:solidFill>
                  <a:srgbClr val="FFFFFF"/>
                </a:solidFill>
                <a:latin typeface="Arial MT"/>
                <a:cs typeface="Arial MT"/>
              </a:rPr>
              <a:t>Dépendances</a:t>
            </a:r>
            <a:endParaRPr lang="fr-FR" sz="140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218479634" name="TextBox 24"/>
          <p:cNvSpPr txBox="1"/>
          <p:nvPr/>
        </p:nvSpPr>
        <p:spPr bwMode="auto">
          <a:xfrm>
            <a:off x="5600699" y="1848032"/>
            <a:ext cx="40576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9517" marR="456968" defTabSz="1449415">
              <a:spcBef>
                <a:spcPts val="386"/>
              </a:spcBef>
              <a:buClrTx/>
              <a:defRPr/>
            </a:pPr>
            <a:r>
              <a:rPr lang="fr-FR" sz="1400" spc="-127">
                <a:solidFill>
                  <a:srgbClr val="263238"/>
                </a:solidFill>
                <a:latin typeface="+mn-lt"/>
                <a:cs typeface="Arial MT"/>
              </a:rPr>
              <a:t>Une</a:t>
            </a:r>
            <a:r>
              <a:rPr lang="fr-FR" sz="1400" spc="8">
                <a:solidFill>
                  <a:srgbClr val="263238"/>
                </a:solidFill>
                <a:latin typeface="+mn-lt"/>
                <a:cs typeface="Arial MT"/>
              </a:rPr>
              <a:t> </a:t>
            </a:r>
            <a:r>
              <a:rPr lang="fr-FR" sz="1400" spc="-87">
                <a:solidFill>
                  <a:srgbClr val="263238"/>
                </a:solidFill>
                <a:latin typeface="+mn-lt"/>
                <a:cs typeface="Arial MT"/>
              </a:rPr>
              <a:t>tâche</a:t>
            </a:r>
            <a:r>
              <a:rPr lang="fr-FR" sz="1400" spc="16">
                <a:solidFill>
                  <a:srgbClr val="263238"/>
                </a:solidFill>
                <a:latin typeface="+mn-lt"/>
                <a:cs typeface="Arial MT"/>
              </a:rPr>
              <a:t> </a:t>
            </a:r>
            <a:r>
              <a:rPr lang="fr-FR" sz="1400" spc="-127">
                <a:solidFill>
                  <a:srgbClr val="263238"/>
                </a:solidFill>
                <a:latin typeface="+mn-lt"/>
                <a:cs typeface="Arial MT"/>
              </a:rPr>
              <a:t>ne</a:t>
            </a:r>
            <a:r>
              <a:rPr lang="fr-FR" sz="1400" spc="8">
                <a:solidFill>
                  <a:srgbClr val="263238"/>
                </a:solidFill>
                <a:latin typeface="+mn-lt"/>
                <a:cs typeface="Arial MT"/>
              </a:rPr>
              <a:t> </a:t>
            </a:r>
            <a:r>
              <a:rPr lang="fr-FR" sz="1400" spc="-127">
                <a:solidFill>
                  <a:srgbClr val="263238"/>
                </a:solidFill>
                <a:latin typeface="+mn-lt"/>
                <a:cs typeface="Arial MT"/>
              </a:rPr>
              <a:t>démarre</a:t>
            </a:r>
            <a:r>
              <a:rPr lang="fr-FR" sz="1400" spc="16">
                <a:solidFill>
                  <a:srgbClr val="263238"/>
                </a:solidFill>
                <a:latin typeface="+mn-lt"/>
                <a:cs typeface="Arial MT"/>
              </a:rPr>
              <a:t> </a:t>
            </a:r>
            <a:r>
              <a:rPr lang="fr-FR" sz="1400" spc="-110">
                <a:solidFill>
                  <a:srgbClr val="263238"/>
                </a:solidFill>
                <a:latin typeface="+mn-lt"/>
                <a:cs typeface="Arial MT"/>
              </a:rPr>
              <a:t>que</a:t>
            </a:r>
            <a:r>
              <a:rPr lang="fr-FR" sz="1400" spc="8">
                <a:solidFill>
                  <a:srgbClr val="263238"/>
                </a:solidFill>
                <a:latin typeface="+mn-lt"/>
                <a:cs typeface="Arial MT"/>
              </a:rPr>
              <a:t> </a:t>
            </a:r>
            <a:r>
              <a:rPr lang="fr-FR" sz="1400" spc="-40">
                <a:solidFill>
                  <a:srgbClr val="263238"/>
                </a:solidFill>
                <a:latin typeface="+mn-lt"/>
                <a:cs typeface="Arial MT"/>
              </a:rPr>
              <a:t>si </a:t>
            </a:r>
            <a:r>
              <a:rPr lang="fr-FR" sz="1400">
                <a:solidFill>
                  <a:srgbClr val="263238"/>
                </a:solidFill>
                <a:latin typeface="+mn-lt"/>
              </a:rPr>
              <a:t>toutes</a:t>
            </a:r>
            <a:r>
              <a:rPr lang="fr-FR" sz="1400" spc="-16">
                <a:solidFill>
                  <a:srgbClr val="263238"/>
                </a:solidFill>
                <a:latin typeface="+mn-lt"/>
              </a:rPr>
              <a:t> </a:t>
            </a:r>
            <a:r>
              <a:rPr lang="fr-FR" sz="1400" spc="-135">
                <a:solidFill>
                  <a:srgbClr val="263238"/>
                </a:solidFill>
                <a:latin typeface="+mn-lt"/>
              </a:rPr>
              <a:t>ses</a:t>
            </a:r>
            <a:r>
              <a:rPr lang="fr-FR" sz="1400" spc="8">
                <a:solidFill>
                  <a:srgbClr val="263238"/>
                </a:solidFill>
                <a:latin typeface="+mn-lt"/>
              </a:rPr>
              <a:t> </a:t>
            </a:r>
            <a:r>
              <a:rPr lang="fr-FR" sz="1400" spc="-77">
                <a:solidFill>
                  <a:srgbClr val="263238"/>
                </a:solidFill>
                <a:latin typeface="+mn-lt"/>
              </a:rPr>
              <a:t>dépendances</a:t>
            </a:r>
            <a:r>
              <a:rPr lang="fr-FR" sz="1400" spc="-55">
                <a:solidFill>
                  <a:srgbClr val="263238"/>
                </a:solidFill>
                <a:latin typeface="+mn-lt"/>
              </a:rPr>
              <a:t> </a:t>
            </a:r>
            <a:r>
              <a:rPr lang="fr-FR" sz="1400" spc="-87">
                <a:solidFill>
                  <a:srgbClr val="263238"/>
                </a:solidFill>
                <a:latin typeface="+mn-lt"/>
                <a:cs typeface="Arial MT"/>
              </a:rPr>
              <a:t>sont </a:t>
            </a:r>
            <a:r>
              <a:rPr lang="fr-FR" sz="1400" spc="-16">
                <a:solidFill>
                  <a:srgbClr val="263238"/>
                </a:solidFill>
                <a:latin typeface="+mn-lt"/>
                <a:cs typeface="Arial MT"/>
              </a:rPr>
              <a:t>terminées.</a:t>
            </a:r>
            <a:endParaRPr/>
          </a:p>
        </p:txBody>
      </p:sp>
      <p:sp>
        <p:nvSpPr>
          <p:cNvPr id="895988653" name="Shape 6"/>
          <p:cNvSpPr/>
          <p:nvPr/>
        </p:nvSpPr>
        <p:spPr bwMode="auto">
          <a:xfrm>
            <a:off x="6253843" y="2553194"/>
            <a:ext cx="2057400" cy="387441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532459" defTabSz="1449415">
              <a:spcBef>
                <a:spcPts val="403"/>
              </a:spcBef>
              <a:buClrTx/>
              <a:defRPr/>
            </a:pPr>
            <a:endParaRPr lang="fr-FR" sz="16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22439971" name="TextBox 27"/>
          <p:cNvSpPr txBox="1"/>
          <p:nvPr/>
        </p:nvSpPr>
        <p:spPr bwMode="auto">
          <a:xfrm>
            <a:off x="6254788" y="2593025"/>
            <a:ext cx="53965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9988" defTabSz="1449415">
              <a:spcBef>
                <a:spcPts val="254"/>
              </a:spcBef>
              <a:buClrTx/>
              <a:defRPr/>
            </a:pPr>
            <a:r>
              <a:rPr lang="fr-FR" sz="1400" spc="-16">
                <a:solidFill>
                  <a:srgbClr val="FFFFFF"/>
                </a:solidFill>
                <a:latin typeface="Arial MT"/>
                <a:cs typeface="Arial MT"/>
              </a:rPr>
              <a:t>Topologique</a:t>
            </a:r>
            <a:endParaRPr lang="fr-FR" sz="140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471324887" name="TextBox 29"/>
          <p:cNvSpPr txBox="1"/>
          <p:nvPr/>
        </p:nvSpPr>
        <p:spPr bwMode="auto">
          <a:xfrm>
            <a:off x="5600698" y="3041591"/>
            <a:ext cx="3298369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4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pc="-16">
                <a:solidFill>
                  <a:srgbClr val="263238"/>
                </a:solidFill>
                <a:latin typeface="Arial MT"/>
                <a:cs typeface="Arial MT"/>
              </a:rPr>
              <a:t>.</a:t>
            </a:r>
            <a:br>
              <a:rPr lang="fr-FR" spc="-16">
                <a:solidFill>
                  <a:srgbClr val="263238"/>
                </a:solidFill>
                <a:latin typeface="Arial MT"/>
                <a:cs typeface="Arial MT"/>
              </a:rPr>
            </a:br>
            <a:endParaRPr lang="fr-FR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1629185745" name="TextBox 30"/>
          <p:cNvSpPr txBox="1"/>
          <p:nvPr/>
        </p:nvSpPr>
        <p:spPr bwMode="auto">
          <a:xfrm>
            <a:off x="5600697" y="4176806"/>
            <a:ext cx="3298369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4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pc="-16">
                <a:solidFill>
                  <a:srgbClr val="263238"/>
                </a:solidFill>
                <a:latin typeface="Arial MT"/>
                <a:cs typeface="Arial MT"/>
              </a:rPr>
              <a:t>.</a:t>
            </a:r>
            <a:br>
              <a:rPr lang="fr-FR" spc="-16">
                <a:solidFill>
                  <a:srgbClr val="263238"/>
                </a:solidFill>
                <a:latin typeface="Arial MT"/>
                <a:cs typeface="Arial MT"/>
              </a:rPr>
            </a:br>
            <a:endParaRPr lang="fr-FR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198213076" name="TextBox 32"/>
          <p:cNvSpPr txBox="1"/>
          <p:nvPr/>
        </p:nvSpPr>
        <p:spPr bwMode="auto">
          <a:xfrm>
            <a:off x="5600698" y="3066140"/>
            <a:ext cx="58252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9517" defTabSz="1449415">
              <a:spcBef>
                <a:spcPts val="386"/>
              </a:spcBef>
              <a:buClrTx/>
              <a:defRPr/>
            </a:pPr>
            <a:r>
              <a:rPr lang="fr-FR" sz="1400" spc="-55">
                <a:solidFill>
                  <a:srgbClr val="263238"/>
                </a:solidFill>
                <a:latin typeface="+mn-lt"/>
                <a:cs typeface="Arial MT"/>
              </a:rPr>
              <a:t>Traitement</a:t>
            </a:r>
            <a:r>
              <a:rPr lang="fr-FR" sz="1400" spc="-77">
                <a:solidFill>
                  <a:srgbClr val="263238"/>
                </a:solidFill>
                <a:latin typeface="+mn-lt"/>
                <a:cs typeface="Arial MT"/>
              </a:rPr>
              <a:t> </a:t>
            </a:r>
            <a:r>
              <a:rPr lang="fr-FR" sz="1400" spc="-127">
                <a:solidFill>
                  <a:srgbClr val="263238"/>
                </a:solidFill>
                <a:latin typeface="+mn-lt"/>
                <a:cs typeface="Arial MT"/>
              </a:rPr>
              <a:t>selon</a:t>
            </a:r>
            <a:r>
              <a:rPr lang="fr-FR" sz="1400" spc="-8">
                <a:solidFill>
                  <a:srgbClr val="263238"/>
                </a:solidFill>
                <a:latin typeface="+mn-lt"/>
                <a:cs typeface="Arial MT"/>
              </a:rPr>
              <a:t> </a:t>
            </a:r>
            <a:r>
              <a:rPr lang="fr-FR" sz="1400">
                <a:solidFill>
                  <a:srgbClr val="263238"/>
                </a:solidFill>
                <a:latin typeface="+mn-lt"/>
                <a:cs typeface="Arial MT"/>
              </a:rPr>
              <a:t>un</a:t>
            </a:r>
            <a:r>
              <a:rPr lang="fr-FR" sz="1400" spc="-71">
                <a:solidFill>
                  <a:srgbClr val="263238"/>
                </a:solidFill>
                <a:latin typeface="+mn-lt"/>
                <a:cs typeface="Arial MT"/>
              </a:rPr>
              <a:t> </a:t>
            </a:r>
            <a:r>
              <a:rPr lang="fr-FR" sz="1400" spc="-40">
                <a:solidFill>
                  <a:srgbClr val="263238"/>
                </a:solidFill>
                <a:latin typeface="+mn-lt"/>
              </a:rPr>
              <a:t>ordre</a:t>
            </a:r>
            <a:r>
              <a:rPr lang="fr-FR" sz="1400" spc="16">
                <a:solidFill>
                  <a:srgbClr val="263238"/>
                </a:solidFill>
                <a:latin typeface="+mn-lt"/>
              </a:rPr>
              <a:t> </a:t>
            </a:r>
            <a:r>
              <a:rPr lang="fr-FR" sz="1400" spc="-16">
                <a:solidFill>
                  <a:srgbClr val="263238"/>
                </a:solidFill>
                <a:latin typeface="+mn-lt"/>
              </a:rPr>
              <a:t>logique</a:t>
            </a:r>
            <a:endParaRPr lang="fr-FR" sz="1400">
              <a:solidFill>
                <a:sysClr val="windowText" lastClr="000000"/>
              </a:solidFill>
              <a:latin typeface="+mn-lt"/>
            </a:endParaRPr>
          </a:p>
          <a:p>
            <a:pPr marL="79517" defTabSz="1449415">
              <a:spcBef>
                <a:spcPts val="8"/>
              </a:spcBef>
              <a:buClrTx/>
              <a:defRPr/>
            </a:pPr>
            <a:r>
              <a:rPr lang="fr-FR" sz="1400" spc="-16">
                <a:solidFill>
                  <a:srgbClr val="263238"/>
                </a:solidFill>
                <a:latin typeface="+mn-lt"/>
                <a:cs typeface="Arial MT"/>
              </a:rPr>
              <a:t>strict</a:t>
            </a:r>
            <a:r>
              <a:rPr lang="fr-FR" sz="1400" spc="-16">
                <a:solidFill>
                  <a:srgbClr val="263238"/>
                </a:solidFill>
                <a:latin typeface="Arial MT"/>
                <a:cs typeface="Arial MT"/>
              </a:rPr>
              <a:t>.</a:t>
            </a:r>
            <a:endParaRPr lang="fr-FR" sz="140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301599822" name="Shape 6"/>
          <p:cNvSpPr/>
          <p:nvPr/>
        </p:nvSpPr>
        <p:spPr bwMode="auto">
          <a:xfrm>
            <a:off x="6253843" y="3695108"/>
            <a:ext cx="2057400" cy="387441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532459" defTabSz="1449415">
              <a:spcBef>
                <a:spcPts val="403"/>
              </a:spcBef>
              <a:buClrTx/>
              <a:defRPr/>
            </a:pPr>
            <a:endParaRPr lang="fr-FR" sz="16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653277317" name="TextBox 35"/>
          <p:cNvSpPr txBox="1"/>
          <p:nvPr/>
        </p:nvSpPr>
        <p:spPr bwMode="auto">
          <a:xfrm>
            <a:off x="5796636" y="4238125"/>
            <a:ext cx="5396592" cy="369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449415">
              <a:lnSpc>
                <a:spcPts val="2449"/>
              </a:lnSpc>
              <a:buClrTx/>
              <a:defRPr/>
            </a:pPr>
            <a:r>
              <a:rPr lang="fr-FR" sz="1400" spc="-87">
                <a:solidFill>
                  <a:srgbClr val="FFFFFF"/>
                </a:solidFill>
                <a:latin typeface="+mn-lt"/>
                <a:cs typeface="Arial MT"/>
              </a:rPr>
              <a:t>   </a:t>
            </a:r>
            <a:r>
              <a:rPr lang="en-US">
                <a:solidFill>
                  <a:schemeClr val="accent6">
                    <a:lumMod val="10000"/>
                  </a:schemeClr>
                </a:solidFill>
                <a:latin typeface="+mn-lt"/>
                <a:ea typeface="Calibri"/>
                <a:cs typeface="Calibri"/>
              </a:rPr>
              <a:t>Lire → </a:t>
            </a:r>
            <a:r>
              <a:rPr lang="en-US">
                <a:solidFill>
                  <a:schemeClr val="accent6">
                    <a:lumMod val="10000"/>
                  </a:schemeClr>
                </a:solidFill>
                <a:latin typeface="+mn-lt"/>
                <a:ea typeface="Calibri"/>
                <a:cs typeface="Calibri"/>
              </a:rPr>
              <a:t>comprendre</a:t>
            </a:r>
            <a:r>
              <a:rPr lang="en-US">
                <a:solidFill>
                  <a:schemeClr val="accent6">
                    <a:lumMod val="10000"/>
                  </a:schemeClr>
                </a:solidFill>
                <a:latin typeface="+mn-lt"/>
                <a:ea typeface="Calibri"/>
                <a:cs typeface="Calibri"/>
              </a:rPr>
              <a:t> → </a:t>
            </a:r>
            <a:r>
              <a:rPr lang="en-US">
                <a:solidFill>
                  <a:schemeClr val="accent6">
                    <a:lumMod val="10000"/>
                  </a:schemeClr>
                </a:solidFill>
                <a:latin typeface="+mn-lt"/>
                <a:ea typeface="Calibri"/>
                <a:cs typeface="Calibri"/>
              </a:rPr>
              <a:t>répondre</a:t>
            </a:r>
            <a:endParaRPr lang="en-US">
              <a:solidFill>
                <a:schemeClr val="accent6">
                  <a:lumMod val="10000"/>
                </a:schemeClr>
              </a:solidFill>
              <a:latin typeface="+mn-lt"/>
            </a:endParaRPr>
          </a:p>
        </p:txBody>
      </p:sp>
      <p:sp>
        <p:nvSpPr>
          <p:cNvPr id="954479627" name="TextBox 37"/>
          <p:cNvSpPr txBox="1"/>
          <p:nvPr/>
        </p:nvSpPr>
        <p:spPr bwMode="auto">
          <a:xfrm>
            <a:off x="6651852" y="3690228"/>
            <a:ext cx="5825218" cy="364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449415">
              <a:lnSpc>
                <a:spcPts val="2449"/>
              </a:lnSpc>
              <a:buClrTx/>
              <a:defRPr/>
            </a:pPr>
            <a:r>
              <a:rPr lang="fr-FR" sz="1400" spc="-87">
                <a:solidFill>
                  <a:srgbClr val="FFFFFF"/>
                </a:solidFill>
                <a:latin typeface="Arial MT"/>
                <a:cs typeface="Arial MT"/>
              </a:rPr>
              <a:t>     Analogie</a:t>
            </a:r>
            <a:r>
              <a:rPr lang="fr-FR" sz="1400" spc="-62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endParaRPr lang="fr-FR" sz="140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401812" name="Google Shape;144;p20"/>
          <p:cNvSpPr txBox="1">
            <a:spLocks noGrp="1"/>
          </p:cNvSpPr>
          <p:nvPr>
            <p:ph type="sldNum" idx="12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>
                <a:latin typeface="Times New Roman"/>
                <a:cs typeface="Times New Roman"/>
              </a:rPr>
              <a:t>20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973726177" name="Text 1"/>
          <p:cNvSpPr/>
          <p:nvPr/>
        </p:nvSpPr>
        <p:spPr bwMode="auto">
          <a:xfrm>
            <a:off x="499078" y="114300"/>
            <a:ext cx="83210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fr-FR" sz="2400" b="1">
                <a:solidFill>
                  <a:srgbClr val="002060"/>
                </a:solidFill>
                <a:latin typeface="+mn-lt"/>
                <a:cs typeface="Times New Roman"/>
              </a:rPr>
              <a:t>Propriétés</a:t>
            </a:r>
            <a:r>
              <a:rPr lang="fr-FR" sz="2400" b="1" spc="221">
                <a:solidFill>
                  <a:srgbClr val="002060"/>
                </a:solidFill>
                <a:latin typeface="+mn-lt"/>
                <a:cs typeface="Times New Roman"/>
              </a:rPr>
              <a:t> </a:t>
            </a:r>
            <a:r>
              <a:rPr lang="fr-FR" sz="2400" b="1" spc="-16">
                <a:solidFill>
                  <a:srgbClr val="002060"/>
                </a:solidFill>
                <a:latin typeface="+mn-lt"/>
                <a:cs typeface="Times New Roman"/>
              </a:rPr>
              <a:t>importantes</a:t>
            </a:r>
            <a:endParaRPr lang="en-US" sz="2400" b="1">
              <a:solidFill>
                <a:srgbClr val="002060"/>
              </a:solidFill>
              <a:latin typeface="+mn-lt"/>
              <a:cs typeface="Times New Roman"/>
            </a:endParaRPr>
          </a:p>
        </p:txBody>
      </p:sp>
      <p:sp>
        <p:nvSpPr>
          <p:cNvPr id="316581045" name="Shape 1"/>
          <p:cNvSpPr/>
          <p:nvPr/>
        </p:nvSpPr>
        <p:spPr bwMode="auto">
          <a:xfrm>
            <a:off x="499078" y="762343"/>
            <a:ext cx="8229600" cy="4571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grpSp>
        <p:nvGrpSpPr>
          <p:cNvPr id="2122725395" name="object 3"/>
          <p:cNvGrpSpPr/>
          <p:nvPr/>
        </p:nvGrpSpPr>
        <p:grpSpPr bwMode="auto">
          <a:xfrm>
            <a:off x="1035298" y="1614061"/>
            <a:ext cx="1046818" cy="1046818"/>
            <a:chOff x="706864" y="750857"/>
            <a:chExt cx="660400" cy="660400"/>
          </a:xfrm>
        </p:grpSpPr>
        <p:sp>
          <p:nvSpPr>
            <p:cNvPr id="4" name="object 4"/>
            <p:cNvSpPr/>
            <p:nvPr/>
          </p:nvSpPr>
          <p:spPr bwMode="auto">
            <a:xfrm>
              <a:off x="706864" y="750857"/>
              <a:ext cx="660400" cy="660400"/>
            </a:xfrm>
            <a:custGeom>
              <a:avLst/>
              <a:gdLst/>
              <a:ahLst/>
              <a:cxnLst/>
              <a:rect l="l" t="t" r="r" b="b"/>
              <a:pathLst>
                <a:path w="660400" h="660400" fill="norm" stroke="1" extrusionOk="0">
                  <a:moveTo>
                    <a:pt x="329925" y="0"/>
                  </a:moveTo>
                  <a:lnTo>
                    <a:pt x="281170" y="3577"/>
                  </a:lnTo>
                  <a:lnTo>
                    <a:pt x="234637" y="13968"/>
                  </a:lnTo>
                  <a:lnTo>
                    <a:pt x="190835" y="30663"/>
                  </a:lnTo>
                  <a:lnTo>
                    <a:pt x="150276" y="53152"/>
                  </a:lnTo>
                  <a:lnTo>
                    <a:pt x="113469" y="80924"/>
                  </a:lnTo>
                  <a:lnTo>
                    <a:pt x="80924" y="113469"/>
                  </a:lnTo>
                  <a:lnTo>
                    <a:pt x="53152" y="150276"/>
                  </a:lnTo>
                  <a:lnTo>
                    <a:pt x="30663" y="190835"/>
                  </a:lnTo>
                  <a:lnTo>
                    <a:pt x="13968" y="234637"/>
                  </a:lnTo>
                  <a:lnTo>
                    <a:pt x="3577" y="281170"/>
                  </a:lnTo>
                  <a:lnTo>
                    <a:pt x="0" y="329925"/>
                  </a:lnTo>
                  <a:lnTo>
                    <a:pt x="3577" y="378679"/>
                  </a:lnTo>
                  <a:lnTo>
                    <a:pt x="13968" y="425212"/>
                  </a:lnTo>
                  <a:lnTo>
                    <a:pt x="30663" y="469014"/>
                  </a:lnTo>
                  <a:lnTo>
                    <a:pt x="53152" y="509573"/>
                  </a:lnTo>
                  <a:lnTo>
                    <a:pt x="80924" y="546381"/>
                  </a:lnTo>
                  <a:lnTo>
                    <a:pt x="113469" y="578925"/>
                  </a:lnTo>
                  <a:lnTo>
                    <a:pt x="150276" y="606697"/>
                  </a:lnTo>
                  <a:lnTo>
                    <a:pt x="190835" y="629186"/>
                  </a:lnTo>
                  <a:lnTo>
                    <a:pt x="234637" y="645881"/>
                  </a:lnTo>
                  <a:lnTo>
                    <a:pt x="281170" y="656272"/>
                  </a:lnTo>
                  <a:lnTo>
                    <a:pt x="329925" y="659850"/>
                  </a:lnTo>
                  <a:lnTo>
                    <a:pt x="378679" y="656272"/>
                  </a:lnTo>
                  <a:lnTo>
                    <a:pt x="425212" y="645881"/>
                  </a:lnTo>
                  <a:lnTo>
                    <a:pt x="469014" y="629186"/>
                  </a:lnTo>
                  <a:lnTo>
                    <a:pt x="509573" y="606697"/>
                  </a:lnTo>
                  <a:lnTo>
                    <a:pt x="546381" y="578925"/>
                  </a:lnTo>
                  <a:lnTo>
                    <a:pt x="578925" y="546381"/>
                  </a:lnTo>
                  <a:lnTo>
                    <a:pt x="606697" y="509573"/>
                  </a:lnTo>
                  <a:lnTo>
                    <a:pt x="629186" y="469014"/>
                  </a:lnTo>
                  <a:lnTo>
                    <a:pt x="645881" y="425212"/>
                  </a:lnTo>
                  <a:lnTo>
                    <a:pt x="656272" y="378679"/>
                  </a:lnTo>
                  <a:lnTo>
                    <a:pt x="659850" y="329925"/>
                  </a:lnTo>
                  <a:lnTo>
                    <a:pt x="656272" y="281170"/>
                  </a:lnTo>
                  <a:lnTo>
                    <a:pt x="645881" y="234637"/>
                  </a:lnTo>
                  <a:lnTo>
                    <a:pt x="629186" y="190835"/>
                  </a:lnTo>
                  <a:lnTo>
                    <a:pt x="606697" y="150276"/>
                  </a:lnTo>
                  <a:lnTo>
                    <a:pt x="578925" y="113469"/>
                  </a:lnTo>
                  <a:lnTo>
                    <a:pt x="546381" y="80924"/>
                  </a:lnTo>
                  <a:lnTo>
                    <a:pt x="509573" y="53152"/>
                  </a:lnTo>
                  <a:lnTo>
                    <a:pt x="469014" y="30663"/>
                  </a:lnTo>
                  <a:lnTo>
                    <a:pt x="425212" y="13968"/>
                  </a:lnTo>
                  <a:lnTo>
                    <a:pt x="378679" y="3577"/>
                  </a:lnTo>
                  <a:lnTo>
                    <a:pt x="329925" y="0"/>
                  </a:lnTo>
                  <a:close/>
                </a:path>
              </a:pathLst>
            </a:custGeom>
            <a:solidFill>
              <a:srgbClr val="C52727"/>
            </a:solidFill>
          </p:spPr>
          <p:txBody>
            <a:bodyPr wrap="square" lIns="0" tIns="0" rIns="0" bIns="0" rtlCol="0"/>
            <a:lstStyle/>
            <a:p>
              <a:pPr defTabSz="1449415">
                <a:buClrTx/>
                <a:defRPr/>
              </a:pPr>
              <a:endParaRPr sz="2850">
                <a:solidFill>
                  <a:sysClr val="windowText" lastClr="000000"/>
                </a:solidFill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3"/>
            <a:stretch/>
          </p:blipFill>
          <p:spPr bwMode="auto">
            <a:xfrm>
              <a:off x="930643" y="975563"/>
              <a:ext cx="212725" cy="212725"/>
            </a:xfrm>
            <a:prstGeom prst="rect">
              <a:avLst/>
            </a:prstGeom>
          </p:spPr>
        </p:pic>
      </p:grpSp>
      <p:grpSp>
        <p:nvGrpSpPr>
          <p:cNvPr id="1842774749" name="object 7"/>
          <p:cNvGrpSpPr/>
          <p:nvPr/>
        </p:nvGrpSpPr>
        <p:grpSpPr bwMode="auto">
          <a:xfrm>
            <a:off x="4012858" y="1614061"/>
            <a:ext cx="1118283" cy="1118283"/>
            <a:chOff x="2527266" y="750867"/>
            <a:chExt cx="705485" cy="705485"/>
          </a:xfrm>
        </p:grpSpPr>
        <p:sp>
          <p:nvSpPr>
            <p:cNvPr id="7" name="object 8"/>
            <p:cNvSpPr/>
            <p:nvPr/>
          </p:nvSpPr>
          <p:spPr bwMode="auto">
            <a:xfrm>
              <a:off x="2527266" y="750867"/>
              <a:ext cx="705485" cy="705485"/>
            </a:xfrm>
            <a:custGeom>
              <a:avLst/>
              <a:gdLst/>
              <a:ahLst/>
              <a:cxnLst/>
              <a:rect l="l" t="t" r="r" b="b"/>
              <a:pathLst>
                <a:path w="705485" h="705485" fill="norm" stroke="1" extrusionOk="0">
                  <a:moveTo>
                    <a:pt x="352737" y="0"/>
                  </a:moveTo>
                  <a:lnTo>
                    <a:pt x="304872" y="3220"/>
                  </a:lnTo>
                  <a:lnTo>
                    <a:pt x="258965" y="12599"/>
                  </a:lnTo>
                  <a:lnTo>
                    <a:pt x="215435" y="27719"/>
                  </a:lnTo>
                  <a:lnTo>
                    <a:pt x="174703" y="48158"/>
                  </a:lnTo>
                  <a:lnTo>
                    <a:pt x="137189" y="73496"/>
                  </a:lnTo>
                  <a:lnTo>
                    <a:pt x="103313" y="103313"/>
                  </a:lnTo>
                  <a:lnTo>
                    <a:pt x="73496" y="137189"/>
                  </a:lnTo>
                  <a:lnTo>
                    <a:pt x="48158" y="174703"/>
                  </a:lnTo>
                  <a:lnTo>
                    <a:pt x="27719" y="215435"/>
                  </a:lnTo>
                  <a:lnTo>
                    <a:pt x="12599" y="258965"/>
                  </a:lnTo>
                  <a:lnTo>
                    <a:pt x="3220" y="304872"/>
                  </a:lnTo>
                  <a:lnTo>
                    <a:pt x="0" y="352737"/>
                  </a:lnTo>
                  <a:lnTo>
                    <a:pt x="3220" y="400602"/>
                  </a:lnTo>
                  <a:lnTo>
                    <a:pt x="12599" y="446510"/>
                  </a:lnTo>
                  <a:lnTo>
                    <a:pt x="27719" y="490039"/>
                  </a:lnTo>
                  <a:lnTo>
                    <a:pt x="48158" y="530772"/>
                  </a:lnTo>
                  <a:lnTo>
                    <a:pt x="73496" y="568286"/>
                  </a:lnTo>
                  <a:lnTo>
                    <a:pt x="103313" y="602161"/>
                  </a:lnTo>
                  <a:lnTo>
                    <a:pt x="137189" y="631978"/>
                  </a:lnTo>
                  <a:lnTo>
                    <a:pt x="174703" y="657316"/>
                  </a:lnTo>
                  <a:lnTo>
                    <a:pt x="215435" y="677755"/>
                  </a:lnTo>
                  <a:lnTo>
                    <a:pt x="258965" y="692875"/>
                  </a:lnTo>
                  <a:lnTo>
                    <a:pt x="304872" y="702255"/>
                  </a:lnTo>
                  <a:lnTo>
                    <a:pt x="352737" y="705475"/>
                  </a:lnTo>
                  <a:lnTo>
                    <a:pt x="400602" y="702255"/>
                  </a:lnTo>
                  <a:lnTo>
                    <a:pt x="446510" y="692875"/>
                  </a:lnTo>
                  <a:lnTo>
                    <a:pt x="490039" y="677755"/>
                  </a:lnTo>
                  <a:lnTo>
                    <a:pt x="530772" y="657316"/>
                  </a:lnTo>
                  <a:lnTo>
                    <a:pt x="568286" y="631978"/>
                  </a:lnTo>
                  <a:lnTo>
                    <a:pt x="602161" y="602161"/>
                  </a:lnTo>
                  <a:lnTo>
                    <a:pt x="631978" y="568286"/>
                  </a:lnTo>
                  <a:lnTo>
                    <a:pt x="657316" y="530772"/>
                  </a:lnTo>
                  <a:lnTo>
                    <a:pt x="677755" y="490039"/>
                  </a:lnTo>
                  <a:lnTo>
                    <a:pt x="692875" y="446510"/>
                  </a:lnTo>
                  <a:lnTo>
                    <a:pt x="702255" y="400602"/>
                  </a:lnTo>
                  <a:lnTo>
                    <a:pt x="705475" y="352737"/>
                  </a:lnTo>
                  <a:lnTo>
                    <a:pt x="702255" y="304872"/>
                  </a:lnTo>
                  <a:lnTo>
                    <a:pt x="692875" y="258965"/>
                  </a:lnTo>
                  <a:lnTo>
                    <a:pt x="677755" y="215435"/>
                  </a:lnTo>
                  <a:lnTo>
                    <a:pt x="657316" y="174703"/>
                  </a:lnTo>
                  <a:lnTo>
                    <a:pt x="631978" y="137189"/>
                  </a:lnTo>
                  <a:lnTo>
                    <a:pt x="602161" y="103313"/>
                  </a:lnTo>
                  <a:lnTo>
                    <a:pt x="568286" y="73496"/>
                  </a:lnTo>
                  <a:lnTo>
                    <a:pt x="530772" y="48158"/>
                  </a:lnTo>
                  <a:lnTo>
                    <a:pt x="490039" y="27719"/>
                  </a:lnTo>
                  <a:lnTo>
                    <a:pt x="446510" y="12599"/>
                  </a:lnTo>
                  <a:lnTo>
                    <a:pt x="400602" y="3220"/>
                  </a:lnTo>
                  <a:lnTo>
                    <a:pt x="352737" y="0"/>
                  </a:lnTo>
                  <a:close/>
                </a:path>
              </a:pathLst>
            </a:custGeom>
            <a:solidFill>
              <a:srgbClr val="0091EA"/>
            </a:solidFill>
          </p:spPr>
          <p:txBody>
            <a:bodyPr wrap="square" lIns="0" tIns="0" rIns="0" bIns="0" rtlCol="0"/>
            <a:lstStyle/>
            <a:p>
              <a:pPr defTabSz="1449415">
                <a:buClrTx/>
                <a:defRPr/>
              </a:pPr>
              <a:endParaRPr sz="2850">
                <a:solidFill>
                  <a:sysClr val="windowText" lastClr="000000"/>
                </a:solidFill>
              </a:endParaRPr>
            </a:p>
          </p:txBody>
        </p:sp>
        <p:pic>
          <p:nvPicPr>
            <p:cNvPr id="8" name="object 9"/>
            <p:cNvPicPr/>
            <p:nvPr/>
          </p:nvPicPr>
          <p:blipFill>
            <a:blip r:embed="rId4"/>
            <a:stretch/>
          </p:blipFill>
          <p:spPr bwMode="auto">
            <a:xfrm>
              <a:off x="2746546" y="1019471"/>
              <a:ext cx="276225" cy="219074"/>
            </a:xfrm>
            <a:prstGeom prst="rect">
              <a:avLst/>
            </a:prstGeom>
          </p:spPr>
        </p:pic>
      </p:grpSp>
      <p:grpSp>
        <p:nvGrpSpPr>
          <p:cNvPr id="418292373" name="object 11"/>
          <p:cNvGrpSpPr/>
          <p:nvPr/>
        </p:nvGrpSpPr>
        <p:grpSpPr bwMode="auto">
          <a:xfrm>
            <a:off x="6909159" y="1659515"/>
            <a:ext cx="1018634" cy="1018634"/>
            <a:chOff x="4402054" y="750867"/>
            <a:chExt cx="642620" cy="642620"/>
          </a:xfrm>
        </p:grpSpPr>
        <p:sp>
          <p:nvSpPr>
            <p:cNvPr id="10" name="object 12"/>
            <p:cNvSpPr/>
            <p:nvPr/>
          </p:nvSpPr>
          <p:spPr bwMode="auto">
            <a:xfrm>
              <a:off x="4402054" y="750867"/>
              <a:ext cx="642620" cy="642620"/>
            </a:xfrm>
            <a:custGeom>
              <a:avLst/>
              <a:gdLst/>
              <a:ahLst/>
              <a:cxnLst/>
              <a:rect l="l" t="t" r="r" b="b"/>
              <a:pathLst>
                <a:path w="642620" h="642619" fill="norm" stroke="1" extrusionOk="0">
                  <a:moveTo>
                    <a:pt x="321152" y="0"/>
                  </a:moveTo>
                  <a:lnTo>
                    <a:pt x="273694" y="3482"/>
                  </a:lnTo>
                  <a:lnTo>
                    <a:pt x="228398" y="13597"/>
                  </a:lnTo>
                  <a:lnTo>
                    <a:pt x="185761" y="29848"/>
                  </a:lnTo>
                  <a:lnTo>
                    <a:pt x="146280" y="51739"/>
                  </a:lnTo>
                  <a:lnTo>
                    <a:pt x="110451" y="78772"/>
                  </a:lnTo>
                  <a:lnTo>
                    <a:pt x="78772" y="110451"/>
                  </a:lnTo>
                  <a:lnTo>
                    <a:pt x="51739" y="146280"/>
                  </a:lnTo>
                  <a:lnTo>
                    <a:pt x="29848" y="185761"/>
                  </a:lnTo>
                  <a:lnTo>
                    <a:pt x="13597" y="228398"/>
                  </a:lnTo>
                  <a:lnTo>
                    <a:pt x="3482" y="273694"/>
                  </a:lnTo>
                  <a:lnTo>
                    <a:pt x="0" y="321152"/>
                  </a:lnTo>
                  <a:lnTo>
                    <a:pt x="3482" y="368610"/>
                  </a:lnTo>
                  <a:lnTo>
                    <a:pt x="13597" y="413905"/>
                  </a:lnTo>
                  <a:lnTo>
                    <a:pt x="29848" y="456542"/>
                  </a:lnTo>
                  <a:lnTo>
                    <a:pt x="51739" y="496023"/>
                  </a:lnTo>
                  <a:lnTo>
                    <a:pt x="78772" y="531852"/>
                  </a:lnTo>
                  <a:lnTo>
                    <a:pt x="110451" y="563531"/>
                  </a:lnTo>
                  <a:lnTo>
                    <a:pt x="146280" y="590565"/>
                  </a:lnTo>
                  <a:lnTo>
                    <a:pt x="185761" y="612455"/>
                  </a:lnTo>
                  <a:lnTo>
                    <a:pt x="228398" y="628707"/>
                  </a:lnTo>
                  <a:lnTo>
                    <a:pt x="273694" y="638822"/>
                  </a:lnTo>
                  <a:lnTo>
                    <a:pt x="321152" y="642304"/>
                  </a:lnTo>
                  <a:lnTo>
                    <a:pt x="368610" y="638822"/>
                  </a:lnTo>
                  <a:lnTo>
                    <a:pt x="413905" y="628707"/>
                  </a:lnTo>
                  <a:lnTo>
                    <a:pt x="456542" y="612455"/>
                  </a:lnTo>
                  <a:lnTo>
                    <a:pt x="496023" y="590565"/>
                  </a:lnTo>
                  <a:lnTo>
                    <a:pt x="531852" y="563531"/>
                  </a:lnTo>
                  <a:lnTo>
                    <a:pt x="563531" y="531852"/>
                  </a:lnTo>
                  <a:lnTo>
                    <a:pt x="590565" y="496023"/>
                  </a:lnTo>
                  <a:lnTo>
                    <a:pt x="612455" y="456542"/>
                  </a:lnTo>
                  <a:lnTo>
                    <a:pt x="628707" y="413905"/>
                  </a:lnTo>
                  <a:lnTo>
                    <a:pt x="638822" y="368610"/>
                  </a:lnTo>
                  <a:lnTo>
                    <a:pt x="642304" y="321152"/>
                  </a:lnTo>
                  <a:lnTo>
                    <a:pt x="638822" y="273694"/>
                  </a:lnTo>
                  <a:lnTo>
                    <a:pt x="628707" y="228398"/>
                  </a:lnTo>
                  <a:lnTo>
                    <a:pt x="612455" y="185761"/>
                  </a:lnTo>
                  <a:lnTo>
                    <a:pt x="590565" y="146280"/>
                  </a:lnTo>
                  <a:lnTo>
                    <a:pt x="563531" y="110451"/>
                  </a:lnTo>
                  <a:lnTo>
                    <a:pt x="531852" y="78772"/>
                  </a:lnTo>
                  <a:lnTo>
                    <a:pt x="496023" y="51739"/>
                  </a:lnTo>
                  <a:lnTo>
                    <a:pt x="456542" y="29848"/>
                  </a:lnTo>
                  <a:lnTo>
                    <a:pt x="413905" y="13597"/>
                  </a:lnTo>
                  <a:lnTo>
                    <a:pt x="368610" y="3482"/>
                  </a:lnTo>
                  <a:lnTo>
                    <a:pt x="321152" y="0"/>
                  </a:lnTo>
                  <a:close/>
                </a:path>
              </a:pathLst>
            </a:custGeom>
            <a:solidFill>
              <a:srgbClr val="2D7D32"/>
            </a:solidFill>
          </p:spPr>
          <p:txBody>
            <a:bodyPr wrap="square" lIns="0" tIns="0" rIns="0" bIns="0" rtlCol="0"/>
            <a:lstStyle/>
            <a:p>
              <a:pPr defTabSz="1449415">
                <a:buClrTx/>
                <a:defRPr/>
              </a:pPr>
              <a:endParaRPr sz="285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1" name="object 13"/>
            <p:cNvPicPr/>
            <p:nvPr/>
          </p:nvPicPr>
          <p:blipFill>
            <a:blip r:embed="rId5"/>
            <a:stretch/>
          </p:blipFill>
          <p:spPr bwMode="auto">
            <a:xfrm>
              <a:off x="4613884" y="979703"/>
              <a:ext cx="219074" cy="184150"/>
            </a:xfrm>
            <a:prstGeom prst="rect">
              <a:avLst/>
            </a:prstGeom>
          </p:spPr>
        </p:pic>
      </p:grpSp>
      <p:sp>
        <p:nvSpPr>
          <p:cNvPr id="1151591700" name="object 6"/>
          <p:cNvSpPr txBox="1"/>
          <p:nvPr/>
        </p:nvSpPr>
        <p:spPr bwMode="auto">
          <a:xfrm>
            <a:off x="437207" y="2706176"/>
            <a:ext cx="2461114" cy="972736"/>
          </a:xfrm>
          <a:prstGeom prst="rect">
            <a:avLst/>
          </a:prstGeom>
        </p:spPr>
        <p:txBody>
          <a:bodyPr vert="horz" wrap="square" lIns="0" tIns="131859" rIns="0" bIns="0" rtlCol="0">
            <a:spAutoFit/>
          </a:bodyPr>
          <a:lstStyle/>
          <a:p>
            <a:pPr algn="ctr" defTabSz="1449415">
              <a:spcBef>
                <a:spcPts val="1038"/>
              </a:spcBef>
              <a:buClrTx/>
              <a:defRPr/>
            </a:pPr>
            <a:r>
              <a:rPr sz="1600" b="1" spc="-16">
                <a:solidFill>
                  <a:srgbClr val="C52727"/>
                </a:solidFill>
              </a:rPr>
              <a:t>Pas</a:t>
            </a:r>
            <a:r>
              <a:rPr sz="1600" b="1" spc="-8">
                <a:solidFill>
                  <a:srgbClr val="C52727"/>
                </a:solidFill>
              </a:rPr>
              <a:t> </a:t>
            </a:r>
            <a:r>
              <a:rPr sz="1600" b="1">
                <a:solidFill>
                  <a:srgbClr val="C52727"/>
                </a:solidFill>
              </a:rPr>
              <a:t>de</a:t>
            </a:r>
            <a:r>
              <a:rPr sz="1600" b="1" spc="-16">
                <a:solidFill>
                  <a:srgbClr val="C52727"/>
                </a:solidFill>
              </a:rPr>
              <a:t> boucle</a:t>
            </a:r>
            <a:endParaRPr sz="1600">
              <a:solidFill>
                <a:sysClr val="windowText" lastClr="000000"/>
              </a:solidFill>
            </a:endParaRPr>
          </a:p>
          <a:p>
            <a:pPr marL="20131" marR="8052" algn="ctr" defTabSz="1449415">
              <a:lnSpc>
                <a:spcPct val="109400"/>
              </a:lnSpc>
              <a:spcBef>
                <a:spcPts val="602"/>
              </a:spcBef>
              <a:buClrTx/>
              <a:defRPr/>
            </a:pPr>
            <a:r>
              <a:rPr sz="1600" spc="-110">
                <a:solidFill>
                  <a:srgbClr val="263238"/>
                </a:solidFill>
                <a:latin typeface="Arial MT"/>
                <a:cs typeface="Arial MT"/>
              </a:rPr>
              <a:t>Aucune</a:t>
            </a:r>
            <a:r>
              <a:rPr sz="1600" spc="8">
                <a:solidFill>
                  <a:srgbClr val="263238"/>
                </a:solidFill>
                <a:latin typeface="Arial MT"/>
                <a:cs typeface="Arial MT"/>
              </a:rPr>
              <a:t> </a:t>
            </a:r>
            <a:r>
              <a:rPr sz="1600" spc="-62">
                <a:solidFill>
                  <a:srgbClr val="263238"/>
                </a:solidFill>
                <a:latin typeface="Arial MT"/>
                <a:cs typeface="Arial MT"/>
              </a:rPr>
              <a:t>tâche</a:t>
            </a:r>
            <a:r>
              <a:rPr sz="1600" spc="8">
                <a:solidFill>
                  <a:srgbClr val="263238"/>
                </a:solidFill>
                <a:latin typeface="Arial MT"/>
                <a:cs typeface="Arial MT"/>
              </a:rPr>
              <a:t> </a:t>
            </a:r>
            <a:r>
              <a:rPr sz="1600" spc="-127">
                <a:solidFill>
                  <a:srgbClr val="263238"/>
                </a:solidFill>
                <a:latin typeface="Arial MT"/>
                <a:cs typeface="Arial MT"/>
              </a:rPr>
              <a:t>ne</a:t>
            </a:r>
            <a:r>
              <a:rPr sz="1600" spc="8">
                <a:solidFill>
                  <a:srgbClr val="263238"/>
                </a:solidFill>
                <a:latin typeface="Arial MT"/>
                <a:cs typeface="Arial MT"/>
              </a:rPr>
              <a:t> </a:t>
            </a:r>
            <a:r>
              <a:rPr sz="1600" spc="-110">
                <a:solidFill>
                  <a:srgbClr val="263238"/>
                </a:solidFill>
                <a:latin typeface="Arial MT"/>
                <a:cs typeface="Arial MT"/>
              </a:rPr>
              <a:t>dépend </a:t>
            </a:r>
            <a:r>
              <a:rPr sz="1600" spc="-77">
                <a:solidFill>
                  <a:srgbClr val="263238"/>
                </a:solidFill>
                <a:latin typeface="Arial MT"/>
                <a:cs typeface="Arial MT"/>
              </a:rPr>
              <a:t>d’elle-</a:t>
            </a:r>
            <a:r>
              <a:rPr sz="1600" spc="-16">
                <a:solidFill>
                  <a:srgbClr val="263238"/>
                </a:solidFill>
                <a:latin typeface="Arial MT"/>
                <a:cs typeface="Arial MT"/>
              </a:rPr>
              <a:t>même.</a:t>
            </a:r>
            <a:endParaRPr sz="160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1758339890" name="object 10"/>
          <p:cNvSpPr txBox="1"/>
          <p:nvPr/>
        </p:nvSpPr>
        <p:spPr bwMode="auto">
          <a:xfrm>
            <a:off x="3287701" y="2732344"/>
            <a:ext cx="2743791" cy="972736"/>
          </a:xfrm>
          <a:prstGeom prst="rect">
            <a:avLst/>
          </a:prstGeom>
        </p:spPr>
        <p:txBody>
          <a:bodyPr vert="horz" wrap="square" lIns="0" tIns="131859" rIns="0" bIns="0" rtlCol="0">
            <a:spAutoFit/>
          </a:bodyPr>
          <a:lstStyle/>
          <a:p>
            <a:pPr algn="ctr" defTabSz="1449415">
              <a:spcBef>
                <a:spcPts val="1038"/>
              </a:spcBef>
              <a:buClrTx/>
              <a:defRPr/>
            </a:pPr>
            <a:r>
              <a:rPr sz="1600" b="1" spc="-55">
                <a:solidFill>
                  <a:srgbClr val="0091EA"/>
                </a:solidFill>
              </a:rPr>
              <a:t>Dépendances</a:t>
            </a:r>
            <a:r>
              <a:rPr sz="1600" b="1" spc="40">
                <a:solidFill>
                  <a:srgbClr val="0091EA"/>
                </a:solidFill>
              </a:rPr>
              <a:t> </a:t>
            </a:r>
            <a:r>
              <a:rPr sz="1600" b="1" spc="-16">
                <a:solidFill>
                  <a:srgbClr val="0091EA"/>
                </a:solidFill>
              </a:rPr>
              <a:t>claires</a:t>
            </a:r>
            <a:endParaRPr sz="1600">
              <a:solidFill>
                <a:sysClr val="windowText" lastClr="000000"/>
              </a:solidFill>
            </a:endParaRPr>
          </a:p>
          <a:p>
            <a:pPr marL="20131" marR="8052" indent="-1007" algn="ctr" defTabSz="1449415">
              <a:lnSpc>
                <a:spcPct val="109400"/>
              </a:lnSpc>
              <a:spcBef>
                <a:spcPts val="602"/>
              </a:spcBef>
              <a:buClrTx/>
              <a:defRPr/>
            </a:pPr>
            <a:r>
              <a:rPr sz="1600" spc="-62">
                <a:solidFill>
                  <a:srgbClr val="263238"/>
                </a:solidFill>
                <a:latin typeface="Arial MT"/>
                <a:cs typeface="Arial MT"/>
              </a:rPr>
              <a:t>Relation</a:t>
            </a:r>
            <a:r>
              <a:rPr sz="1600" spc="-8">
                <a:solidFill>
                  <a:srgbClr val="263238"/>
                </a:solidFill>
                <a:latin typeface="Arial MT"/>
                <a:cs typeface="Arial MT"/>
              </a:rPr>
              <a:t> </a:t>
            </a:r>
            <a:r>
              <a:rPr sz="1600" spc="-62">
                <a:solidFill>
                  <a:srgbClr val="263238"/>
                </a:solidFill>
                <a:latin typeface="Arial MT"/>
                <a:cs typeface="Arial MT"/>
              </a:rPr>
              <a:t>explicite</a:t>
            </a:r>
            <a:r>
              <a:rPr sz="1600" spc="-8">
                <a:solidFill>
                  <a:srgbClr val="263238"/>
                </a:solidFill>
                <a:latin typeface="Arial MT"/>
                <a:cs typeface="Arial MT"/>
              </a:rPr>
              <a:t> </a:t>
            </a:r>
            <a:r>
              <a:rPr sz="1600" spc="-40">
                <a:solidFill>
                  <a:srgbClr val="263238"/>
                </a:solidFill>
                <a:latin typeface="Arial MT"/>
                <a:cs typeface="Arial MT"/>
              </a:rPr>
              <a:t>et</a:t>
            </a:r>
            <a:r>
              <a:rPr sz="1600" spc="792">
                <a:solidFill>
                  <a:srgbClr val="263238"/>
                </a:solidFill>
                <a:latin typeface="Arial MT"/>
                <a:cs typeface="Arial MT"/>
              </a:rPr>
              <a:t> </a:t>
            </a:r>
            <a:r>
              <a:rPr sz="1600" spc="-71">
                <a:solidFill>
                  <a:srgbClr val="263238"/>
                </a:solidFill>
                <a:latin typeface="Arial MT"/>
                <a:cs typeface="Arial MT"/>
              </a:rPr>
              <a:t>traçable</a:t>
            </a:r>
            <a:r>
              <a:rPr sz="1600" spc="-47">
                <a:solidFill>
                  <a:srgbClr val="263238"/>
                </a:solidFill>
                <a:latin typeface="Arial MT"/>
                <a:cs typeface="Arial MT"/>
              </a:rPr>
              <a:t> </a:t>
            </a:r>
            <a:r>
              <a:rPr sz="1600" spc="-62">
                <a:solidFill>
                  <a:srgbClr val="263238"/>
                </a:solidFill>
                <a:latin typeface="Arial MT"/>
                <a:cs typeface="Arial MT"/>
              </a:rPr>
              <a:t>entre</a:t>
            </a:r>
            <a:r>
              <a:rPr sz="1600" spc="-16">
                <a:solidFill>
                  <a:srgbClr val="263238"/>
                </a:solidFill>
                <a:latin typeface="Arial MT"/>
                <a:cs typeface="Arial MT"/>
              </a:rPr>
              <a:t> </a:t>
            </a:r>
            <a:r>
              <a:rPr sz="1600" spc="-135">
                <a:solidFill>
                  <a:srgbClr val="263238"/>
                </a:solidFill>
                <a:latin typeface="Arial MT"/>
                <a:cs typeface="Arial MT"/>
              </a:rPr>
              <a:t>chaque</a:t>
            </a:r>
            <a:r>
              <a:rPr sz="1600" spc="16">
                <a:solidFill>
                  <a:srgbClr val="263238"/>
                </a:solidFill>
                <a:latin typeface="Arial MT"/>
                <a:cs typeface="Arial MT"/>
              </a:rPr>
              <a:t> </a:t>
            </a:r>
            <a:r>
              <a:rPr sz="1600" spc="-55">
                <a:solidFill>
                  <a:srgbClr val="263238"/>
                </a:solidFill>
                <a:latin typeface="Arial MT"/>
                <a:cs typeface="Arial MT"/>
              </a:rPr>
              <a:t>tâche.</a:t>
            </a:r>
            <a:endParaRPr sz="160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sp>
        <p:nvSpPr>
          <p:cNvPr id="586456712" name="TextBox 15"/>
          <p:cNvSpPr txBox="1"/>
          <p:nvPr/>
        </p:nvSpPr>
        <p:spPr bwMode="auto">
          <a:xfrm>
            <a:off x="6267564" y="2773158"/>
            <a:ext cx="2461114" cy="931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449415">
              <a:spcBef>
                <a:spcPts val="1038"/>
              </a:spcBef>
              <a:buClrTx/>
              <a:defRPr/>
            </a:pPr>
            <a:r>
              <a:rPr lang="fr-FR" sz="1600" b="1" spc="-16">
                <a:solidFill>
                  <a:srgbClr val="2D7D32"/>
                </a:solidFill>
              </a:rPr>
              <a:t>Parallélisme</a:t>
            </a:r>
            <a:endParaRPr lang="fr-FR" sz="1600">
              <a:solidFill>
                <a:sysClr val="windowText" lastClr="000000"/>
              </a:solidFill>
            </a:endParaRPr>
          </a:p>
          <a:p>
            <a:pPr marL="20131" marR="8052" algn="ctr" defTabSz="1449415">
              <a:lnSpc>
                <a:spcPct val="109400"/>
              </a:lnSpc>
              <a:spcBef>
                <a:spcPts val="602"/>
              </a:spcBef>
              <a:buClrTx/>
              <a:defRPr/>
            </a:pPr>
            <a:r>
              <a:rPr lang="fr-FR" sz="1600" spc="-119">
                <a:solidFill>
                  <a:srgbClr val="263238"/>
                </a:solidFill>
                <a:latin typeface="Arial MT"/>
                <a:cs typeface="Arial MT"/>
              </a:rPr>
              <a:t>Tâches</a:t>
            </a:r>
            <a:r>
              <a:rPr lang="fr-FR" sz="1600" spc="71">
                <a:solidFill>
                  <a:srgbClr val="263238"/>
                </a:solidFill>
                <a:latin typeface="Arial MT"/>
                <a:cs typeface="Arial MT"/>
              </a:rPr>
              <a:t> </a:t>
            </a:r>
            <a:r>
              <a:rPr lang="fr-FR" sz="1600" spc="-16">
                <a:solidFill>
                  <a:srgbClr val="263238"/>
                </a:solidFill>
                <a:latin typeface="Arial MT"/>
                <a:cs typeface="Arial MT"/>
              </a:rPr>
              <a:t>indépendantes </a:t>
            </a:r>
            <a:r>
              <a:rPr lang="fr-FR" sz="1600" spc="-143">
                <a:solidFill>
                  <a:srgbClr val="263238"/>
                </a:solidFill>
                <a:latin typeface="Arial MT"/>
                <a:cs typeface="Arial MT"/>
              </a:rPr>
              <a:t>exécutées</a:t>
            </a:r>
            <a:r>
              <a:rPr lang="fr-FR" sz="1600" spc="103">
                <a:solidFill>
                  <a:srgbClr val="263238"/>
                </a:solidFill>
                <a:latin typeface="Arial MT"/>
                <a:cs typeface="Arial MT"/>
              </a:rPr>
              <a:t> </a:t>
            </a:r>
            <a:r>
              <a:rPr lang="fr-FR" sz="1600" i="1" spc="-71">
                <a:solidFill>
                  <a:srgbClr val="263238"/>
                </a:solidFill>
              </a:rPr>
              <a:t>simultanément</a:t>
            </a:r>
            <a:endParaRPr lang="fr-FR" sz="1600"/>
          </a:p>
        </p:txBody>
      </p:sp>
      <p:sp>
        <p:nvSpPr>
          <p:cNvPr id="608288770" name="object 16"/>
          <p:cNvSpPr txBox="1"/>
          <p:nvPr/>
        </p:nvSpPr>
        <p:spPr bwMode="auto">
          <a:xfrm>
            <a:off x="609189" y="4022259"/>
            <a:ext cx="7925620" cy="608199"/>
          </a:xfrm>
          <a:prstGeom prst="rect">
            <a:avLst/>
          </a:prstGeom>
        </p:spPr>
        <p:txBody>
          <a:bodyPr vert="horz" wrap="square" lIns="0" tIns="45295" rIns="0" bIns="0" rtlCol="0">
            <a:spAutoFit/>
          </a:bodyPr>
          <a:lstStyle/>
          <a:p>
            <a:pPr marL="20131" algn="just" defTabSz="1449415">
              <a:spcBef>
                <a:spcPts val="357"/>
              </a:spcBef>
              <a:buClrTx/>
              <a:defRPr/>
            </a:pPr>
            <a:r>
              <a:rPr sz="1750" i="1" spc="-206">
                <a:solidFill>
                  <a:srgbClr val="5F7D8B"/>
                </a:solidFill>
              </a:rPr>
              <a:t>Ces</a:t>
            </a:r>
            <a:r>
              <a:rPr sz="1750" i="1" spc="87">
                <a:solidFill>
                  <a:srgbClr val="5F7D8B"/>
                </a:solidFill>
              </a:rPr>
              <a:t> </a:t>
            </a:r>
            <a:r>
              <a:rPr sz="1750" i="1" spc="-87">
                <a:solidFill>
                  <a:srgbClr val="5F7D8B"/>
                </a:solidFill>
              </a:rPr>
              <a:t>propriétés</a:t>
            </a:r>
            <a:r>
              <a:rPr sz="1750" i="1" spc="-32">
                <a:solidFill>
                  <a:srgbClr val="5F7D8B"/>
                </a:solidFill>
              </a:rPr>
              <a:t> </a:t>
            </a:r>
            <a:r>
              <a:rPr sz="1750" i="1">
                <a:solidFill>
                  <a:srgbClr val="5F7D8B"/>
                </a:solidFill>
              </a:rPr>
              <a:t>font</a:t>
            </a:r>
            <a:r>
              <a:rPr sz="1750" i="1" spc="-110">
                <a:solidFill>
                  <a:srgbClr val="5F7D8B"/>
                </a:solidFill>
              </a:rPr>
              <a:t> </a:t>
            </a:r>
            <a:r>
              <a:rPr sz="1750" i="1" spc="-181">
                <a:solidFill>
                  <a:srgbClr val="5F7D8B"/>
                </a:solidFill>
              </a:rPr>
              <a:t>des</a:t>
            </a:r>
            <a:r>
              <a:rPr sz="1750" i="1" spc="62">
                <a:solidFill>
                  <a:srgbClr val="5F7D8B"/>
                </a:solidFill>
              </a:rPr>
              <a:t> </a:t>
            </a:r>
            <a:r>
              <a:rPr sz="1750" i="1" spc="-143">
                <a:solidFill>
                  <a:srgbClr val="5F7D8B"/>
                </a:solidFill>
              </a:rPr>
              <a:t>DAGs</a:t>
            </a:r>
            <a:r>
              <a:rPr sz="1750" i="1" spc="23">
                <a:solidFill>
                  <a:srgbClr val="5F7D8B"/>
                </a:solidFill>
              </a:rPr>
              <a:t> </a:t>
            </a:r>
            <a:r>
              <a:rPr sz="1750" i="1">
                <a:solidFill>
                  <a:srgbClr val="5F7D8B"/>
                </a:solidFill>
              </a:rPr>
              <a:t>un</a:t>
            </a:r>
            <a:r>
              <a:rPr sz="1750" i="1" spc="-62">
                <a:solidFill>
                  <a:srgbClr val="5F7D8B"/>
                </a:solidFill>
              </a:rPr>
              <a:t> </a:t>
            </a:r>
            <a:r>
              <a:rPr sz="1750" i="1">
                <a:solidFill>
                  <a:srgbClr val="5F7D8B"/>
                </a:solidFill>
              </a:rPr>
              <a:t>outil </a:t>
            </a:r>
            <a:r>
              <a:rPr sz="1750" i="1" spc="-71">
                <a:solidFill>
                  <a:srgbClr val="5F7D8B"/>
                </a:solidFill>
              </a:rPr>
              <a:t>idéal</a:t>
            </a:r>
            <a:r>
              <a:rPr sz="1750" i="1" spc="8">
                <a:solidFill>
                  <a:srgbClr val="5F7D8B"/>
                </a:solidFill>
              </a:rPr>
              <a:t> </a:t>
            </a:r>
            <a:r>
              <a:rPr sz="1750" i="1" spc="-16">
                <a:solidFill>
                  <a:srgbClr val="5F7D8B"/>
                </a:solidFill>
              </a:rPr>
              <a:t>pour</a:t>
            </a:r>
            <a:r>
              <a:rPr sz="1750" i="1" spc="8">
                <a:solidFill>
                  <a:srgbClr val="5F7D8B"/>
                </a:solidFill>
              </a:rPr>
              <a:t> </a:t>
            </a:r>
            <a:r>
              <a:rPr sz="1750" i="1" spc="-77">
                <a:solidFill>
                  <a:srgbClr val="5F7D8B"/>
                </a:solidFill>
              </a:rPr>
              <a:t>orchestrer</a:t>
            </a:r>
            <a:r>
              <a:rPr sz="1750" i="1">
                <a:solidFill>
                  <a:srgbClr val="5F7D8B"/>
                </a:solidFill>
              </a:rPr>
              <a:t> </a:t>
            </a:r>
            <a:r>
              <a:rPr sz="1750" i="1" spc="-181">
                <a:solidFill>
                  <a:srgbClr val="5F7D8B"/>
                </a:solidFill>
              </a:rPr>
              <a:t>des</a:t>
            </a:r>
            <a:r>
              <a:rPr sz="1750" i="1" spc="62">
                <a:solidFill>
                  <a:srgbClr val="5F7D8B"/>
                </a:solidFill>
              </a:rPr>
              <a:t> </a:t>
            </a:r>
            <a:r>
              <a:rPr sz="1750" i="1" spc="-71">
                <a:solidFill>
                  <a:srgbClr val="5F7D8B"/>
                </a:solidFill>
                <a:latin typeface="Trebuchet MS"/>
                <a:cs typeface="Trebuchet MS"/>
              </a:rPr>
              <a:t>pipelines</a:t>
            </a:r>
            <a:r>
              <a:rPr sz="1750" i="1" spc="16">
                <a:solidFill>
                  <a:srgbClr val="5F7D8B"/>
                </a:solidFill>
                <a:latin typeface="Trebuchet MS"/>
                <a:cs typeface="Trebuchet MS"/>
              </a:rPr>
              <a:t> </a:t>
            </a:r>
            <a:r>
              <a:rPr sz="1750" i="1">
                <a:solidFill>
                  <a:srgbClr val="5F7D8B"/>
                </a:solidFill>
                <a:latin typeface="Trebuchet MS"/>
                <a:cs typeface="Trebuchet MS"/>
              </a:rPr>
              <a:t>de</a:t>
            </a:r>
            <a:r>
              <a:rPr sz="1750" i="1" spc="8">
                <a:solidFill>
                  <a:srgbClr val="5F7D8B"/>
                </a:solidFill>
                <a:latin typeface="Trebuchet MS"/>
                <a:cs typeface="Trebuchet MS"/>
              </a:rPr>
              <a:t> </a:t>
            </a:r>
            <a:r>
              <a:rPr sz="1750" i="1" spc="-16">
                <a:solidFill>
                  <a:srgbClr val="5F7D8B"/>
                </a:solidFill>
                <a:latin typeface="Trebuchet MS"/>
                <a:cs typeface="Trebuchet MS"/>
              </a:rPr>
              <a:t>données</a:t>
            </a:r>
            <a:endParaRPr sz="1750">
              <a:solidFill>
                <a:sysClr val="windowText" lastClr="000000"/>
              </a:solidFill>
              <a:latin typeface="Trebuchet MS"/>
              <a:cs typeface="Trebuchet MS"/>
            </a:endParaRPr>
          </a:p>
          <a:p>
            <a:pPr marL="20131" algn="just" defTabSz="1449415">
              <a:spcBef>
                <a:spcPts val="198"/>
              </a:spcBef>
              <a:buClrTx/>
              <a:defRPr/>
            </a:pPr>
            <a:r>
              <a:rPr sz="1750" i="1" spc="-16">
                <a:solidFill>
                  <a:srgbClr val="5F7D8B"/>
                </a:solidFill>
              </a:rPr>
              <a:t>complexes.</a:t>
            </a:r>
            <a:endParaRPr sz="175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920738" name="Google Shape;99;p15"/>
          <p:cNvSpPr txBox="1">
            <a:spLocks noGrp="1"/>
          </p:cNvSpPr>
          <p:nvPr>
            <p:ph type="sldNum" idx="4294967295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>
                <a:latin typeface="Times New Roman"/>
                <a:cs typeface="Times New Roman"/>
              </a:rPr>
              <a:t>21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1526739832" name="Text 14"/>
          <p:cNvSpPr>
            <a:spLocks noGrp="1"/>
          </p:cNvSpPr>
          <p:nvPr>
            <p:ph type="ctrTitle"/>
          </p:nvPr>
        </p:nvSpPr>
        <p:spPr bwMode="auto">
          <a:xfrm>
            <a:off x="157152" y="1731742"/>
            <a:ext cx="7488300" cy="115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sz="540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Types d'Operators</a:t>
            </a:r>
            <a:endParaRPr lang="en-US" sz="540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427420924" name="Google Shape;98;p15"/>
          <p:cNvSpPr txBox="1">
            <a:spLocks noGrp="1"/>
          </p:cNvSpPr>
          <p:nvPr>
            <p:ph type="subTitle" idx="1"/>
          </p:nvPr>
        </p:nvSpPr>
        <p:spPr bwMode="auto">
          <a:xfrm flipH="0" flipV="0">
            <a:off x="1169524" y="2820186"/>
            <a:ext cx="6288581" cy="63072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indent="0">
              <a:defRPr/>
            </a:pPr>
            <a:r>
              <a:rPr lang="en-US" sz="1800">
                <a:solidFill>
                  <a:srgbClr val="6B8CAE"/>
                </a:solidFill>
              </a:rPr>
              <a:t>Les Operators • </a:t>
            </a:r>
            <a:r>
              <a:rPr lang="en-US" sz="1800">
                <a:solidFill>
                  <a:srgbClr val="6B8CAE"/>
                </a:solidFill>
              </a:rPr>
              <a:t>PythonOperator</a:t>
            </a:r>
            <a:r>
              <a:rPr lang="en-US" sz="1800">
                <a:solidFill>
                  <a:srgbClr val="6B8CAE"/>
                </a:solidFill>
              </a:rPr>
              <a:t> • </a:t>
            </a:r>
            <a:r>
              <a:rPr lang="en-US" sz="1800">
                <a:solidFill>
                  <a:srgbClr val="6B8CAE"/>
                </a:solidFill>
              </a:rPr>
              <a:t>BashOperator</a:t>
            </a:r>
            <a:r>
              <a:rPr lang="en-US" sz="1800">
                <a:solidFill>
                  <a:srgbClr val="6B8CAE"/>
                </a:solidFill>
              </a:rPr>
              <a:t> • </a:t>
            </a:r>
            <a:r>
              <a:rPr lang="en-US" sz="1800">
                <a:solidFill>
                  <a:srgbClr val="6B8CAE"/>
                </a:solidFill>
              </a:rPr>
              <a:t>EmailOperator</a:t>
            </a:r>
            <a:r>
              <a:rPr lang="en-US" sz="1800">
                <a:solidFill>
                  <a:srgbClr val="6B8CAE"/>
                </a:solidFill>
              </a:rPr>
              <a:t> • SQL Operator • Sensors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803607" name="Google Shape;144;p20"/>
          <p:cNvSpPr txBox="1">
            <a:spLocks noGrp="1"/>
          </p:cNvSpPr>
          <p:nvPr>
            <p:ph type="sldNum" idx="12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>
                <a:latin typeface="Times New Roman"/>
                <a:cs typeface="Times New Roman"/>
              </a:rPr>
              <a:t>22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1199286477" name="Text 1"/>
          <p:cNvSpPr/>
          <p:nvPr/>
        </p:nvSpPr>
        <p:spPr bwMode="auto">
          <a:xfrm>
            <a:off x="499078" y="311174"/>
            <a:ext cx="8229600" cy="40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fr-FR" sz="2400" b="1">
                <a:solidFill>
                  <a:srgbClr val="002060"/>
                </a:solidFill>
                <a:latin typeface="+mj-lt"/>
                <a:ea typeface="+mj-ea"/>
                <a:cs typeface="Times New Roman"/>
              </a:rPr>
              <a:t>Les </a:t>
            </a:r>
            <a:r>
              <a:rPr lang="fr-FR" sz="2400" b="1">
                <a:solidFill>
                  <a:srgbClr val="002060"/>
                </a:solidFill>
                <a:latin typeface="+mj-lt"/>
                <a:ea typeface="+mj-ea"/>
                <a:cs typeface="Times New Roman"/>
              </a:rPr>
              <a:t>Operators</a:t>
            </a:r>
            <a:endParaRPr lang="en-US" sz="2400" b="1">
              <a:solidFill>
                <a:srgbClr val="002060"/>
              </a:solidFill>
              <a:latin typeface="+mj-lt"/>
              <a:cs typeface="Times New Roman"/>
            </a:endParaRPr>
          </a:p>
        </p:txBody>
      </p:sp>
      <p:sp>
        <p:nvSpPr>
          <p:cNvPr id="593532410" name="Shape 4"/>
          <p:cNvSpPr/>
          <p:nvPr/>
        </p:nvSpPr>
        <p:spPr bwMode="auto">
          <a:xfrm>
            <a:off x="723424" y="1575706"/>
            <a:ext cx="7680960" cy="8425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5">
                <a:lumMod val="90000"/>
              </a:schemeClr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>
              <a:latin typeface="Times New Roman"/>
              <a:cs typeface="Times New Roman"/>
            </a:endParaRPr>
          </a:p>
        </p:txBody>
      </p:sp>
      <p:sp>
        <p:nvSpPr>
          <p:cNvPr id="2127006757" name="Shape 6"/>
          <p:cNvSpPr/>
          <p:nvPr/>
        </p:nvSpPr>
        <p:spPr bwMode="auto">
          <a:xfrm>
            <a:off x="365760" y="3008660"/>
            <a:ext cx="2743200" cy="648940"/>
          </a:xfrm>
          <a:prstGeom prst="rect">
            <a:avLst/>
          </a:prstGeom>
          <a:solidFill>
            <a:schemeClr val="tx2">
              <a:lumMod val="90000"/>
            </a:schemeClr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435336934" name="Text 7"/>
          <p:cNvSpPr/>
          <p:nvPr/>
        </p:nvSpPr>
        <p:spPr bwMode="auto">
          <a:xfrm>
            <a:off x="457200" y="30269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b="1">
                <a:solidFill>
                  <a:schemeClr val="accent5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  Action Operators</a:t>
            </a:r>
            <a:endParaRPr/>
          </a:p>
        </p:txBody>
      </p:sp>
      <p:sp>
        <p:nvSpPr>
          <p:cNvPr id="4397281" name="Text 8"/>
          <p:cNvSpPr/>
          <p:nvPr/>
        </p:nvSpPr>
        <p:spPr bwMode="auto">
          <a:xfrm>
            <a:off x="457200" y="32829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endParaRPr lang="en-US">
              <a:solidFill>
                <a:schemeClr val="accent5">
                  <a:lumMod val="10000"/>
                </a:schemeClr>
              </a:solidFill>
              <a:latin typeface="Times New Roman"/>
              <a:ea typeface="Calibri"/>
              <a:cs typeface="Times New Roman"/>
            </a:endParaRPr>
          </a:p>
          <a:p>
            <a:pPr marL="0" indent="0" algn="ctr">
              <a:buNone/>
              <a:defRPr/>
            </a:pPr>
            <a:r>
              <a:rPr lang="en-US">
                <a:solidFill>
                  <a:schemeClr val="accent5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Exécutent</a:t>
            </a:r>
            <a:r>
              <a:rPr lang="en-US">
                <a:solidFill>
                  <a:schemeClr val="accent5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>
                <a:solidFill>
                  <a:schemeClr val="accent5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une</a:t>
            </a:r>
            <a:r>
              <a:rPr lang="en-US">
                <a:solidFill>
                  <a:schemeClr val="accent5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 action </a:t>
            </a:r>
            <a:r>
              <a:rPr lang="en-US">
                <a:solidFill>
                  <a:schemeClr val="accent5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directe</a:t>
            </a:r>
            <a:endParaRPr lang="en-US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910975818" name="Shape 9"/>
          <p:cNvSpPr/>
          <p:nvPr/>
        </p:nvSpPr>
        <p:spPr bwMode="auto">
          <a:xfrm>
            <a:off x="3200399" y="3008660"/>
            <a:ext cx="2743201" cy="648940"/>
          </a:xfrm>
          <a:prstGeom prst="rect">
            <a:avLst/>
          </a:prstGeom>
          <a:solidFill>
            <a:schemeClr val="tx2">
              <a:lumMod val="90000"/>
            </a:schemeClr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178019723" name="Text 10"/>
          <p:cNvSpPr/>
          <p:nvPr/>
        </p:nvSpPr>
        <p:spPr bwMode="auto">
          <a:xfrm>
            <a:off x="3291840" y="30269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b="1">
                <a:solidFill>
                  <a:schemeClr val="accent5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  Transfer Operators</a:t>
            </a:r>
            <a:endParaRPr lang="en-US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935004395" name="Text 11"/>
          <p:cNvSpPr/>
          <p:nvPr/>
        </p:nvSpPr>
        <p:spPr bwMode="auto">
          <a:xfrm>
            <a:off x="3291840" y="32829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endParaRPr lang="en-US">
              <a:solidFill>
                <a:schemeClr val="accent5">
                  <a:lumMod val="10000"/>
                </a:schemeClr>
              </a:solidFill>
              <a:latin typeface="Times New Roman"/>
              <a:ea typeface="Calibri"/>
              <a:cs typeface="Times New Roman"/>
            </a:endParaRPr>
          </a:p>
          <a:p>
            <a:pPr marL="0" indent="0" algn="ctr">
              <a:buNone/>
              <a:defRPr/>
            </a:pPr>
            <a:r>
              <a:rPr lang="en-US">
                <a:solidFill>
                  <a:schemeClr val="accent5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Transfèrent</a:t>
            </a:r>
            <a:r>
              <a:rPr lang="en-US">
                <a:solidFill>
                  <a:schemeClr val="accent5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 des données</a:t>
            </a:r>
            <a:endParaRPr lang="en-US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9828509" name="Shape 12"/>
          <p:cNvSpPr/>
          <p:nvPr/>
        </p:nvSpPr>
        <p:spPr bwMode="auto">
          <a:xfrm>
            <a:off x="6035038" y="3016344"/>
            <a:ext cx="2743201" cy="640230"/>
          </a:xfrm>
          <a:prstGeom prst="rect">
            <a:avLst/>
          </a:prstGeom>
          <a:solidFill>
            <a:schemeClr val="tx2">
              <a:lumMod val="90000"/>
            </a:schemeClr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738451204" name="Text 13"/>
          <p:cNvSpPr/>
          <p:nvPr/>
        </p:nvSpPr>
        <p:spPr bwMode="auto">
          <a:xfrm>
            <a:off x="6126480" y="30269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b="1">
                <a:solidFill>
                  <a:schemeClr val="bg1">
                    <a:lumMod val="95000"/>
                  </a:schemeClr>
                </a:solidFill>
                <a:latin typeface="Times New Roman"/>
                <a:ea typeface="Calibri"/>
                <a:cs typeface="Times New Roman"/>
              </a:rPr>
              <a:t>  </a:t>
            </a:r>
            <a:r>
              <a:rPr lang="en-US" b="1">
                <a:solidFill>
                  <a:schemeClr val="accent5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Sensors</a:t>
            </a:r>
            <a:endParaRPr lang="en-US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061171836" name="Text 14"/>
          <p:cNvSpPr/>
          <p:nvPr/>
        </p:nvSpPr>
        <p:spPr bwMode="auto">
          <a:xfrm>
            <a:off x="6126480" y="32829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endParaRPr lang="en-US">
              <a:solidFill>
                <a:schemeClr val="accent5">
                  <a:lumMod val="10000"/>
                </a:schemeClr>
              </a:solidFill>
              <a:latin typeface="Times New Roman"/>
              <a:ea typeface="Calibri"/>
              <a:cs typeface="Times New Roman"/>
            </a:endParaRPr>
          </a:p>
          <a:p>
            <a:pPr marL="0" indent="0" algn="ctr">
              <a:buNone/>
              <a:defRPr/>
            </a:pPr>
            <a:r>
              <a:rPr lang="en-US">
                <a:solidFill>
                  <a:schemeClr val="accent5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Attendent</a:t>
            </a:r>
            <a:r>
              <a:rPr lang="en-US">
                <a:solidFill>
                  <a:schemeClr val="accent5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>
                <a:solidFill>
                  <a:schemeClr val="accent5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une</a:t>
            </a:r>
            <a:r>
              <a:rPr lang="en-US">
                <a:solidFill>
                  <a:schemeClr val="accent5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 condition</a:t>
            </a:r>
            <a:endParaRPr lang="en-US">
              <a:solidFill>
                <a:schemeClr val="accent5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635242078" name="Text 15"/>
          <p:cNvSpPr/>
          <p:nvPr/>
        </p:nvSpPr>
        <p:spPr bwMode="auto">
          <a:xfrm>
            <a:off x="310896" y="397261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b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1 Operator  =  1 </a:t>
            </a:r>
            <a:r>
              <a:rPr lang="en-US" b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Tâche</a:t>
            </a:r>
            <a:r>
              <a:rPr lang="en-US" b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 =  1 </a:t>
            </a:r>
            <a:r>
              <a:rPr lang="en-US" b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Nœud</a:t>
            </a:r>
            <a:r>
              <a:rPr lang="en-US" b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dans le DAG</a:t>
            </a:r>
            <a:endParaRPr lang="en-US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13949877" name="Text 5"/>
          <p:cNvSpPr/>
          <p:nvPr/>
        </p:nvSpPr>
        <p:spPr bwMode="auto">
          <a:xfrm>
            <a:off x="499078" y="1431851"/>
            <a:ext cx="8187722" cy="1041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Un Operator </a:t>
            </a: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est</a:t>
            </a: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une</a:t>
            </a: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brique</a:t>
            </a: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 de base </a:t>
            </a: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d'Airflow</a:t>
            </a: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 qui </a:t>
            </a: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définit</a:t>
            </a: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une</a:t>
            </a: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tâche</a:t>
            </a: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précise</a:t>
            </a: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 à </a:t>
            </a: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exécuter</a:t>
            </a: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 dans un DAG.</a:t>
            </a:r>
            <a:endParaRPr lang="en-US" sz="1400">
              <a:solidFill>
                <a:srgbClr val="1E2D42"/>
              </a:solidFill>
              <a:latin typeface="Times New Roman"/>
              <a:cs typeface="Times New Roman"/>
            </a:endParaRPr>
          </a:p>
          <a:p>
            <a:pPr marL="0" indent="0" algn="ctr">
              <a:buNone/>
              <a:defRPr/>
            </a:pP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Il </a:t>
            </a: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dit</a:t>
            </a: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 à Airflow quoi faire — Airflow </a:t>
            </a: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gère</a:t>
            </a: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 le </a:t>
            </a: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quand</a:t>
            </a:r>
            <a:r>
              <a:rPr lang="en-US" sz="1400">
                <a:solidFill>
                  <a:srgbClr val="1E2D42"/>
                </a:solidFill>
                <a:latin typeface="Times New Roman"/>
                <a:ea typeface="Calibri"/>
                <a:cs typeface="Times New Roman"/>
              </a:rPr>
              <a:t> et le comment.</a:t>
            </a:r>
            <a:endParaRPr lang="en-US" sz="1400">
              <a:solidFill>
                <a:srgbClr val="1E2D42"/>
              </a:solidFill>
              <a:latin typeface="Times New Roman"/>
              <a:cs typeface="Times New Roman"/>
            </a:endParaRPr>
          </a:p>
        </p:txBody>
      </p:sp>
      <p:sp>
        <p:nvSpPr>
          <p:cNvPr id="910688937" name="Shape 1"/>
          <p:cNvSpPr/>
          <p:nvPr/>
        </p:nvSpPr>
        <p:spPr bwMode="auto">
          <a:xfrm>
            <a:off x="499078" y="762343"/>
            <a:ext cx="8229600" cy="4571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4691919" name="Google Shape;144;p20"/>
          <p:cNvSpPr txBox="1">
            <a:spLocks noGrp="1"/>
          </p:cNvSpPr>
          <p:nvPr>
            <p:ph type="sldNum" idx="12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>
                <a:latin typeface="Times New Roman"/>
                <a:cs typeface="Times New Roman"/>
              </a:rPr>
              <a:t>23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416572422" name="Text 1"/>
          <p:cNvSpPr/>
          <p:nvPr/>
        </p:nvSpPr>
        <p:spPr bwMode="auto">
          <a:xfrm>
            <a:off x="499078" y="255241"/>
            <a:ext cx="8211581" cy="497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002060"/>
                </a:solidFill>
                <a:latin typeface="+mj-lt"/>
                <a:ea typeface="Calibri"/>
                <a:cs typeface="Times New Roman"/>
              </a:rPr>
              <a:t>PythonOperator</a:t>
            </a:r>
            <a:endParaRPr lang="en-US" sz="2400">
              <a:solidFill>
                <a:srgbClr val="002060"/>
              </a:solidFill>
              <a:latin typeface="+mj-lt"/>
              <a:cs typeface="Times New Roman"/>
            </a:endParaRPr>
          </a:p>
        </p:txBody>
      </p:sp>
      <p:sp>
        <p:nvSpPr>
          <p:cNvPr id="1554143373" name="Text 9"/>
          <p:cNvSpPr/>
          <p:nvPr/>
        </p:nvSpPr>
        <p:spPr bwMode="auto">
          <a:xfrm>
            <a:off x="365760" y="2686492"/>
            <a:ext cx="3667524" cy="257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i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Cas </a:t>
            </a:r>
            <a:r>
              <a:rPr lang="en-US" sz="1300" b="1" i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d'usage</a:t>
            </a:r>
            <a:r>
              <a:rPr lang="en-US" sz="1300" b="1" i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:</a:t>
            </a:r>
            <a:endParaRPr lang="en-US" sz="1300" i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752720621" name="Shape 10"/>
          <p:cNvSpPr/>
          <p:nvPr/>
        </p:nvSpPr>
        <p:spPr bwMode="auto">
          <a:xfrm>
            <a:off x="365760" y="3035808"/>
            <a:ext cx="3657600" cy="347472"/>
          </a:xfrm>
          <a:prstGeom prst="rect">
            <a:avLst/>
          </a:prstGeom>
          <a:solidFill>
            <a:schemeClr val="accent6">
              <a:lumMod val="25000"/>
            </a:schemeClr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20021725" name="Text 11"/>
          <p:cNvSpPr/>
          <p:nvPr/>
        </p:nvSpPr>
        <p:spPr bwMode="auto">
          <a:xfrm>
            <a:off x="502920" y="3054096"/>
            <a:ext cx="3474720" cy="274320"/>
          </a:xfrm>
          <a:prstGeom prst="rect">
            <a:avLst/>
          </a:prstGeom>
          <a:solidFill>
            <a:schemeClr val="accent6">
              <a:lumMod val="2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●  </a:t>
            </a:r>
            <a:r>
              <a:rPr lang="en-US" sz="12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Traitement</a:t>
            </a:r>
            <a:r>
              <a:rPr lang="en-US" sz="12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de </a:t>
            </a:r>
            <a:r>
              <a:rPr lang="en-US" sz="12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données</a:t>
            </a:r>
            <a:endParaRPr lang="en-US" sz="12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461868542" name="Shape 12"/>
          <p:cNvSpPr/>
          <p:nvPr/>
        </p:nvSpPr>
        <p:spPr bwMode="auto">
          <a:xfrm>
            <a:off x="365760" y="3493008"/>
            <a:ext cx="3657600" cy="347472"/>
          </a:xfrm>
          <a:prstGeom prst="rect">
            <a:avLst/>
          </a:prstGeom>
          <a:solidFill>
            <a:schemeClr val="accent6">
              <a:lumMod val="25000"/>
            </a:schemeClr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048304012" name="Text 13"/>
          <p:cNvSpPr/>
          <p:nvPr/>
        </p:nvSpPr>
        <p:spPr bwMode="auto">
          <a:xfrm>
            <a:off x="502920" y="3511296"/>
            <a:ext cx="3474720" cy="274320"/>
          </a:xfrm>
          <a:prstGeom prst="rect">
            <a:avLst/>
          </a:prstGeom>
          <a:solidFill>
            <a:schemeClr val="accent6">
              <a:lumMod val="2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●  Appels API</a:t>
            </a:r>
            <a:endParaRPr lang="en-US" sz="12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281369112" name="Shape 14"/>
          <p:cNvSpPr/>
          <p:nvPr/>
        </p:nvSpPr>
        <p:spPr bwMode="auto">
          <a:xfrm>
            <a:off x="365760" y="3950208"/>
            <a:ext cx="3657600" cy="347472"/>
          </a:xfrm>
          <a:prstGeom prst="rect">
            <a:avLst/>
          </a:prstGeom>
          <a:solidFill>
            <a:schemeClr val="accent6">
              <a:lumMod val="25000"/>
            </a:schemeClr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433115639" name="Text 15"/>
          <p:cNvSpPr/>
          <p:nvPr/>
        </p:nvSpPr>
        <p:spPr bwMode="auto">
          <a:xfrm>
            <a:off x="502920" y="3968496"/>
            <a:ext cx="3474720" cy="274320"/>
          </a:xfrm>
          <a:prstGeom prst="rect">
            <a:avLst/>
          </a:prstGeom>
          <a:solidFill>
            <a:schemeClr val="accent6">
              <a:lumMod val="2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●  Transformations ETL</a:t>
            </a:r>
            <a:endParaRPr lang="en-US" sz="12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655679250" name="Shape 3"/>
          <p:cNvSpPr/>
          <p:nvPr/>
        </p:nvSpPr>
        <p:spPr bwMode="auto">
          <a:xfrm>
            <a:off x="365760" y="2012478"/>
            <a:ext cx="3749040" cy="5943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40000"/>
                <a:lumOff val="6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59375881" name="Text 4"/>
          <p:cNvSpPr/>
          <p:nvPr/>
        </p:nvSpPr>
        <p:spPr bwMode="auto">
          <a:xfrm>
            <a:off x="517097" y="2076893"/>
            <a:ext cx="1680298" cy="400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Paramètre</a:t>
            </a:r>
            <a:r>
              <a:rPr lang="en-US" sz="120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120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clé</a:t>
            </a:r>
            <a:r>
              <a:rPr lang="en-US" sz="1200" b="1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 : </a:t>
            </a:r>
            <a:endParaRPr lang="en-US" sz="1200"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649106500" name="Text 6"/>
          <p:cNvSpPr/>
          <p:nvPr/>
        </p:nvSpPr>
        <p:spPr bwMode="auto">
          <a:xfrm>
            <a:off x="1799916" y="2060679"/>
            <a:ext cx="2314884" cy="497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fr-FR" sz="1200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python_callable</a:t>
            </a:r>
            <a:r>
              <a:rPr lang="fr-FR" sz="1200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  →  la </a:t>
            </a:r>
            <a:endParaRPr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fr-FR" sz="1200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fonction Python à appeler</a:t>
            </a:r>
            <a:endParaRPr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802128324" name="Shape 4"/>
          <p:cNvSpPr/>
          <p:nvPr/>
        </p:nvSpPr>
        <p:spPr bwMode="auto">
          <a:xfrm>
            <a:off x="365760" y="1210130"/>
            <a:ext cx="3749040" cy="5943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1413744195" name="Text 5"/>
          <p:cNvSpPr/>
          <p:nvPr/>
        </p:nvSpPr>
        <p:spPr bwMode="auto">
          <a:xfrm>
            <a:off x="502920" y="122219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Permet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d'exécuter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une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fonction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 Python 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directement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 dans un DAG, sans infrastructure 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supplémentaire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.</a:t>
            </a:r>
            <a:endParaRPr lang="en-US" sz="1200"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028198513" name="Shape 16"/>
          <p:cNvSpPr/>
          <p:nvPr/>
        </p:nvSpPr>
        <p:spPr bwMode="auto">
          <a:xfrm>
            <a:off x="5065222" y="1458011"/>
            <a:ext cx="3227646" cy="286856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>
                <a:lumMod val="10000"/>
              </a:schemeClr>
            </a:solidFill>
            <a:prstDash val="solid"/>
          </a:ln>
        </p:spPr>
      </p:sp>
      <p:sp>
        <p:nvSpPr>
          <p:cNvPr id="1006550475" name="Text 17"/>
          <p:cNvSpPr/>
          <p:nvPr/>
        </p:nvSpPr>
        <p:spPr bwMode="auto">
          <a:xfrm>
            <a:off x="5281861" y="1554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B7280"/>
                </a:solidFill>
                <a:latin typeface="Times New Roman"/>
                <a:ea typeface="Consolas"/>
                <a:cs typeface="Times New Roman"/>
              </a:rPr>
              <a:t># </a:t>
            </a:r>
            <a:r>
              <a:rPr lang="en-US" sz="1100">
                <a:solidFill>
                  <a:srgbClr val="6B7280"/>
                </a:solidFill>
                <a:latin typeface="Times New Roman"/>
                <a:ea typeface="Consolas"/>
                <a:cs typeface="Times New Roman"/>
              </a:rPr>
              <a:t>Exemple</a:t>
            </a:r>
            <a:endParaRPr lang="en-US" sz="1100">
              <a:latin typeface="Times New Roman"/>
              <a:cs typeface="Times New Roman"/>
            </a:endParaRPr>
          </a:p>
        </p:txBody>
      </p:sp>
      <p:sp>
        <p:nvSpPr>
          <p:cNvPr id="623911456" name="Text 18"/>
          <p:cNvSpPr/>
          <p:nvPr/>
        </p:nvSpPr>
        <p:spPr bwMode="auto">
          <a:xfrm>
            <a:off x="5725438" y="2045999"/>
            <a:ext cx="3227646" cy="2043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C3AED"/>
                </a:solidFill>
                <a:latin typeface="Times New Roman"/>
                <a:ea typeface="Consolas"/>
                <a:cs typeface="Times New Roman"/>
              </a:rPr>
              <a:t>from</a:t>
            </a:r>
            <a:r>
              <a:rPr lang="en-US" sz="1100">
                <a:solidFill>
                  <a:srgbClr val="FFFFFF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airflow.operators.python</a:t>
            </a:r>
            <a:endParaRPr lang="en-US" sz="1100">
              <a:solidFill>
                <a:schemeClr val="tx1"/>
              </a:solidFill>
              <a:latin typeface="Times New Roman"/>
              <a:ea typeface="Consolas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>
                <a:solidFill>
                  <a:srgbClr val="7C3AED"/>
                </a:solidFill>
                <a:latin typeface="Times New Roman"/>
                <a:ea typeface="Consolas"/>
                <a:cs typeface="Times New Roman"/>
              </a:rPr>
              <a:t>import</a:t>
            </a:r>
            <a:r>
              <a:rPr lang="en-US" sz="1100">
                <a:solidFill>
                  <a:srgbClr val="FFFFFF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PythonOperator</a:t>
            </a:r>
            <a:br>
              <a:rPr lang="en-US" sz="1100">
                <a:solidFill>
                  <a:srgbClr val="FFFFFF"/>
                </a:solidFill>
                <a:latin typeface="Times New Roman"/>
                <a:ea typeface="Consolas"/>
                <a:cs typeface="Times New Roman"/>
              </a:rPr>
            </a:br>
            <a:br>
              <a:rPr lang="en-US" sz="1100">
                <a:solidFill>
                  <a:srgbClr val="FFFFFF"/>
                </a:solidFill>
                <a:latin typeface="Times New Roman"/>
                <a:ea typeface="Consolas"/>
                <a:cs typeface="Times New Roman"/>
              </a:rPr>
            </a:br>
            <a:r>
              <a:rPr lang="en-US" sz="1100">
                <a:solidFill>
                  <a:srgbClr val="00C4CC"/>
                </a:solidFill>
                <a:latin typeface="Times New Roman"/>
                <a:ea typeface="Consolas"/>
                <a:cs typeface="Times New Roman"/>
              </a:rPr>
              <a:t>def</a:t>
            </a:r>
            <a:r>
              <a:rPr lang="en-US" sz="1100">
                <a:solidFill>
                  <a:srgbClr val="F59E0B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>
                <a:solidFill>
                  <a:srgbClr val="F59E0B"/>
                </a:solidFill>
                <a:latin typeface="Times New Roman"/>
                <a:ea typeface="Consolas"/>
                <a:cs typeface="Times New Roman"/>
              </a:rPr>
              <a:t>ma_fonction</a:t>
            </a: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():</a:t>
            </a:r>
            <a:br>
              <a:rPr lang="en-US" sz="1100">
                <a:solidFill>
                  <a:srgbClr val="FFFFFF"/>
                </a:solidFill>
                <a:latin typeface="Times New Roman"/>
                <a:ea typeface="Consolas"/>
                <a:cs typeface="Times New Roman"/>
              </a:rPr>
            </a:br>
            <a:r>
              <a:rPr lang="en-US" sz="1100">
                <a:solidFill>
                  <a:srgbClr val="00C4CC"/>
                </a:solidFill>
                <a:latin typeface="Times New Roman"/>
                <a:ea typeface="Consolas"/>
                <a:cs typeface="Times New Roman"/>
              </a:rPr>
              <a:t>    print</a:t>
            </a: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(</a:t>
            </a:r>
            <a:r>
              <a:rPr lang="en-US" sz="1100">
                <a:solidFill>
                  <a:srgbClr val="86EFAC"/>
                </a:solidFill>
                <a:latin typeface="Times New Roman"/>
                <a:ea typeface="Consolas"/>
                <a:cs typeface="Times New Roman"/>
              </a:rPr>
              <a:t>"Hello Airflow!"</a:t>
            </a: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)</a:t>
            </a:r>
            <a:br>
              <a:rPr lang="en-US" sz="1100">
                <a:solidFill>
                  <a:srgbClr val="FFFFFF"/>
                </a:solidFill>
                <a:latin typeface="Times New Roman"/>
                <a:ea typeface="Consolas"/>
                <a:cs typeface="Times New Roman"/>
              </a:rPr>
            </a:br>
            <a:br>
              <a:rPr lang="en-US" sz="1100">
                <a:solidFill>
                  <a:srgbClr val="FFFFFF"/>
                </a:solidFill>
                <a:latin typeface="Times New Roman"/>
                <a:ea typeface="Consolas"/>
                <a:cs typeface="Times New Roman"/>
              </a:rPr>
            </a:b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task</a:t>
            </a:r>
            <a:r>
              <a:rPr lang="en-US" sz="1100">
                <a:solidFill>
                  <a:srgbClr val="7C3AED"/>
                </a:solidFill>
                <a:latin typeface="Times New Roman"/>
                <a:ea typeface="Consolas"/>
                <a:cs typeface="Times New Roman"/>
              </a:rPr>
              <a:t> = </a:t>
            </a:r>
            <a:r>
              <a:rPr lang="en-US" sz="1100">
                <a:solidFill>
                  <a:srgbClr val="F59E0B"/>
                </a:solidFill>
                <a:latin typeface="Times New Roman"/>
                <a:ea typeface="Consolas"/>
                <a:cs typeface="Times New Roman"/>
              </a:rPr>
              <a:t>PythonOperator</a:t>
            </a: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(</a:t>
            </a:r>
            <a:br>
              <a:rPr lang="en-US" sz="1100">
                <a:solidFill>
                  <a:srgbClr val="FFFFFF"/>
                </a:solidFill>
                <a:latin typeface="Times New Roman"/>
                <a:ea typeface="Consolas"/>
                <a:cs typeface="Times New Roman"/>
              </a:rPr>
            </a:br>
            <a:r>
              <a:rPr lang="en-US" sz="1100">
                <a:solidFill>
                  <a:srgbClr val="CBD5E1"/>
                </a:solidFill>
                <a:latin typeface="Times New Roman"/>
                <a:ea typeface="Consolas"/>
                <a:cs typeface="Times New Roman"/>
              </a:rPr>
              <a:t>    </a:t>
            </a: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task_id</a:t>
            </a:r>
            <a:r>
              <a:rPr lang="en-US" sz="1100">
                <a:solidFill>
                  <a:srgbClr val="7C3AED"/>
                </a:solidFill>
                <a:latin typeface="Times New Roman"/>
                <a:ea typeface="Consolas"/>
                <a:cs typeface="Times New Roman"/>
              </a:rPr>
              <a:t>=</a:t>
            </a:r>
            <a:r>
              <a:rPr lang="en-US" sz="1100">
                <a:solidFill>
                  <a:srgbClr val="86EFAC"/>
                </a:solidFill>
                <a:latin typeface="Times New Roman"/>
                <a:ea typeface="Consolas"/>
                <a:cs typeface="Times New Roman"/>
              </a:rPr>
              <a:t>'</a:t>
            </a:r>
            <a:r>
              <a:rPr lang="en-US" sz="1100">
                <a:solidFill>
                  <a:srgbClr val="86EFAC"/>
                </a:solidFill>
                <a:latin typeface="Times New Roman"/>
                <a:ea typeface="Consolas"/>
                <a:cs typeface="Times New Roman"/>
              </a:rPr>
              <a:t>ma_tache</a:t>
            </a:r>
            <a:r>
              <a:rPr lang="en-US" sz="1100">
                <a:solidFill>
                  <a:srgbClr val="86EFAC"/>
                </a:solidFill>
                <a:latin typeface="Times New Roman"/>
                <a:ea typeface="Consolas"/>
                <a:cs typeface="Times New Roman"/>
              </a:rPr>
              <a:t>',</a:t>
            </a:r>
            <a:br>
              <a:rPr lang="en-US" sz="1100">
                <a:solidFill>
                  <a:srgbClr val="86EFAC"/>
                </a:solidFill>
                <a:latin typeface="Times New Roman"/>
                <a:ea typeface="Consolas"/>
                <a:cs typeface="Times New Roman"/>
              </a:rPr>
            </a:br>
            <a:r>
              <a:rPr lang="en-US" sz="1100">
                <a:solidFill>
                  <a:srgbClr val="CBD5E1"/>
                </a:solidFill>
                <a:latin typeface="Times New Roman"/>
                <a:ea typeface="Consolas"/>
                <a:cs typeface="Times New Roman"/>
              </a:rPr>
              <a:t>    </a:t>
            </a: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python_callable</a:t>
            </a:r>
            <a:r>
              <a:rPr lang="en-US" sz="1100">
                <a:solidFill>
                  <a:srgbClr val="7C3AED"/>
                </a:solidFill>
                <a:latin typeface="Times New Roman"/>
                <a:ea typeface="Consolas"/>
                <a:cs typeface="Times New Roman"/>
              </a:rPr>
              <a:t>=</a:t>
            </a: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ma_fonction</a:t>
            </a: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,</a:t>
            </a:r>
            <a:b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</a:b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    </a:t>
            </a: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dag</a:t>
            </a:r>
            <a:r>
              <a:rPr lang="en-US" sz="1100">
                <a:solidFill>
                  <a:srgbClr val="7C3AED"/>
                </a:solidFill>
                <a:latin typeface="Times New Roman"/>
                <a:ea typeface="Consolas"/>
                <a:cs typeface="Times New Roman"/>
              </a:rPr>
              <a:t>=</a:t>
            </a: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dag</a:t>
            </a:r>
            <a:b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</a:b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)</a:t>
            </a:r>
            <a:endParaRPr lang="en-US" sz="11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724000897" name="Shape 1"/>
          <p:cNvSpPr/>
          <p:nvPr/>
        </p:nvSpPr>
        <p:spPr bwMode="auto">
          <a:xfrm>
            <a:off x="499078" y="762343"/>
            <a:ext cx="8229600" cy="4571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541505" name="Google Shape;171;p23"/>
          <p:cNvSpPr txBox="1">
            <a:spLocks noGrp="1"/>
          </p:cNvSpPr>
          <p:nvPr>
            <p:ph type="sldNum" idx="12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>
                <a:latin typeface="Times New Roman"/>
                <a:cs typeface="Times New Roman"/>
              </a:rPr>
              <a:t>24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1047044406" name="Shape 30"/>
          <p:cNvSpPr/>
          <p:nvPr/>
        </p:nvSpPr>
        <p:spPr bwMode="auto">
          <a:xfrm>
            <a:off x="375684" y="1177640"/>
            <a:ext cx="8402556" cy="5233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90000"/>
              </a:schemeClr>
            </a:solidFill>
            <a:prstDash val="solid"/>
          </a:ln>
        </p:spPr>
      </p:sp>
      <p:sp>
        <p:nvSpPr>
          <p:cNvPr id="797205275" name="Text 5"/>
          <p:cNvSpPr/>
          <p:nvPr/>
        </p:nvSpPr>
        <p:spPr bwMode="auto">
          <a:xfrm>
            <a:off x="375684" y="1162984"/>
            <a:ext cx="8061056" cy="518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321547"/>
                </a:solidFill>
                <a:latin typeface="Times New Roman"/>
                <a:ea typeface="Calibri"/>
                <a:cs typeface="Times New Roman"/>
              </a:rPr>
              <a:t>Permet</a:t>
            </a:r>
            <a:r>
              <a:rPr lang="en-US" sz="1300">
                <a:solidFill>
                  <a:srgbClr val="321547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300">
                <a:solidFill>
                  <a:srgbClr val="321547"/>
                </a:solidFill>
                <a:latin typeface="Times New Roman"/>
                <a:ea typeface="Calibri"/>
                <a:cs typeface="Times New Roman"/>
              </a:rPr>
              <a:t>d'exécuter</a:t>
            </a:r>
            <a:r>
              <a:rPr lang="en-US" sz="1300">
                <a:solidFill>
                  <a:srgbClr val="321547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300">
                <a:solidFill>
                  <a:srgbClr val="321547"/>
                </a:solidFill>
                <a:latin typeface="Times New Roman"/>
                <a:ea typeface="Calibri"/>
                <a:cs typeface="Times New Roman"/>
              </a:rPr>
              <a:t>n'importe</a:t>
            </a:r>
            <a:r>
              <a:rPr lang="en-US" sz="1300">
                <a:solidFill>
                  <a:srgbClr val="321547"/>
                </a:solidFill>
                <a:latin typeface="Times New Roman"/>
                <a:ea typeface="Calibri"/>
                <a:cs typeface="Times New Roman"/>
              </a:rPr>
              <a:t> quelle </a:t>
            </a:r>
            <a:r>
              <a:rPr lang="en-US" sz="1300">
                <a:solidFill>
                  <a:srgbClr val="321547"/>
                </a:solidFill>
                <a:latin typeface="Times New Roman"/>
                <a:ea typeface="Calibri"/>
                <a:cs typeface="Times New Roman"/>
              </a:rPr>
              <a:t>commande</a:t>
            </a:r>
            <a:r>
              <a:rPr lang="en-US" sz="1300">
                <a:solidFill>
                  <a:srgbClr val="321547"/>
                </a:solidFill>
                <a:latin typeface="Times New Roman"/>
                <a:ea typeface="Calibri"/>
                <a:cs typeface="Times New Roman"/>
              </a:rPr>
              <a:t> Bash </a:t>
            </a:r>
            <a:r>
              <a:rPr lang="en-US" sz="1300">
                <a:solidFill>
                  <a:srgbClr val="321547"/>
                </a:solidFill>
                <a:latin typeface="Times New Roman"/>
                <a:ea typeface="Calibri"/>
                <a:cs typeface="Times New Roman"/>
              </a:rPr>
              <a:t>ou</a:t>
            </a:r>
            <a:r>
              <a:rPr lang="en-US" sz="1300">
                <a:solidFill>
                  <a:srgbClr val="321547"/>
                </a:solidFill>
                <a:latin typeface="Times New Roman"/>
                <a:ea typeface="Calibri"/>
                <a:cs typeface="Times New Roman"/>
              </a:rPr>
              <a:t> script Shell </a:t>
            </a:r>
            <a:r>
              <a:rPr lang="en-US" sz="1300">
                <a:solidFill>
                  <a:srgbClr val="321547"/>
                </a:solidFill>
                <a:latin typeface="Times New Roman"/>
                <a:ea typeface="Calibri"/>
                <a:cs typeface="Times New Roman"/>
              </a:rPr>
              <a:t>depuis</a:t>
            </a:r>
            <a:r>
              <a:rPr lang="en-US" sz="1300">
                <a:solidFill>
                  <a:srgbClr val="321547"/>
                </a:solidFill>
                <a:latin typeface="Times New Roman"/>
                <a:ea typeface="Calibri"/>
                <a:cs typeface="Times New Roman"/>
              </a:rPr>
              <a:t> un DAG Airflow, sans quitter le pipeline.</a:t>
            </a:r>
            <a:endParaRPr lang="en-US" sz="1300">
              <a:solidFill>
                <a:srgbClr val="321547"/>
              </a:solidFill>
              <a:latin typeface="Times New Roman"/>
              <a:cs typeface="Times New Roman"/>
            </a:endParaRPr>
          </a:p>
        </p:txBody>
      </p:sp>
      <p:sp>
        <p:nvSpPr>
          <p:cNvPr id="1513466967" name="Text 12"/>
          <p:cNvSpPr/>
          <p:nvPr/>
        </p:nvSpPr>
        <p:spPr bwMode="auto">
          <a:xfrm>
            <a:off x="375684" y="4014677"/>
            <a:ext cx="2733276" cy="23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i="1">
                <a:solidFill>
                  <a:srgbClr val="321547"/>
                </a:solidFill>
                <a:latin typeface="Times New Roman"/>
                <a:ea typeface="Calibri"/>
                <a:cs typeface="Times New Roman"/>
              </a:rPr>
              <a:t>Cas </a:t>
            </a:r>
            <a:r>
              <a:rPr lang="en-US" sz="1300" b="1" i="1">
                <a:solidFill>
                  <a:srgbClr val="321547"/>
                </a:solidFill>
                <a:latin typeface="Times New Roman"/>
                <a:ea typeface="Calibri"/>
                <a:cs typeface="Times New Roman"/>
              </a:rPr>
              <a:t>d'usage</a:t>
            </a:r>
            <a:r>
              <a:rPr lang="en-US" sz="1300" b="1" i="1">
                <a:solidFill>
                  <a:srgbClr val="321547"/>
                </a:solidFill>
                <a:latin typeface="Times New Roman"/>
                <a:ea typeface="Calibri"/>
                <a:cs typeface="Times New Roman"/>
              </a:rPr>
              <a:t> :</a:t>
            </a:r>
            <a:endParaRPr lang="en-US" sz="1300" i="1">
              <a:solidFill>
                <a:srgbClr val="321547"/>
              </a:solidFill>
              <a:latin typeface="Times New Roman"/>
              <a:cs typeface="Times New Roman"/>
            </a:endParaRPr>
          </a:p>
        </p:txBody>
      </p:sp>
      <p:sp>
        <p:nvSpPr>
          <p:cNvPr id="457112767" name="Shape 13"/>
          <p:cNvSpPr/>
          <p:nvPr/>
        </p:nvSpPr>
        <p:spPr bwMode="auto">
          <a:xfrm>
            <a:off x="365760" y="4338261"/>
            <a:ext cx="2651760" cy="502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67906691" name="Text 14"/>
          <p:cNvSpPr/>
          <p:nvPr/>
        </p:nvSpPr>
        <p:spPr bwMode="auto">
          <a:xfrm>
            <a:off x="457200" y="4365693"/>
            <a:ext cx="2468880" cy="41148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Lancer des scripts Shell</a:t>
            </a:r>
            <a:endParaRPr lang="en-US" sz="12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105552195" name="Shape 15"/>
          <p:cNvSpPr/>
          <p:nvPr/>
        </p:nvSpPr>
        <p:spPr bwMode="auto">
          <a:xfrm>
            <a:off x="3246120" y="4338261"/>
            <a:ext cx="2651760" cy="502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77043479" name="Text 16"/>
          <p:cNvSpPr/>
          <p:nvPr/>
        </p:nvSpPr>
        <p:spPr bwMode="auto">
          <a:xfrm>
            <a:off x="3337560" y="4365693"/>
            <a:ext cx="2468880" cy="41148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 </a:t>
            </a:r>
            <a:r>
              <a:rPr lang="en-US" sz="12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Exécuter</a:t>
            </a:r>
            <a:r>
              <a:rPr lang="en-US" sz="12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des </a:t>
            </a:r>
            <a:r>
              <a:rPr lang="en-US" sz="12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commandes</a:t>
            </a:r>
            <a:r>
              <a:rPr lang="en-US" sz="12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2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système</a:t>
            </a:r>
            <a:endParaRPr lang="en-US" sz="12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412716642" name="Shape 17"/>
          <p:cNvSpPr/>
          <p:nvPr/>
        </p:nvSpPr>
        <p:spPr bwMode="auto">
          <a:xfrm>
            <a:off x="6126480" y="4338261"/>
            <a:ext cx="2651760" cy="502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79318862" name="Text 18"/>
          <p:cNvSpPr/>
          <p:nvPr/>
        </p:nvSpPr>
        <p:spPr bwMode="auto">
          <a:xfrm>
            <a:off x="6217920" y="4365693"/>
            <a:ext cx="2468880" cy="41148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2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Appeler</a:t>
            </a:r>
            <a:r>
              <a:rPr lang="en-US" sz="12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des </a:t>
            </a:r>
            <a:r>
              <a:rPr lang="en-US" sz="12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programmes</a:t>
            </a:r>
            <a:r>
              <a:rPr lang="en-US" sz="12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externes</a:t>
            </a:r>
            <a:endParaRPr lang="en-US" sz="12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199084788" name="Text 9"/>
          <p:cNvSpPr/>
          <p:nvPr/>
        </p:nvSpPr>
        <p:spPr bwMode="auto">
          <a:xfrm>
            <a:off x="365760" y="2537637"/>
            <a:ext cx="2767300" cy="2787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i="1">
                <a:solidFill>
                  <a:srgbClr val="321547"/>
                </a:solidFill>
                <a:latin typeface="Times New Roman"/>
                <a:ea typeface="Calibri"/>
                <a:cs typeface="Times New Roman"/>
              </a:rPr>
              <a:t>Exemple</a:t>
            </a:r>
            <a:r>
              <a:rPr lang="en-US" sz="1300" b="1" i="1">
                <a:solidFill>
                  <a:srgbClr val="321547"/>
                </a:solidFill>
                <a:latin typeface="Times New Roman"/>
                <a:ea typeface="Calibri"/>
                <a:cs typeface="Times New Roman"/>
              </a:rPr>
              <a:t> :</a:t>
            </a:r>
            <a:endParaRPr lang="en-US" sz="1300" i="1">
              <a:solidFill>
                <a:srgbClr val="321547"/>
              </a:solidFill>
              <a:latin typeface="Times New Roman"/>
              <a:cs typeface="Times New Roman"/>
            </a:endParaRPr>
          </a:p>
        </p:txBody>
      </p:sp>
      <p:sp>
        <p:nvSpPr>
          <p:cNvPr id="1813403138" name="Shape 10"/>
          <p:cNvSpPr/>
          <p:nvPr/>
        </p:nvSpPr>
        <p:spPr bwMode="auto">
          <a:xfrm>
            <a:off x="365760" y="2862072"/>
            <a:ext cx="8412480" cy="1097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>
                <a:lumMod val="10000"/>
              </a:schemeClr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>
              <a:latin typeface="Times New Roman"/>
              <a:cs typeface="Times New Roman"/>
            </a:endParaRPr>
          </a:p>
        </p:txBody>
      </p:sp>
      <p:sp>
        <p:nvSpPr>
          <p:cNvPr id="844625639" name="Text 11"/>
          <p:cNvSpPr/>
          <p:nvPr/>
        </p:nvSpPr>
        <p:spPr bwMode="auto">
          <a:xfrm>
            <a:off x="548640" y="2914512"/>
            <a:ext cx="8042467" cy="968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C3AED"/>
                </a:solidFill>
                <a:latin typeface="Times New Roman"/>
                <a:ea typeface="Consolas"/>
                <a:cs typeface="Times New Roman"/>
              </a:rPr>
              <a:t>from</a:t>
            </a:r>
            <a:r>
              <a:rPr lang="en-US" sz="1100">
                <a:solidFill>
                  <a:srgbClr val="FFFFFF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airflow.operators.bash</a:t>
            </a:r>
            <a:r>
              <a:rPr lang="en-US" sz="1100">
                <a:solidFill>
                  <a:srgbClr val="FFFFFF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>
                <a:solidFill>
                  <a:srgbClr val="7C3AED"/>
                </a:solidFill>
                <a:latin typeface="Times New Roman"/>
                <a:ea typeface="Consolas"/>
                <a:cs typeface="Times New Roman"/>
              </a:rPr>
              <a:t>import</a:t>
            </a:r>
            <a:r>
              <a:rPr lang="en-US" sz="1100">
                <a:solidFill>
                  <a:srgbClr val="FFFFFF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BashOperator</a:t>
            </a:r>
            <a:br>
              <a:rPr lang="en-US" sz="1100">
                <a:solidFill>
                  <a:srgbClr val="FFFFFF"/>
                </a:solidFill>
                <a:latin typeface="Times New Roman"/>
                <a:ea typeface="Consolas"/>
                <a:cs typeface="Times New Roman"/>
              </a:rPr>
            </a:br>
            <a:br>
              <a:rPr lang="en-US" sz="1100">
                <a:solidFill>
                  <a:srgbClr val="FFFFFF"/>
                </a:solidFill>
                <a:latin typeface="Times New Roman"/>
                <a:ea typeface="Consolas"/>
                <a:cs typeface="Times New Roman"/>
              </a:rPr>
            </a:b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task</a:t>
            </a:r>
            <a:r>
              <a:rPr lang="en-US" sz="1100">
                <a:solidFill>
                  <a:srgbClr val="7C3AED"/>
                </a:solidFill>
                <a:latin typeface="Times New Roman"/>
                <a:ea typeface="Consolas"/>
                <a:cs typeface="Times New Roman"/>
              </a:rPr>
              <a:t> = </a:t>
            </a:r>
            <a:r>
              <a:rPr lang="en-US" sz="1100">
                <a:solidFill>
                  <a:srgbClr val="F59E0B"/>
                </a:solidFill>
                <a:latin typeface="Times New Roman"/>
                <a:ea typeface="Consolas"/>
                <a:cs typeface="Times New Roman"/>
              </a:rPr>
              <a:t>BashOperator</a:t>
            </a: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(</a:t>
            </a: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task_id</a:t>
            </a: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=</a:t>
            </a:r>
            <a:r>
              <a:rPr lang="en-US" sz="1100">
                <a:solidFill>
                  <a:srgbClr val="86EFAC"/>
                </a:solidFill>
                <a:latin typeface="Times New Roman"/>
                <a:ea typeface="Consolas"/>
                <a:cs typeface="Times New Roman"/>
              </a:rPr>
              <a:t>'</a:t>
            </a:r>
            <a:r>
              <a:rPr lang="en-US" sz="1100">
                <a:solidFill>
                  <a:srgbClr val="86EFAC"/>
                </a:solidFill>
                <a:latin typeface="Times New Roman"/>
                <a:ea typeface="Consolas"/>
                <a:cs typeface="Times New Roman"/>
              </a:rPr>
              <a:t>run_script</a:t>
            </a: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', </a:t>
            </a: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bash_command</a:t>
            </a: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=</a:t>
            </a:r>
            <a:r>
              <a:rPr lang="en-US" sz="1100">
                <a:solidFill>
                  <a:srgbClr val="86EFAC"/>
                </a:solidFill>
                <a:latin typeface="Times New Roman"/>
                <a:ea typeface="Consolas"/>
                <a:cs typeface="Times New Roman"/>
              </a:rPr>
              <a:t>'echo "Pipeline </a:t>
            </a:r>
            <a:r>
              <a:rPr lang="en-US" sz="1100">
                <a:solidFill>
                  <a:srgbClr val="86EFAC"/>
                </a:solidFill>
                <a:latin typeface="Times New Roman"/>
                <a:ea typeface="Consolas"/>
                <a:cs typeface="Times New Roman"/>
              </a:rPr>
              <a:t>lancé</a:t>
            </a:r>
            <a:r>
              <a:rPr lang="en-US" sz="1100">
                <a:solidFill>
                  <a:srgbClr val="86EFAC"/>
                </a:solidFill>
                <a:latin typeface="Times New Roman"/>
                <a:ea typeface="Consolas"/>
                <a:cs typeface="Times New Roman"/>
              </a:rPr>
              <a:t> !"'</a:t>
            </a: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, </a:t>
            </a: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dag</a:t>
            </a: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=</a:t>
            </a: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dag</a:t>
            </a:r>
            <a:r>
              <a:rPr lang="en-US" sz="1100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)</a:t>
            </a:r>
            <a:endParaRPr lang="en-US" sz="11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34743461" name="Shape 3"/>
          <p:cNvSpPr/>
          <p:nvPr/>
        </p:nvSpPr>
        <p:spPr bwMode="auto">
          <a:xfrm>
            <a:off x="365760" y="1901316"/>
            <a:ext cx="5852160" cy="594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2">
                <a:lumMod val="90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fr-FR">
              <a:latin typeface="Times New Roman"/>
              <a:cs typeface="Times New Roman"/>
            </a:endParaRPr>
          </a:p>
        </p:txBody>
      </p:sp>
      <p:sp>
        <p:nvSpPr>
          <p:cNvPr id="255776511" name="Text 4"/>
          <p:cNvSpPr/>
          <p:nvPr/>
        </p:nvSpPr>
        <p:spPr bwMode="auto">
          <a:xfrm>
            <a:off x="470137" y="1932936"/>
            <a:ext cx="16774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21547"/>
                </a:solidFill>
                <a:latin typeface="Times New Roman"/>
                <a:cs typeface="Times New Roman"/>
              </a:rPr>
              <a:t>Paramètre</a:t>
            </a:r>
            <a:r>
              <a:rPr lang="en-US" sz="1200" b="1">
                <a:solidFill>
                  <a:srgbClr val="321547"/>
                </a:solidFill>
                <a:latin typeface="Times New Roman"/>
                <a:cs typeface="Times New Roman"/>
              </a:rPr>
              <a:t> </a:t>
            </a:r>
            <a:r>
              <a:rPr lang="en-US" sz="1200" b="1">
                <a:solidFill>
                  <a:srgbClr val="321547"/>
                </a:solidFill>
                <a:latin typeface="Times New Roman"/>
                <a:cs typeface="Times New Roman"/>
              </a:rPr>
              <a:t>clé</a:t>
            </a:r>
            <a:r>
              <a:rPr lang="en-US" sz="1200" b="1">
                <a:solidFill>
                  <a:srgbClr val="321547"/>
                </a:solidFill>
                <a:latin typeface="Times New Roman"/>
                <a:cs typeface="Times New Roman"/>
              </a:rPr>
              <a:t> : </a:t>
            </a:r>
            <a:endParaRPr lang="en-US" sz="1200">
              <a:solidFill>
                <a:srgbClr val="321547"/>
              </a:solidFill>
              <a:latin typeface="Times New Roman"/>
              <a:cs typeface="Times New Roman"/>
            </a:endParaRPr>
          </a:p>
        </p:txBody>
      </p:sp>
      <p:sp>
        <p:nvSpPr>
          <p:cNvPr id="1931780475" name="Rectangle 1"/>
          <p:cNvSpPr/>
          <p:nvPr/>
        </p:nvSpPr>
        <p:spPr bwMode="auto">
          <a:xfrm>
            <a:off x="1576986" y="1958381"/>
            <a:ext cx="51621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bash_command</a:t>
            </a:r>
            <a:r>
              <a:rPr lang="en-US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  →  la </a:t>
            </a:r>
            <a:r>
              <a:rPr lang="en-US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commande</a:t>
            </a:r>
            <a:r>
              <a:rPr lang="en-US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ou</a:t>
            </a:r>
            <a:r>
              <a:rPr lang="en-US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 le script à </a:t>
            </a:r>
            <a:r>
              <a:rPr lang="en-US">
                <a:solidFill>
                  <a:schemeClr val="tx1"/>
                </a:solidFill>
                <a:latin typeface="Times New Roman"/>
                <a:ea typeface="Consolas"/>
                <a:cs typeface="Times New Roman"/>
              </a:rPr>
              <a:t>exécuter</a:t>
            </a:r>
            <a:endParaRPr lang="en-US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03618671" name="TextBox 2"/>
          <p:cNvSpPr txBox="1"/>
          <p:nvPr/>
        </p:nvSpPr>
        <p:spPr bwMode="auto">
          <a:xfrm>
            <a:off x="499078" y="302319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b="1">
                <a:solidFill>
                  <a:srgbClr val="002060"/>
                </a:solidFill>
                <a:latin typeface="+mj-lt"/>
                <a:cs typeface="Times New Roman"/>
              </a:rPr>
              <a:t>BashOperator</a:t>
            </a:r>
            <a:endParaRPr lang="fr-FR" sz="240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390555040" name="Shape 1"/>
          <p:cNvSpPr/>
          <p:nvPr/>
        </p:nvSpPr>
        <p:spPr bwMode="auto">
          <a:xfrm>
            <a:off x="499078" y="762343"/>
            <a:ext cx="8229600" cy="4571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8544824" name="Google Shape;144;p20"/>
          <p:cNvSpPr txBox="1">
            <a:spLocks noGrp="1"/>
          </p:cNvSpPr>
          <p:nvPr>
            <p:ph type="sldNum" idx="12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>
                <a:latin typeface="Times New Roman"/>
                <a:cs typeface="Times New Roman"/>
              </a:rPr>
              <a:t>25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1078308098" name="Text 1"/>
          <p:cNvSpPr/>
          <p:nvPr/>
        </p:nvSpPr>
        <p:spPr bwMode="auto">
          <a:xfrm>
            <a:off x="499078" y="247580"/>
            <a:ext cx="8229600" cy="54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002060"/>
                </a:solidFill>
                <a:latin typeface="+mj-lt"/>
                <a:ea typeface="Calibri"/>
                <a:cs typeface="Times New Roman"/>
              </a:rPr>
              <a:t>EmailOperator</a:t>
            </a:r>
            <a:endParaRPr lang="en-US" sz="2400">
              <a:solidFill>
                <a:srgbClr val="002060"/>
              </a:solidFill>
              <a:latin typeface="+mj-lt"/>
              <a:cs typeface="Times New Roman"/>
            </a:endParaRPr>
          </a:p>
        </p:txBody>
      </p:sp>
      <p:sp>
        <p:nvSpPr>
          <p:cNvPr id="1401953297" name="Shape 4"/>
          <p:cNvSpPr/>
          <p:nvPr/>
        </p:nvSpPr>
        <p:spPr bwMode="auto">
          <a:xfrm>
            <a:off x="365760" y="1051560"/>
            <a:ext cx="8412480" cy="548640"/>
          </a:xfrm>
          <a:prstGeom prst="rect">
            <a:avLst/>
          </a:prstGeom>
          <a:solidFill>
            <a:srgbClr val="F4FEFE"/>
          </a:solidFill>
          <a:ln w="12700">
            <a:solidFill>
              <a:srgbClr val="063638"/>
            </a:solidFill>
            <a:prstDash val="solid"/>
          </a:ln>
        </p:spPr>
      </p:sp>
      <p:sp>
        <p:nvSpPr>
          <p:cNvPr id="124338624" name="Text 5"/>
          <p:cNvSpPr/>
          <p:nvPr/>
        </p:nvSpPr>
        <p:spPr bwMode="auto">
          <a:xfrm>
            <a:off x="552892" y="1077433"/>
            <a:ext cx="8042467" cy="495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063638"/>
                </a:solidFill>
                <a:latin typeface="Times New Roman"/>
                <a:ea typeface="Calibri"/>
                <a:cs typeface="Times New Roman"/>
              </a:rPr>
              <a:t>Envoie</a:t>
            </a:r>
            <a:r>
              <a:rPr lang="en-US" sz="1300">
                <a:solidFill>
                  <a:srgbClr val="063638"/>
                </a:solidFill>
                <a:latin typeface="Times New Roman"/>
                <a:ea typeface="Calibri"/>
                <a:cs typeface="Times New Roman"/>
              </a:rPr>
              <a:t> un email </a:t>
            </a:r>
            <a:r>
              <a:rPr lang="en-US" sz="1300">
                <a:solidFill>
                  <a:srgbClr val="063638"/>
                </a:solidFill>
                <a:latin typeface="Times New Roman"/>
                <a:ea typeface="Calibri"/>
                <a:cs typeface="Times New Roman"/>
              </a:rPr>
              <a:t>automatiquement</a:t>
            </a:r>
            <a:r>
              <a:rPr lang="en-US" sz="1300">
                <a:solidFill>
                  <a:srgbClr val="063638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300">
                <a:solidFill>
                  <a:srgbClr val="063638"/>
                </a:solidFill>
                <a:latin typeface="Times New Roman"/>
                <a:ea typeface="Calibri"/>
                <a:cs typeface="Times New Roman"/>
              </a:rPr>
              <a:t>depuis</a:t>
            </a:r>
            <a:r>
              <a:rPr lang="en-US" sz="1300">
                <a:solidFill>
                  <a:srgbClr val="063638"/>
                </a:solidFill>
                <a:latin typeface="Times New Roman"/>
                <a:ea typeface="Calibri"/>
                <a:cs typeface="Times New Roman"/>
              </a:rPr>
              <a:t> un DAG. </a:t>
            </a:r>
            <a:r>
              <a:rPr lang="en-US" sz="1300">
                <a:solidFill>
                  <a:srgbClr val="063638"/>
                </a:solidFill>
                <a:latin typeface="Times New Roman"/>
                <a:ea typeface="Calibri"/>
                <a:cs typeface="Times New Roman"/>
              </a:rPr>
              <a:t>Idéal</a:t>
            </a:r>
            <a:r>
              <a:rPr lang="en-US" sz="1300">
                <a:solidFill>
                  <a:srgbClr val="063638"/>
                </a:solidFill>
                <a:latin typeface="Times New Roman"/>
                <a:ea typeface="Calibri"/>
                <a:cs typeface="Times New Roman"/>
              </a:rPr>
              <a:t> pour </a:t>
            </a:r>
            <a:r>
              <a:rPr lang="en-US" sz="1300">
                <a:solidFill>
                  <a:srgbClr val="063638"/>
                </a:solidFill>
                <a:latin typeface="Times New Roman"/>
                <a:ea typeface="Calibri"/>
                <a:cs typeface="Times New Roman"/>
              </a:rPr>
              <a:t>alerter</a:t>
            </a:r>
            <a:r>
              <a:rPr lang="en-US" sz="1300">
                <a:solidFill>
                  <a:srgbClr val="063638"/>
                </a:solidFill>
                <a:latin typeface="Times New Roman"/>
                <a:ea typeface="Calibri"/>
                <a:cs typeface="Times New Roman"/>
              </a:rPr>
              <a:t> les </a:t>
            </a:r>
            <a:r>
              <a:rPr lang="en-US" sz="1300">
                <a:solidFill>
                  <a:srgbClr val="063638"/>
                </a:solidFill>
                <a:latin typeface="Times New Roman"/>
                <a:ea typeface="Calibri"/>
                <a:cs typeface="Times New Roman"/>
              </a:rPr>
              <a:t>équipes</a:t>
            </a:r>
            <a:r>
              <a:rPr lang="en-US" sz="1300">
                <a:solidFill>
                  <a:srgbClr val="063638"/>
                </a:solidFill>
                <a:latin typeface="Times New Roman"/>
                <a:ea typeface="Calibri"/>
                <a:cs typeface="Times New Roman"/>
              </a:rPr>
              <a:t> d'un </a:t>
            </a:r>
            <a:r>
              <a:rPr lang="en-US" sz="1300">
                <a:solidFill>
                  <a:srgbClr val="063638"/>
                </a:solidFill>
                <a:latin typeface="Times New Roman"/>
                <a:ea typeface="Calibri"/>
                <a:cs typeface="Times New Roman"/>
              </a:rPr>
              <a:t>succès</a:t>
            </a:r>
            <a:r>
              <a:rPr lang="en-US" sz="1300">
                <a:solidFill>
                  <a:srgbClr val="063638"/>
                </a:solidFill>
                <a:latin typeface="Times New Roman"/>
                <a:ea typeface="Calibri"/>
                <a:cs typeface="Times New Roman"/>
              </a:rPr>
              <a:t>, d'un </a:t>
            </a:r>
            <a:r>
              <a:rPr lang="en-US" sz="1300">
                <a:solidFill>
                  <a:srgbClr val="063638"/>
                </a:solidFill>
                <a:latin typeface="Times New Roman"/>
                <a:ea typeface="Calibri"/>
                <a:cs typeface="Times New Roman"/>
              </a:rPr>
              <a:t>échec</a:t>
            </a:r>
            <a:r>
              <a:rPr lang="en-US" sz="1300">
                <a:solidFill>
                  <a:srgbClr val="063638"/>
                </a:solidFill>
                <a:latin typeface="Times New Roman"/>
                <a:ea typeface="Calibri"/>
                <a:cs typeface="Times New Roman"/>
              </a:rPr>
              <a:t>, </a:t>
            </a:r>
            <a:r>
              <a:rPr lang="en-US" sz="1300">
                <a:solidFill>
                  <a:srgbClr val="063638"/>
                </a:solidFill>
                <a:latin typeface="Times New Roman"/>
                <a:ea typeface="Calibri"/>
                <a:cs typeface="Times New Roman"/>
              </a:rPr>
              <a:t>ou</a:t>
            </a:r>
            <a:r>
              <a:rPr lang="en-US" sz="1300">
                <a:solidFill>
                  <a:srgbClr val="063638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300">
                <a:solidFill>
                  <a:srgbClr val="063638"/>
                </a:solidFill>
                <a:latin typeface="Times New Roman"/>
                <a:ea typeface="Calibri"/>
                <a:cs typeface="Times New Roman"/>
              </a:rPr>
              <a:t>envoyer</a:t>
            </a:r>
            <a:r>
              <a:rPr lang="en-US" sz="1300">
                <a:solidFill>
                  <a:srgbClr val="063638"/>
                </a:solidFill>
                <a:latin typeface="Times New Roman"/>
                <a:ea typeface="Calibri"/>
                <a:cs typeface="Times New Roman"/>
              </a:rPr>
              <a:t> un rapport.</a:t>
            </a:r>
            <a:endParaRPr lang="en-US" sz="1300">
              <a:solidFill>
                <a:srgbClr val="063638"/>
              </a:solidFill>
              <a:latin typeface="Times New Roman"/>
              <a:cs typeface="Times New Roman"/>
            </a:endParaRPr>
          </a:p>
        </p:txBody>
      </p:sp>
      <p:sp>
        <p:nvSpPr>
          <p:cNvPr id="289182986" name="Text 6"/>
          <p:cNvSpPr/>
          <p:nvPr/>
        </p:nvSpPr>
        <p:spPr bwMode="auto">
          <a:xfrm>
            <a:off x="365760" y="1613983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i="1">
                <a:solidFill>
                  <a:srgbClr val="052729"/>
                </a:solidFill>
                <a:latin typeface="Times New Roman"/>
                <a:ea typeface="Calibri"/>
                <a:cs typeface="Times New Roman"/>
              </a:rPr>
              <a:t>Paramètres</a:t>
            </a:r>
            <a:r>
              <a:rPr lang="en-US" sz="1300" b="1" i="1">
                <a:solidFill>
                  <a:srgbClr val="052729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300" b="1" i="1">
                <a:solidFill>
                  <a:srgbClr val="052729"/>
                </a:solidFill>
                <a:latin typeface="Times New Roman"/>
                <a:ea typeface="Calibri"/>
                <a:cs typeface="Times New Roman"/>
              </a:rPr>
              <a:t>clés</a:t>
            </a:r>
            <a:r>
              <a:rPr lang="en-US" sz="1300" b="1" i="1">
                <a:solidFill>
                  <a:srgbClr val="052729"/>
                </a:solidFill>
                <a:latin typeface="Times New Roman"/>
                <a:ea typeface="Calibri"/>
                <a:cs typeface="Times New Roman"/>
              </a:rPr>
              <a:t> :</a:t>
            </a:r>
            <a:endParaRPr lang="en-US" sz="1300" i="1">
              <a:solidFill>
                <a:srgbClr val="052729"/>
              </a:solidFill>
              <a:latin typeface="Times New Roman"/>
              <a:cs typeface="Times New Roman"/>
            </a:endParaRPr>
          </a:p>
        </p:txBody>
      </p:sp>
      <p:sp>
        <p:nvSpPr>
          <p:cNvPr id="861781439" name="Shape 7"/>
          <p:cNvSpPr/>
          <p:nvPr/>
        </p:nvSpPr>
        <p:spPr bwMode="auto">
          <a:xfrm>
            <a:off x="365760" y="1899471"/>
            <a:ext cx="3200400" cy="32918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2">
                <a:lumMod val="10000"/>
              </a:schemeClr>
            </a:solidFill>
            <a:prstDash val="solid"/>
          </a:ln>
        </p:spPr>
      </p:sp>
      <p:sp>
        <p:nvSpPr>
          <p:cNvPr id="1685593981" name="Shape 8"/>
          <p:cNvSpPr/>
          <p:nvPr/>
        </p:nvSpPr>
        <p:spPr bwMode="auto">
          <a:xfrm>
            <a:off x="3566160" y="1899471"/>
            <a:ext cx="5212080" cy="329184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63638"/>
            </a:solidFill>
            <a:prstDash val="solid"/>
          </a:ln>
        </p:spPr>
      </p:sp>
      <p:sp>
        <p:nvSpPr>
          <p:cNvPr id="657508357" name="Text 9"/>
          <p:cNvSpPr/>
          <p:nvPr/>
        </p:nvSpPr>
        <p:spPr bwMode="auto">
          <a:xfrm>
            <a:off x="457200" y="1917758"/>
            <a:ext cx="3017519" cy="27432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Paramètre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932312714" name="Text 10"/>
          <p:cNvSpPr/>
          <p:nvPr/>
        </p:nvSpPr>
        <p:spPr bwMode="auto">
          <a:xfrm>
            <a:off x="3657600" y="1917758"/>
            <a:ext cx="5029200" cy="27432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Rôle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472503069" name="Shape 11"/>
          <p:cNvSpPr/>
          <p:nvPr/>
        </p:nvSpPr>
        <p:spPr bwMode="auto">
          <a:xfrm>
            <a:off x="365760" y="2246943"/>
            <a:ext cx="3200400" cy="329184"/>
          </a:xfrm>
          <a:prstGeom prst="rect">
            <a:avLst/>
          </a:prstGeom>
          <a:solidFill>
            <a:srgbClr val="F4FEFE"/>
          </a:solidFill>
          <a:ln w="12700">
            <a:solidFill>
              <a:srgbClr val="063638"/>
            </a:solidFill>
            <a:prstDash val="solid"/>
          </a:ln>
        </p:spPr>
      </p:sp>
      <p:sp>
        <p:nvSpPr>
          <p:cNvPr id="208871227" name="Shape 12"/>
          <p:cNvSpPr/>
          <p:nvPr/>
        </p:nvSpPr>
        <p:spPr bwMode="auto">
          <a:xfrm>
            <a:off x="3566160" y="2246943"/>
            <a:ext cx="5212080" cy="329184"/>
          </a:xfrm>
          <a:prstGeom prst="rect">
            <a:avLst/>
          </a:prstGeom>
          <a:solidFill>
            <a:srgbClr val="F4FEFE"/>
          </a:solidFill>
          <a:ln w="12700">
            <a:solidFill>
              <a:srgbClr val="063638"/>
            </a:solidFill>
            <a:prstDash val="solid"/>
          </a:ln>
        </p:spPr>
      </p:sp>
      <p:sp>
        <p:nvSpPr>
          <p:cNvPr id="1578886884" name="Text 13"/>
          <p:cNvSpPr/>
          <p:nvPr/>
        </p:nvSpPr>
        <p:spPr bwMode="auto">
          <a:xfrm>
            <a:off x="457200" y="2265231"/>
            <a:ext cx="3017519" cy="274320"/>
          </a:xfrm>
          <a:prstGeom prst="rect">
            <a:avLst/>
          </a:prstGeom>
          <a:solidFill>
            <a:srgbClr val="F4FEFE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063638"/>
                </a:solidFill>
                <a:latin typeface="Times New Roman"/>
                <a:ea typeface="Consolas"/>
                <a:cs typeface="Times New Roman"/>
              </a:rPr>
              <a:t>`to`</a:t>
            </a:r>
            <a:endParaRPr lang="en-US" sz="1200">
              <a:solidFill>
                <a:srgbClr val="063638"/>
              </a:solidFill>
              <a:latin typeface="Times New Roman"/>
              <a:cs typeface="Times New Roman"/>
            </a:endParaRPr>
          </a:p>
        </p:txBody>
      </p:sp>
      <p:sp>
        <p:nvSpPr>
          <p:cNvPr id="262830735" name="Text 14"/>
          <p:cNvSpPr/>
          <p:nvPr/>
        </p:nvSpPr>
        <p:spPr bwMode="auto">
          <a:xfrm>
            <a:off x="3657600" y="2265231"/>
            <a:ext cx="5029200" cy="274320"/>
          </a:xfrm>
          <a:prstGeom prst="rect">
            <a:avLst/>
          </a:prstGeom>
          <a:solidFill>
            <a:srgbClr val="F4FEFE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Adresse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 du 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destinataire</a:t>
            </a:r>
            <a:endParaRPr lang="en-US" sz="1200"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223831701" name="Shape 15"/>
          <p:cNvSpPr/>
          <p:nvPr/>
        </p:nvSpPr>
        <p:spPr bwMode="auto">
          <a:xfrm>
            <a:off x="365760" y="2594415"/>
            <a:ext cx="3200400" cy="329184"/>
          </a:xfrm>
          <a:prstGeom prst="rect">
            <a:avLst/>
          </a:prstGeom>
          <a:solidFill>
            <a:srgbClr val="F4FEFE"/>
          </a:solidFill>
          <a:ln w="12700">
            <a:solidFill>
              <a:srgbClr val="063638"/>
            </a:solidFill>
            <a:prstDash val="solid"/>
          </a:ln>
        </p:spPr>
      </p:sp>
      <p:sp>
        <p:nvSpPr>
          <p:cNvPr id="2063690801" name="Shape 16"/>
          <p:cNvSpPr/>
          <p:nvPr/>
        </p:nvSpPr>
        <p:spPr bwMode="auto">
          <a:xfrm>
            <a:off x="3566160" y="2594415"/>
            <a:ext cx="5212080" cy="329184"/>
          </a:xfrm>
          <a:prstGeom prst="rect">
            <a:avLst/>
          </a:prstGeom>
          <a:solidFill>
            <a:srgbClr val="F4FEFE"/>
          </a:solidFill>
          <a:ln w="12700">
            <a:solidFill>
              <a:srgbClr val="063638"/>
            </a:solidFill>
            <a:prstDash val="solid"/>
          </a:ln>
        </p:spPr>
      </p:sp>
      <p:sp>
        <p:nvSpPr>
          <p:cNvPr id="424633171" name="Text 17"/>
          <p:cNvSpPr/>
          <p:nvPr/>
        </p:nvSpPr>
        <p:spPr bwMode="auto">
          <a:xfrm>
            <a:off x="457200" y="2612703"/>
            <a:ext cx="3017519" cy="274320"/>
          </a:xfrm>
          <a:prstGeom prst="rect">
            <a:avLst/>
          </a:prstGeom>
          <a:solidFill>
            <a:srgbClr val="F4FEFE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063638"/>
                </a:solidFill>
                <a:latin typeface="Times New Roman"/>
                <a:ea typeface="Consolas"/>
                <a:cs typeface="Times New Roman"/>
              </a:rPr>
              <a:t>`subject</a:t>
            </a:r>
            <a:r>
              <a:rPr lang="en-US" sz="1100">
                <a:solidFill>
                  <a:srgbClr val="063638"/>
                </a:solidFill>
                <a:latin typeface="Times New Roman"/>
                <a:ea typeface="Consolas"/>
                <a:cs typeface="Times New Roman"/>
              </a:rPr>
              <a:t>`</a:t>
            </a:r>
            <a:endParaRPr lang="en-US" sz="1100">
              <a:solidFill>
                <a:srgbClr val="063638"/>
              </a:solidFill>
              <a:latin typeface="Times New Roman"/>
              <a:cs typeface="Times New Roman"/>
            </a:endParaRPr>
          </a:p>
        </p:txBody>
      </p:sp>
      <p:sp>
        <p:nvSpPr>
          <p:cNvPr id="370131658" name="Text 18"/>
          <p:cNvSpPr/>
          <p:nvPr/>
        </p:nvSpPr>
        <p:spPr bwMode="auto">
          <a:xfrm>
            <a:off x="3657600" y="2612703"/>
            <a:ext cx="5029200" cy="274320"/>
          </a:xfrm>
          <a:prstGeom prst="rect">
            <a:avLst/>
          </a:prstGeom>
          <a:solidFill>
            <a:srgbClr val="F4FEFE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Objet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 de 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l'email</a:t>
            </a:r>
            <a:endParaRPr lang="en-US" sz="1200"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541138905" name="Shape 19"/>
          <p:cNvSpPr/>
          <p:nvPr/>
        </p:nvSpPr>
        <p:spPr bwMode="auto">
          <a:xfrm>
            <a:off x="365760" y="2941887"/>
            <a:ext cx="3200400" cy="329184"/>
          </a:xfrm>
          <a:prstGeom prst="rect">
            <a:avLst/>
          </a:prstGeom>
          <a:solidFill>
            <a:srgbClr val="F4FEFE"/>
          </a:solidFill>
          <a:ln w="12700">
            <a:solidFill>
              <a:srgbClr val="063638"/>
            </a:solidFill>
            <a:prstDash val="solid"/>
          </a:ln>
        </p:spPr>
      </p:sp>
      <p:sp>
        <p:nvSpPr>
          <p:cNvPr id="923601803" name="Shape 20"/>
          <p:cNvSpPr/>
          <p:nvPr/>
        </p:nvSpPr>
        <p:spPr bwMode="auto">
          <a:xfrm>
            <a:off x="3566160" y="2941887"/>
            <a:ext cx="5212080" cy="329184"/>
          </a:xfrm>
          <a:prstGeom prst="rect">
            <a:avLst/>
          </a:prstGeom>
          <a:solidFill>
            <a:srgbClr val="F4FEFE"/>
          </a:solidFill>
          <a:ln w="12700">
            <a:solidFill>
              <a:srgbClr val="063638"/>
            </a:solidFill>
            <a:prstDash val="solid"/>
          </a:ln>
        </p:spPr>
      </p:sp>
      <p:sp>
        <p:nvSpPr>
          <p:cNvPr id="1955319242" name="Text 21"/>
          <p:cNvSpPr/>
          <p:nvPr/>
        </p:nvSpPr>
        <p:spPr bwMode="auto">
          <a:xfrm>
            <a:off x="457200" y="2960175"/>
            <a:ext cx="3017519" cy="274320"/>
          </a:xfrm>
          <a:prstGeom prst="rect">
            <a:avLst/>
          </a:prstGeom>
          <a:solidFill>
            <a:srgbClr val="F4FEFE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63638"/>
                </a:solidFill>
                <a:latin typeface="Times New Roman"/>
                <a:ea typeface="Consolas"/>
                <a:cs typeface="Times New Roman"/>
              </a:rPr>
              <a:t>`</a:t>
            </a:r>
            <a:r>
              <a:rPr lang="en-US" sz="1200">
                <a:solidFill>
                  <a:srgbClr val="063638"/>
                </a:solidFill>
                <a:latin typeface="Times New Roman"/>
                <a:ea typeface="Consolas"/>
                <a:cs typeface="Times New Roman"/>
              </a:rPr>
              <a:t>html_content</a:t>
            </a:r>
            <a:r>
              <a:rPr lang="en-US" sz="1200">
                <a:solidFill>
                  <a:srgbClr val="063638"/>
                </a:solidFill>
                <a:latin typeface="Times New Roman"/>
                <a:ea typeface="Consolas"/>
                <a:cs typeface="Times New Roman"/>
              </a:rPr>
              <a:t>`</a:t>
            </a:r>
            <a:endParaRPr lang="en-US" sz="1200">
              <a:solidFill>
                <a:srgbClr val="063638"/>
              </a:solidFill>
              <a:latin typeface="Times New Roman"/>
              <a:cs typeface="Times New Roman"/>
            </a:endParaRPr>
          </a:p>
        </p:txBody>
      </p:sp>
      <p:sp>
        <p:nvSpPr>
          <p:cNvPr id="1763704046" name="Text 22"/>
          <p:cNvSpPr/>
          <p:nvPr/>
        </p:nvSpPr>
        <p:spPr bwMode="auto">
          <a:xfrm>
            <a:off x="3657600" y="2960175"/>
            <a:ext cx="5029200" cy="274320"/>
          </a:xfrm>
          <a:prstGeom prst="rect">
            <a:avLst/>
          </a:prstGeom>
          <a:solidFill>
            <a:srgbClr val="F4FEFE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alibri"/>
                <a:cs typeface="Times New Roman"/>
              </a:rPr>
              <a:t>Corps du message (HTML)</a:t>
            </a:r>
            <a:endParaRPr lang="en-US" sz="1200"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7766542" name="Text 23"/>
          <p:cNvSpPr/>
          <p:nvPr/>
        </p:nvSpPr>
        <p:spPr bwMode="auto">
          <a:xfrm>
            <a:off x="418214" y="3289359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i="1">
                <a:solidFill>
                  <a:srgbClr val="052729"/>
                </a:solidFill>
                <a:latin typeface="Times New Roman"/>
                <a:ea typeface="Calibri"/>
                <a:cs typeface="Times New Roman"/>
              </a:rPr>
              <a:t>Exemple</a:t>
            </a:r>
            <a:r>
              <a:rPr lang="en-US" sz="1300" b="1" i="1">
                <a:solidFill>
                  <a:srgbClr val="052729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300" b="1">
                <a:solidFill>
                  <a:srgbClr val="052729"/>
                </a:solidFill>
                <a:latin typeface="Times New Roman"/>
                <a:ea typeface="Calibri"/>
                <a:cs typeface="Times New Roman"/>
              </a:rPr>
              <a:t>:</a:t>
            </a:r>
            <a:endParaRPr lang="en-US" sz="1300">
              <a:solidFill>
                <a:srgbClr val="052729"/>
              </a:solidFill>
              <a:latin typeface="Times New Roman"/>
              <a:cs typeface="Times New Roman"/>
            </a:endParaRPr>
          </a:p>
        </p:txBody>
      </p:sp>
      <p:sp>
        <p:nvSpPr>
          <p:cNvPr id="2004740076" name="Shape 24"/>
          <p:cNvSpPr/>
          <p:nvPr/>
        </p:nvSpPr>
        <p:spPr bwMode="auto">
          <a:xfrm>
            <a:off x="365760" y="3594375"/>
            <a:ext cx="8412480" cy="674175"/>
          </a:xfrm>
          <a:prstGeom prst="rect">
            <a:avLst/>
          </a:prstGeom>
          <a:solidFill>
            <a:schemeClr val="bg1"/>
          </a:solidFill>
          <a:ln w="12700">
            <a:solidFill>
              <a:srgbClr val="063638"/>
            </a:solidFill>
            <a:prstDash val="solid"/>
          </a:ln>
        </p:spPr>
      </p:sp>
      <p:sp>
        <p:nvSpPr>
          <p:cNvPr id="1069710218" name="Text 25"/>
          <p:cNvSpPr/>
          <p:nvPr/>
        </p:nvSpPr>
        <p:spPr bwMode="auto">
          <a:xfrm>
            <a:off x="457200" y="35060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t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ask</a:t>
            </a:r>
            <a:r>
              <a:rPr lang="en-US" sz="1200">
                <a:solidFill>
                  <a:srgbClr val="7C3AED"/>
                </a:solidFill>
                <a:latin typeface="Times New Roman"/>
                <a:ea typeface="Consolas"/>
                <a:cs typeface="Times New Roman"/>
              </a:rPr>
              <a:t> = </a:t>
            </a:r>
            <a:r>
              <a:rPr lang="en-US" sz="1200">
                <a:solidFill>
                  <a:srgbClr val="F59E0B"/>
                </a:solidFill>
                <a:latin typeface="Times New Roman"/>
                <a:ea typeface="Consolas"/>
                <a:cs typeface="Times New Roman"/>
              </a:rPr>
              <a:t>EmailOperator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(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task_id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=</a:t>
            </a:r>
            <a:r>
              <a:rPr lang="en-US" sz="1200">
                <a:solidFill>
                  <a:srgbClr val="0E7B80"/>
                </a:solidFill>
                <a:latin typeface="Times New Roman"/>
                <a:ea typeface="Consolas"/>
                <a:cs typeface="Times New Roman"/>
              </a:rPr>
              <a:t>'</a:t>
            </a:r>
            <a:r>
              <a:rPr lang="en-US" sz="1200">
                <a:solidFill>
                  <a:srgbClr val="0E7B80"/>
                </a:solidFill>
                <a:latin typeface="Times New Roman"/>
                <a:ea typeface="Consolas"/>
                <a:cs typeface="Times New Roman"/>
              </a:rPr>
              <a:t>send_email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', to=</a:t>
            </a:r>
            <a:r>
              <a:rPr lang="en-US" sz="1200">
                <a:solidFill>
                  <a:srgbClr val="0E7B80"/>
                </a:solidFill>
                <a:latin typeface="Times New Roman"/>
                <a:ea typeface="Consolas"/>
                <a:cs typeface="Times New Roman"/>
              </a:rPr>
              <a:t>'equipe@entreprise.com'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,</a:t>
            </a:r>
            <a:endParaRPr lang="en-US" sz="1200"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Times New Roman"/>
                <a:ea typeface="Consolas"/>
                <a:cs typeface="Times New Roman"/>
              </a:rPr>
              <a:t>         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subject=</a:t>
            </a:r>
            <a:endParaRPr lang="en-US" sz="1200"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1200">
                <a:solidFill>
                  <a:srgbClr val="0E7B80"/>
                </a:solidFill>
                <a:latin typeface="Times New Roman"/>
                <a:ea typeface="Consolas"/>
                <a:cs typeface="Times New Roman"/>
              </a:rPr>
              <a:t>'Pipeline </a:t>
            </a:r>
            <a:r>
              <a:rPr lang="en-US" sz="1200">
                <a:solidFill>
                  <a:srgbClr val="0E7B80"/>
                </a:solidFill>
                <a:latin typeface="Times New Roman"/>
                <a:ea typeface="Consolas"/>
                <a:cs typeface="Times New Roman"/>
              </a:rPr>
              <a:t>terminé</a:t>
            </a:r>
            <a:r>
              <a:rPr lang="en-US" sz="1200">
                <a:solidFill>
                  <a:srgbClr val="86EFAC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200">
                <a:solidFill>
                  <a:schemeClr val="accent4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', </a:t>
            </a:r>
            <a:r>
              <a:rPr lang="en-US" sz="1200">
                <a:solidFill>
                  <a:schemeClr val="accent4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html_content</a:t>
            </a:r>
            <a:r>
              <a:rPr lang="en-US" sz="1200">
                <a:solidFill>
                  <a:srgbClr val="0E7B80"/>
                </a:solidFill>
                <a:latin typeface="Times New Roman"/>
                <a:ea typeface="Consolas"/>
                <a:cs typeface="Times New Roman"/>
              </a:rPr>
              <a:t>='&lt;b&gt;</a:t>
            </a:r>
            <a:r>
              <a:rPr lang="en-US" sz="1200">
                <a:solidFill>
                  <a:srgbClr val="0E7B80"/>
                </a:solidFill>
                <a:latin typeface="Times New Roman"/>
                <a:ea typeface="Consolas"/>
                <a:cs typeface="Times New Roman"/>
              </a:rPr>
              <a:t>Succès</a:t>
            </a:r>
            <a:r>
              <a:rPr lang="en-US" sz="1200">
                <a:solidFill>
                  <a:srgbClr val="0E7B80"/>
                </a:solidFill>
                <a:latin typeface="Times New Roman"/>
                <a:ea typeface="Consolas"/>
                <a:cs typeface="Times New Roman"/>
              </a:rPr>
              <a:t> !&lt;/b&gt;', 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dag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=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dag</a:t>
            </a:r>
            <a:r>
              <a:rPr lang="en-US" sz="1200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)</a:t>
            </a:r>
            <a:endParaRPr lang="en-US" sz="1200"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623881732" name="Shape 26"/>
          <p:cNvSpPr/>
          <p:nvPr/>
        </p:nvSpPr>
        <p:spPr bwMode="auto">
          <a:xfrm>
            <a:off x="365760" y="4449020"/>
            <a:ext cx="2651760" cy="300830"/>
          </a:xfrm>
          <a:prstGeom prst="rect">
            <a:avLst/>
          </a:prstGeom>
          <a:solidFill>
            <a:srgbClr val="063638"/>
          </a:solidFill>
          <a:ln w="12700">
            <a:solidFill>
              <a:srgbClr val="063638"/>
            </a:solidFill>
            <a:prstDash val="solid"/>
          </a:ln>
        </p:spPr>
      </p:sp>
      <p:sp>
        <p:nvSpPr>
          <p:cNvPr id="1242500214" name="Text 27"/>
          <p:cNvSpPr/>
          <p:nvPr/>
        </p:nvSpPr>
        <p:spPr bwMode="auto">
          <a:xfrm>
            <a:off x="457200" y="4467308"/>
            <a:ext cx="2468880" cy="201168"/>
          </a:xfrm>
          <a:prstGeom prst="rect">
            <a:avLst/>
          </a:prstGeom>
          <a:solidFill>
            <a:srgbClr val="063638"/>
          </a:solidFill>
          <a:ln>
            <a:solidFill>
              <a:srgbClr val="063638"/>
            </a:solidFill>
          </a:ln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 Notification de fin de pipeline</a:t>
            </a:r>
            <a:endParaRPr lang="en-US" sz="12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87118991" name="Shape 28"/>
          <p:cNvSpPr/>
          <p:nvPr/>
        </p:nvSpPr>
        <p:spPr bwMode="auto">
          <a:xfrm>
            <a:off x="3246120" y="4449019"/>
            <a:ext cx="2651760" cy="300831"/>
          </a:xfrm>
          <a:prstGeom prst="rect">
            <a:avLst/>
          </a:prstGeom>
          <a:solidFill>
            <a:srgbClr val="063638"/>
          </a:solidFill>
          <a:ln w="12700">
            <a:solidFill>
              <a:srgbClr val="063638"/>
            </a:solidFill>
            <a:prstDash val="solid"/>
          </a:ln>
        </p:spPr>
      </p:sp>
      <p:sp>
        <p:nvSpPr>
          <p:cNvPr id="1677245771" name="Text 29"/>
          <p:cNvSpPr/>
          <p:nvPr/>
        </p:nvSpPr>
        <p:spPr bwMode="auto">
          <a:xfrm>
            <a:off x="3337560" y="4467308"/>
            <a:ext cx="2468880" cy="201168"/>
          </a:xfrm>
          <a:prstGeom prst="rect">
            <a:avLst/>
          </a:prstGeom>
          <a:solidFill>
            <a:srgbClr val="063638"/>
          </a:solidFill>
          <a:ln>
            <a:solidFill>
              <a:srgbClr val="063638"/>
            </a:solidFill>
          </a:ln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Alerte </a:t>
            </a:r>
            <a:r>
              <a:rPr lang="en-US" sz="12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en</a:t>
            </a:r>
            <a:r>
              <a:rPr lang="en-US" sz="12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2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cas</a:t>
            </a:r>
            <a:r>
              <a:rPr lang="en-US" sz="12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2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d'échec</a:t>
            </a:r>
            <a:endParaRPr lang="en-US" sz="12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063763212" name="Shape 30"/>
          <p:cNvSpPr/>
          <p:nvPr/>
        </p:nvSpPr>
        <p:spPr bwMode="auto">
          <a:xfrm>
            <a:off x="6126480" y="4449020"/>
            <a:ext cx="2651760" cy="300830"/>
          </a:xfrm>
          <a:prstGeom prst="rect">
            <a:avLst/>
          </a:prstGeom>
          <a:solidFill>
            <a:srgbClr val="063638"/>
          </a:solidFill>
          <a:ln w="12700">
            <a:solidFill>
              <a:srgbClr val="063638"/>
            </a:solidFill>
            <a:prstDash val="solid"/>
          </a:ln>
        </p:spPr>
      </p:sp>
      <p:sp>
        <p:nvSpPr>
          <p:cNvPr id="1669166767" name="Text 31"/>
          <p:cNvSpPr/>
          <p:nvPr/>
        </p:nvSpPr>
        <p:spPr bwMode="auto">
          <a:xfrm>
            <a:off x="6217920" y="4467308"/>
            <a:ext cx="2468880" cy="201168"/>
          </a:xfrm>
          <a:prstGeom prst="rect">
            <a:avLst/>
          </a:prstGeom>
          <a:solidFill>
            <a:srgbClr val="063638"/>
          </a:solidFill>
          <a:ln>
            <a:solidFill>
              <a:srgbClr val="063638"/>
            </a:solidFill>
          </a:ln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Envoi de rapports </a:t>
            </a:r>
            <a:r>
              <a:rPr lang="en-US" sz="12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automatiques</a:t>
            </a:r>
            <a:endParaRPr lang="en-US" sz="12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618047688" name="Shape 1"/>
          <p:cNvSpPr/>
          <p:nvPr/>
        </p:nvSpPr>
        <p:spPr bwMode="auto">
          <a:xfrm>
            <a:off x="499078" y="762343"/>
            <a:ext cx="8229600" cy="4571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5232281" name="Google Shape;144;p20"/>
          <p:cNvSpPr txBox="1">
            <a:spLocks noGrp="1"/>
          </p:cNvSpPr>
          <p:nvPr>
            <p:ph type="sldNum" idx="12"/>
          </p:nvPr>
        </p:nvSpPr>
        <p:spPr bwMode="auto">
          <a:xfrm>
            <a:off x="8404384" y="462183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>
                <a:latin typeface="Times New Roman"/>
                <a:cs typeface="Times New Roman"/>
              </a:rPr>
              <a:t>26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1301769855" name="Text 1"/>
          <p:cNvSpPr/>
          <p:nvPr/>
        </p:nvSpPr>
        <p:spPr bwMode="auto">
          <a:xfrm>
            <a:off x="457200" y="73152"/>
            <a:ext cx="82714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002060"/>
                </a:solidFill>
                <a:latin typeface="+mj-lt"/>
                <a:ea typeface="Calibri"/>
                <a:cs typeface="Times New Roman"/>
              </a:rPr>
              <a:t>SQL Operators</a:t>
            </a:r>
            <a:endParaRPr lang="en-US" sz="2400">
              <a:solidFill>
                <a:srgbClr val="002060"/>
              </a:solidFill>
              <a:latin typeface="+mj-lt"/>
              <a:cs typeface="Times New Roman"/>
            </a:endParaRPr>
          </a:p>
        </p:txBody>
      </p:sp>
      <p:sp>
        <p:nvSpPr>
          <p:cNvPr id="725287605" name="Shape 4"/>
          <p:cNvSpPr/>
          <p:nvPr/>
        </p:nvSpPr>
        <p:spPr bwMode="auto">
          <a:xfrm>
            <a:off x="365760" y="1051560"/>
            <a:ext cx="8412480" cy="5029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90000"/>
              </a:schemeClr>
            </a:solidFill>
            <a:prstDash val="solid"/>
          </a:ln>
        </p:spPr>
      </p:sp>
      <p:sp>
        <p:nvSpPr>
          <p:cNvPr id="1981897728" name="Text 6"/>
          <p:cNvSpPr/>
          <p:nvPr/>
        </p:nvSpPr>
        <p:spPr bwMode="auto">
          <a:xfrm>
            <a:off x="333862" y="1572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i="1">
                <a:solidFill>
                  <a:srgbClr val="09291E"/>
                </a:solidFill>
                <a:latin typeface="Times New Roman"/>
                <a:ea typeface="Calibri"/>
                <a:cs typeface="Times New Roman"/>
              </a:rPr>
              <a:t>Principaux</a:t>
            </a:r>
            <a:r>
              <a:rPr lang="en-US" sz="1300" b="1" i="1">
                <a:solidFill>
                  <a:srgbClr val="09291E"/>
                </a:solidFill>
                <a:latin typeface="Times New Roman"/>
                <a:ea typeface="Calibri"/>
                <a:cs typeface="Times New Roman"/>
              </a:rPr>
              <a:t> SQL Operators :</a:t>
            </a:r>
            <a:endParaRPr lang="en-US" sz="1300" i="1">
              <a:solidFill>
                <a:srgbClr val="09291E"/>
              </a:solidFill>
              <a:latin typeface="Times New Roman"/>
              <a:cs typeface="Times New Roman"/>
            </a:endParaRPr>
          </a:p>
        </p:txBody>
      </p:sp>
      <p:sp>
        <p:nvSpPr>
          <p:cNvPr id="291788687" name="Shape 7"/>
          <p:cNvSpPr/>
          <p:nvPr/>
        </p:nvSpPr>
        <p:spPr bwMode="auto">
          <a:xfrm>
            <a:off x="365760" y="1865376"/>
            <a:ext cx="3657600" cy="3017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11550260" name="Shape 8"/>
          <p:cNvSpPr/>
          <p:nvPr/>
        </p:nvSpPr>
        <p:spPr bwMode="auto">
          <a:xfrm>
            <a:off x="4023360" y="1865376"/>
            <a:ext cx="4754880" cy="3017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49740458" name="Text 9"/>
          <p:cNvSpPr/>
          <p:nvPr/>
        </p:nvSpPr>
        <p:spPr bwMode="auto">
          <a:xfrm>
            <a:off x="457200" y="18836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Operator</a:t>
            </a:r>
            <a:endParaRPr lang="en-US" sz="11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25379669" name="Text 10"/>
          <p:cNvSpPr/>
          <p:nvPr/>
        </p:nvSpPr>
        <p:spPr bwMode="auto">
          <a:xfrm>
            <a:off x="4114800" y="188366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Base de </a:t>
            </a:r>
            <a:r>
              <a:rPr lang="en-US" sz="1100" b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données</a:t>
            </a:r>
            <a:endParaRPr lang="en-US" sz="11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59308150" name="Shape 11"/>
          <p:cNvSpPr/>
          <p:nvPr/>
        </p:nvSpPr>
        <p:spPr bwMode="auto">
          <a:xfrm>
            <a:off x="365760" y="2185416"/>
            <a:ext cx="3657600" cy="301752"/>
          </a:xfrm>
          <a:prstGeom prst="rect">
            <a:avLst/>
          </a:prstGeom>
          <a:noFill/>
          <a:ln w="12700">
            <a:solidFill>
              <a:srgbClr val="162236"/>
            </a:solidFill>
            <a:prstDash val="solid"/>
          </a:ln>
        </p:spPr>
      </p:sp>
      <p:sp>
        <p:nvSpPr>
          <p:cNvPr id="527631375" name="Shape 12"/>
          <p:cNvSpPr/>
          <p:nvPr/>
        </p:nvSpPr>
        <p:spPr bwMode="auto">
          <a:xfrm>
            <a:off x="4023360" y="2185416"/>
            <a:ext cx="4754880" cy="301752"/>
          </a:xfrm>
          <a:prstGeom prst="rect">
            <a:avLst/>
          </a:prstGeom>
          <a:noFill/>
          <a:ln w="12700">
            <a:solidFill>
              <a:srgbClr val="162236"/>
            </a:solidFill>
            <a:prstDash val="solid"/>
          </a:ln>
        </p:spPr>
      </p:sp>
      <p:sp>
        <p:nvSpPr>
          <p:cNvPr id="1138332433" name="Text 13"/>
          <p:cNvSpPr/>
          <p:nvPr/>
        </p:nvSpPr>
        <p:spPr bwMode="auto">
          <a:xfrm>
            <a:off x="457200" y="22037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`</a:t>
            </a:r>
            <a:r>
              <a:rPr lang="en-US" sz="11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PostgresOperator</a:t>
            </a:r>
            <a:r>
              <a:rPr lang="en-US" sz="11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`</a:t>
            </a:r>
            <a:endParaRPr lang="en-US" sz="1100" b="1"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37751307" name="Text 14"/>
          <p:cNvSpPr/>
          <p:nvPr/>
        </p:nvSpPr>
        <p:spPr bwMode="auto">
          <a:xfrm>
            <a:off x="4114800" y="22037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2">
                    <a:lumMod val="25000"/>
                  </a:schemeClr>
                </a:solidFill>
                <a:latin typeface="Times New Roman"/>
                <a:ea typeface="Calibri"/>
                <a:cs typeface="Times New Roman"/>
              </a:rPr>
              <a:t>PostgreSQL</a:t>
            </a:r>
            <a:endParaRPr lang="en-US" sz="1100">
              <a:solidFill>
                <a:schemeClr val="tx2">
                  <a:lumMod val="2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838101527" name="Shape 15"/>
          <p:cNvSpPr/>
          <p:nvPr/>
        </p:nvSpPr>
        <p:spPr bwMode="auto">
          <a:xfrm>
            <a:off x="365760" y="2505456"/>
            <a:ext cx="3657600" cy="301752"/>
          </a:xfrm>
          <a:prstGeom prst="rect">
            <a:avLst/>
          </a:prstGeom>
          <a:noFill/>
          <a:ln w="12700">
            <a:solidFill>
              <a:srgbClr val="1E2D42"/>
            </a:solidFill>
            <a:prstDash val="solid"/>
          </a:ln>
        </p:spPr>
      </p:sp>
      <p:sp>
        <p:nvSpPr>
          <p:cNvPr id="1091093322" name="Shape 16"/>
          <p:cNvSpPr/>
          <p:nvPr/>
        </p:nvSpPr>
        <p:spPr bwMode="auto">
          <a:xfrm>
            <a:off x="4023360" y="2505456"/>
            <a:ext cx="4754880" cy="301752"/>
          </a:xfrm>
          <a:prstGeom prst="rect">
            <a:avLst/>
          </a:prstGeom>
          <a:noFill/>
          <a:ln w="12700">
            <a:solidFill>
              <a:srgbClr val="1E2D42"/>
            </a:solidFill>
            <a:prstDash val="solid"/>
          </a:ln>
        </p:spPr>
      </p:sp>
      <p:sp>
        <p:nvSpPr>
          <p:cNvPr id="1746730741" name="Text 17"/>
          <p:cNvSpPr/>
          <p:nvPr/>
        </p:nvSpPr>
        <p:spPr bwMode="auto">
          <a:xfrm>
            <a:off x="457200" y="25237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`</a:t>
            </a:r>
            <a:r>
              <a:rPr lang="en-US" sz="11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MySqlOperator</a:t>
            </a:r>
            <a:r>
              <a:rPr lang="en-US" sz="11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`</a:t>
            </a:r>
            <a:endParaRPr lang="en-US" sz="1100" b="1"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726920170" name="Text 18"/>
          <p:cNvSpPr/>
          <p:nvPr/>
        </p:nvSpPr>
        <p:spPr bwMode="auto">
          <a:xfrm>
            <a:off x="4114800" y="25237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2">
                    <a:lumMod val="25000"/>
                  </a:schemeClr>
                </a:solidFill>
                <a:latin typeface="Times New Roman"/>
                <a:ea typeface="Calibri"/>
                <a:cs typeface="Times New Roman"/>
              </a:rPr>
              <a:t>MySQL</a:t>
            </a:r>
            <a:endParaRPr lang="en-US" sz="1100">
              <a:solidFill>
                <a:schemeClr val="tx2">
                  <a:lumMod val="2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423762712" name="Shape 19"/>
          <p:cNvSpPr/>
          <p:nvPr/>
        </p:nvSpPr>
        <p:spPr bwMode="auto">
          <a:xfrm>
            <a:off x="365760" y="2825496"/>
            <a:ext cx="3657600" cy="301752"/>
          </a:xfrm>
          <a:prstGeom prst="rect">
            <a:avLst/>
          </a:prstGeom>
          <a:noFill/>
          <a:ln w="12700">
            <a:solidFill>
              <a:srgbClr val="162236"/>
            </a:solidFill>
            <a:prstDash val="solid"/>
          </a:ln>
        </p:spPr>
      </p:sp>
      <p:sp>
        <p:nvSpPr>
          <p:cNvPr id="1743984082" name="Shape 20"/>
          <p:cNvSpPr/>
          <p:nvPr/>
        </p:nvSpPr>
        <p:spPr bwMode="auto">
          <a:xfrm>
            <a:off x="4023360" y="2825496"/>
            <a:ext cx="4754880" cy="301752"/>
          </a:xfrm>
          <a:prstGeom prst="rect">
            <a:avLst/>
          </a:prstGeom>
          <a:noFill/>
          <a:ln w="12700">
            <a:solidFill>
              <a:srgbClr val="162236"/>
            </a:solidFill>
            <a:prstDash val="solid"/>
          </a:ln>
        </p:spPr>
      </p:sp>
      <p:sp>
        <p:nvSpPr>
          <p:cNvPr id="1441431351" name="Text 21"/>
          <p:cNvSpPr/>
          <p:nvPr/>
        </p:nvSpPr>
        <p:spPr bwMode="auto">
          <a:xfrm>
            <a:off x="457200" y="28437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`SqliteOperator`</a:t>
            </a:r>
            <a:endParaRPr lang="en-US" sz="1100" b="1"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523657018" name="Text 22"/>
          <p:cNvSpPr/>
          <p:nvPr/>
        </p:nvSpPr>
        <p:spPr bwMode="auto">
          <a:xfrm>
            <a:off x="4114800" y="284378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2">
                    <a:lumMod val="25000"/>
                  </a:schemeClr>
                </a:solidFill>
                <a:latin typeface="Times New Roman"/>
                <a:ea typeface="Calibri"/>
                <a:cs typeface="Times New Roman"/>
              </a:rPr>
              <a:t>SQLite</a:t>
            </a:r>
            <a:endParaRPr lang="en-US" sz="1100">
              <a:solidFill>
                <a:schemeClr val="tx2">
                  <a:lumMod val="2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763507637" name="Shape 23"/>
          <p:cNvSpPr/>
          <p:nvPr/>
        </p:nvSpPr>
        <p:spPr bwMode="auto">
          <a:xfrm>
            <a:off x="365760" y="3145536"/>
            <a:ext cx="3657600" cy="301752"/>
          </a:xfrm>
          <a:prstGeom prst="rect">
            <a:avLst/>
          </a:prstGeom>
          <a:noFill/>
          <a:ln w="12700">
            <a:solidFill>
              <a:srgbClr val="1E2D42"/>
            </a:solidFill>
            <a:prstDash val="solid"/>
          </a:ln>
        </p:spPr>
      </p:sp>
      <p:sp>
        <p:nvSpPr>
          <p:cNvPr id="666451739" name="Shape 24"/>
          <p:cNvSpPr/>
          <p:nvPr/>
        </p:nvSpPr>
        <p:spPr bwMode="auto">
          <a:xfrm>
            <a:off x="4023360" y="3145536"/>
            <a:ext cx="4754880" cy="301752"/>
          </a:xfrm>
          <a:prstGeom prst="rect">
            <a:avLst/>
          </a:prstGeom>
          <a:noFill/>
          <a:ln w="12700">
            <a:solidFill>
              <a:srgbClr val="1E2D42"/>
            </a:solidFill>
            <a:prstDash val="solid"/>
          </a:ln>
        </p:spPr>
      </p:sp>
      <p:sp>
        <p:nvSpPr>
          <p:cNvPr id="88132530" name="Text 25"/>
          <p:cNvSpPr/>
          <p:nvPr/>
        </p:nvSpPr>
        <p:spPr bwMode="auto">
          <a:xfrm>
            <a:off x="457200" y="31638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`BigQueryOperator`</a:t>
            </a:r>
            <a:endParaRPr lang="en-US" sz="1100" b="1"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404504955" name="Text 26"/>
          <p:cNvSpPr/>
          <p:nvPr/>
        </p:nvSpPr>
        <p:spPr bwMode="auto">
          <a:xfrm>
            <a:off x="4114800" y="316382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2">
                    <a:lumMod val="25000"/>
                  </a:schemeClr>
                </a:solidFill>
                <a:latin typeface="Times New Roman"/>
                <a:ea typeface="Calibri"/>
                <a:cs typeface="Times New Roman"/>
              </a:rPr>
              <a:t>Google BigQuery</a:t>
            </a:r>
            <a:endParaRPr lang="en-US" sz="1100">
              <a:solidFill>
                <a:schemeClr val="tx2">
                  <a:lumMod val="2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278769363" name="Shape 27"/>
          <p:cNvSpPr/>
          <p:nvPr/>
        </p:nvSpPr>
        <p:spPr bwMode="auto">
          <a:xfrm>
            <a:off x="365760" y="3465576"/>
            <a:ext cx="3657600" cy="301752"/>
          </a:xfrm>
          <a:prstGeom prst="rect">
            <a:avLst/>
          </a:prstGeom>
          <a:noFill/>
          <a:ln w="12700">
            <a:solidFill>
              <a:srgbClr val="162236"/>
            </a:solidFill>
            <a:prstDash val="solid"/>
          </a:ln>
        </p:spPr>
      </p:sp>
      <p:sp>
        <p:nvSpPr>
          <p:cNvPr id="1652022028" name="Shape 28"/>
          <p:cNvSpPr/>
          <p:nvPr/>
        </p:nvSpPr>
        <p:spPr bwMode="auto">
          <a:xfrm>
            <a:off x="4023360" y="3465576"/>
            <a:ext cx="4754880" cy="301752"/>
          </a:xfrm>
          <a:prstGeom prst="rect">
            <a:avLst/>
          </a:prstGeom>
          <a:noFill/>
          <a:ln w="12700">
            <a:solidFill>
              <a:srgbClr val="162236"/>
            </a:solidFill>
            <a:prstDash val="solid"/>
          </a:ln>
        </p:spPr>
      </p:sp>
      <p:sp>
        <p:nvSpPr>
          <p:cNvPr id="170823694" name="Text 29"/>
          <p:cNvSpPr/>
          <p:nvPr/>
        </p:nvSpPr>
        <p:spPr bwMode="auto">
          <a:xfrm>
            <a:off x="457200" y="34838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`</a:t>
            </a:r>
            <a:r>
              <a:rPr lang="en-US" sz="11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MsSqlOperator</a:t>
            </a:r>
            <a:r>
              <a:rPr lang="en-US" sz="11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`</a:t>
            </a:r>
            <a:endParaRPr lang="en-US" sz="1100" b="1"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343878140" name="Text 30"/>
          <p:cNvSpPr/>
          <p:nvPr/>
        </p:nvSpPr>
        <p:spPr bwMode="auto">
          <a:xfrm>
            <a:off x="4114800" y="348386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chemeClr val="tx2">
                    <a:lumMod val="25000"/>
                  </a:schemeClr>
                </a:solidFill>
                <a:latin typeface="Times New Roman"/>
                <a:ea typeface="Calibri"/>
                <a:cs typeface="Times New Roman"/>
              </a:rPr>
              <a:t>Microsoft SQL Server</a:t>
            </a:r>
            <a:endParaRPr lang="en-US" sz="1100">
              <a:solidFill>
                <a:schemeClr val="tx2">
                  <a:lumMod val="2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485534485" name="Text 31"/>
          <p:cNvSpPr/>
          <p:nvPr/>
        </p:nvSpPr>
        <p:spPr bwMode="auto">
          <a:xfrm>
            <a:off x="365760" y="379475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i="1">
                <a:solidFill>
                  <a:srgbClr val="09291E"/>
                </a:solidFill>
                <a:latin typeface="Times New Roman"/>
                <a:ea typeface="Calibri"/>
                <a:cs typeface="Times New Roman"/>
              </a:rPr>
              <a:t>Exemple</a:t>
            </a:r>
            <a:r>
              <a:rPr lang="en-US" sz="1300" b="1" i="1">
                <a:solidFill>
                  <a:srgbClr val="09291E"/>
                </a:solidFill>
                <a:latin typeface="Times New Roman"/>
                <a:ea typeface="Calibri"/>
                <a:cs typeface="Times New Roman"/>
              </a:rPr>
              <a:t> :</a:t>
            </a:r>
            <a:endParaRPr lang="en-US" sz="1300" i="1">
              <a:solidFill>
                <a:srgbClr val="09291E"/>
              </a:solidFill>
              <a:latin typeface="Times New Roman"/>
              <a:cs typeface="Times New Roman"/>
            </a:endParaRPr>
          </a:p>
        </p:txBody>
      </p:sp>
      <p:sp>
        <p:nvSpPr>
          <p:cNvPr id="1793452334" name="Shape 32"/>
          <p:cNvSpPr/>
          <p:nvPr/>
        </p:nvSpPr>
        <p:spPr bwMode="auto">
          <a:xfrm>
            <a:off x="365760" y="4038925"/>
            <a:ext cx="8412480" cy="640081"/>
          </a:xfrm>
          <a:prstGeom prst="rect">
            <a:avLst/>
          </a:prstGeom>
          <a:solidFill>
            <a:schemeClr val="bg1"/>
          </a:solidFill>
          <a:ln w="12700">
            <a:solidFill>
              <a:srgbClr val="104834"/>
            </a:solidFill>
            <a:prstDash val="solid"/>
          </a:ln>
        </p:spPr>
      </p:sp>
      <p:sp>
        <p:nvSpPr>
          <p:cNvPr id="871299" name="Text 33"/>
          <p:cNvSpPr/>
          <p:nvPr/>
        </p:nvSpPr>
        <p:spPr bwMode="auto">
          <a:xfrm>
            <a:off x="548640" y="4030197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accent4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task</a:t>
            </a:r>
            <a:r>
              <a:rPr lang="en-US" sz="1200">
                <a:solidFill>
                  <a:srgbClr val="7C3AED"/>
                </a:solidFill>
                <a:latin typeface="Times New Roman"/>
                <a:ea typeface="Consolas"/>
                <a:cs typeface="Times New Roman"/>
              </a:rPr>
              <a:t> = </a:t>
            </a:r>
            <a:r>
              <a:rPr lang="en-US" sz="1200">
                <a:solidFill>
                  <a:srgbClr val="F59E0B"/>
                </a:solidFill>
                <a:latin typeface="Times New Roman"/>
                <a:ea typeface="Consolas"/>
                <a:cs typeface="Times New Roman"/>
              </a:rPr>
              <a:t>PostgresOperator</a:t>
            </a:r>
            <a:r>
              <a:rPr lang="en-US" sz="1200">
                <a:solidFill>
                  <a:schemeClr val="accent4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(</a:t>
            </a:r>
            <a:r>
              <a:rPr lang="en-US" sz="1200">
                <a:solidFill>
                  <a:schemeClr val="accent4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task_id</a:t>
            </a:r>
            <a:r>
              <a:rPr lang="en-US" sz="1200">
                <a:solidFill>
                  <a:schemeClr val="accent4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=</a:t>
            </a:r>
            <a:r>
              <a:rPr lang="en-US" sz="1200">
                <a:solidFill>
                  <a:srgbClr val="0E7B80"/>
                </a:solidFill>
                <a:latin typeface="Times New Roman"/>
                <a:ea typeface="Consolas"/>
                <a:cs typeface="Times New Roman"/>
              </a:rPr>
              <a:t>'</a:t>
            </a:r>
            <a:r>
              <a:rPr lang="en-US" sz="1200">
                <a:solidFill>
                  <a:srgbClr val="0E7B80"/>
                </a:solidFill>
                <a:latin typeface="Times New Roman"/>
                <a:ea typeface="Consolas"/>
                <a:cs typeface="Times New Roman"/>
              </a:rPr>
              <a:t>creer_table</a:t>
            </a:r>
            <a:r>
              <a:rPr lang="en-US" sz="1200">
                <a:solidFill>
                  <a:srgbClr val="0E7B80"/>
                </a:solidFill>
                <a:latin typeface="Times New Roman"/>
                <a:ea typeface="Consolas"/>
                <a:cs typeface="Times New Roman"/>
              </a:rPr>
              <a:t>'</a:t>
            </a:r>
            <a:r>
              <a:rPr lang="en-US" sz="1200">
                <a:solidFill>
                  <a:schemeClr val="accent4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, </a:t>
            </a:r>
            <a:r>
              <a:rPr lang="en-US" sz="1200">
                <a:solidFill>
                  <a:schemeClr val="accent4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postgres_conn_id</a:t>
            </a:r>
            <a:r>
              <a:rPr lang="en-US" sz="1200">
                <a:solidFill>
                  <a:schemeClr val="accent4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=</a:t>
            </a:r>
            <a:r>
              <a:rPr lang="en-US" sz="1200">
                <a:solidFill>
                  <a:srgbClr val="0E7B80"/>
                </a:solidFill>
                <a:latin typeface="Times New Roman"/>
                <a:ea typeface="Consolas"/>
                <a:cs typeface="Times New Roman"/>
              </a:rPr>
              <a:t>'</a:t>
            </a:r>
            <a:r>
              <a:rPr lang="en-US" sz="1200">
                <a:solidFill>
                  <a:srgbClr val="0E7B80"/>
                </a:solidFill>
                <a:latin typeface="Times New Roman"/>
                <a:ea typeface="Consolas"/>
                <a:cs typeface="Times New Roman"/>
              </a:rPr>
              <a:t>ma_connexion</a:t>
            </a:r>
            <a:r>
              <a:rPr lang="en-US" sz="1200">
                <a:solidFill>
                  <a:srgbClr val="0E7B80"/>
                </a:solidFill>
                <a:latin typeface="Times New Roman"/>
                <a:ea typeface="Consolas"/>
                <a:cs typeface="Times New Roman"/>
              </a:rPr>
              <a:t>'</a:t>
            </a:r>
            <a:r>
              <a:rPr lang="en-US" sz="1200">
                <a:solidFill>
                  <a:srgbClr val="FFFFFF"/>
                </a:solidFill>
                <a:latin typeface="Times New Roman"/>
                <a:ea typeface="Consolas"/>
                <a:cs typeface="Times New Roman"/>
              </a:rPr>
              <a:t>,</a:t>
            </a:r>
            <a:endParaRPr lang="en-US" sz="1200"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Times New Roman"/>
                <a:ea typeface="Consolas"/>
                <a:cs typeface="Times New Roman"/>
              </a:rPr>
              <a:t>         </a:t>
            </a:r>
            <a:r>
              <a:rPr lang="en-US" sz="1200">
                <a:solidFill>
                  <a:schemeClr val="accent4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sql</a:t>
            </a:r>
            <a:r>
              <a:rPr lang="en-US" sz="1200">
                <a:solidFill>
                  <a:schemeClr val="accent4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=</a:t>
            </a:r>
            <a:endParaRPr lang="en-US" sz="1200">
              <a:solidFill>
                <a:schemeClr val="accent4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1200">
                <a:solidFill>
                  <a:srgbClr val="0E7B80"/>
                </a:solidFill>
                <a:latin typeface="Times New Roman"/>
                <a:ea typeface="Consolas"/>
                <a:cs typeface="Times New Roman"/>
              </a:rPr>
              <a:t>'CREATE TABLE IF NOT EXISTS ventes (id INT, </a:t>
            </a:r>
            <a:r>
              <a:rPr lang="en-US" sz="1200">
                <a:solidFill>
                  <a:srgbClr val="0E7B80"/>
                </a:solidFill>
                <a:latin typeface="Times New Roman"/>
                <a:ea typeface="Consolas"/>
                <a:cs typeface="Times New Roman"/>
              </a:rPr>
              <a:t>montant</a:t>
            </a:r>
            <a:r>
              <a:rPr lang="en-US" sz="1200">
                <a:solidFill>
                  <a:srgbClr val="0E7B80"/>
                </a:solidFill>
                <a:latin typeface="Times New Roman"/>
                <a:ea typeface="Consolas"/>
                <a:cs typeface="Times New Roman"/>
              </a:rPr>
              <a:t> FLOAT);', </a:t>
            </a:r>
            <a:r>
              <a:rPr lang="en-US" sz="1200">
                <a:solidFill>
                  <a:schemeClr val="accent4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dag</a:t>
            </a:r>
            <a:r>
              <a:rPr lang="en-US" sz="1200">
                <a:solidFill>
                  <a:schemeClr val="accent4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=</a:t>
            </a:r>
            <a:r>
              <a:rPr lang="en-US" sz="1200">
                <a:solidFill>
                  <a:schemeClr val="accent4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dag</a:t>
            </a:r>
            <a:r>
              <a:rPr lang="en-US" sz="1200">
                <a:solidFill>
                  <a:schemeClr val="accent4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)</a:t>
            </a:r>
            <a:endParaRPr lang="en-US" sz="1200">
              <a:solidFill>
                <a:schemeClr val="accent4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145739711" name="Text 5"/>
          <p:cNvSpPr/>
          <p:nvPr/>
        </p:nvSpPr>
        <p:spPr bwMode="auto">
          <a:xfrm>
            <a:off x="558052" y="1089212"/>
            <a:ext cx="8037307" cy="446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072319"/>
                </a:solidFill>
                <a:latin typeface="Times New Roman"/>
                <a:ea typeface="Calibri"/>
                <a:cs typeface="Times New Roman"/>
              </a:rPr>
              <a:t>Famille</a:t>
            </a:r>
            <a:r>
              <a:rPr lang="en-US" sz="1250">
                <a:solidFill>
                  <a:srgbClr val="072319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250">
                <a:solidFill>
                  <a:srgbClr val="072319"/>
                </a:solidFill>
                <a:latin typeface="Times New Roman"/>
                <a:ea typeface="Calibri"/>
                <a:cs typeface="Times New Roman"/>
              </a:rPr>
              <a:t>d'operators</a:t>
            </a:r>
            <a:r>
              <a:rPr lang="en-US" sz="1250">
                <a:solidFill>
                  <a:srgbClr val="072319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250">
                <a:solidFill>
                  <a:srgbClr val="072319"/>
                </a:solidFill>
                <a:latin typeface="Times New Roman"/>
                <a:ea typeface="Calibri"/>
                <a:cs typeface="Times New Roman"/>
              </a:rPr>
              <a:t>permettant</a:t>
            </a:r>
            <a:r>
              <a:rPr lang="en-US" sz="1250">
                <a:solidFill>
                  <a:srgbClr val="072319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250">
                <a:solidFill>
                  <a:srgbClr val="072319"/>
                </a:solidFill>
                <a:latin typeface="Times New Roman"/>
                <a:ea typeface="Calibri"/>
                <a:cs typeface="Times New Roman"/>
              </a:rPr>
              <a:t>d'interagir</a:t>
            </a:r>
            <a:r>
              <a:rPr lang="en-US" sz="1250">
                <a:solidFill>
                  <a:srgbClr val="072319"/>
                </a:solidFill>
                <a:latin typeface="Times New Roman"/>
                <a:ea typeface="Calibri"/>
                <a:cs typeface="Times New Roman"/>
              </a:rPr>
              <a:t> avec des bases de </a:t>
            </a:r>
            <a:r>
              <a:rPr lang="en-US" sz="1250">
                <a:solidFill>
                  <a:srgbClr val="072319"/>
                </a:solidFill>
                <a:latin typeface="Times New Roman"/>
                <a:ea typeface="Calibri"/>
                <a:cs typeface="Times New Roman"/>
              </a:rPr>
              <a:t>données</a:t>
            </a:r>
            <a:r>
              <a:rPr lang="en-US" sz="1250">
                <a:solidFill>
                  <a:srgbClr val="072319"/>
                </a:solidFill>
                <a:latin typeface="Times New Roman"/>
                <a:ea typeface="Calibri"/>
                <a:cs typeface="Times New Roman"/>
              </a:rPr>
              <a:t> — </a:t>
            </a:r>
            <a:r>
              <a:rPr lang="en-US" sz="1250">
                <a:solidFill>
                  <a:srgbClr val="072319"/>
                </a:solidFill>
                <a:latin typeface="Times New Roman"/>
                <a:ea typeface="Calibri"/>
                <a:cs typeface="Times New Roman"/>
              </a:rPr>
              <a:t>exécuter</a:t>
            </a:r>
            <a:r>
              <a:rPr lang="en-US" sz="1250">
                <a:solidFill>
                  <a:srgbClr val="072319"/>
                </a:solidFill>
                <a:latin typeface="Times New Roman"/>
                <a:ea typeface="Calibri"/>
                <a:cs typeface="Times New Roman"/>
              </a:rPr>
              <a:t> des </a:t>
            </a:r>
            <a:r>
              <a:rPr lang="en-US" sz="1250">
                <a:solidFill>
                  <a:srgbClr val="072319"/>
                </a:solidFill>
                <a:latin typeface="Times New Roman"/>
                <a:ea typeface="Calibri"/>
                <a:cs typeface="Times New Roman"/>
              </a:rPr>
              <a:t>requêtes</a:t>
            </a:r>
            <a:r>
              <a:rPr lang="en-US" sz="1250">
                <a:solidFill>
                  <a:srgbClr val="072319"/>
                </a:solidFill>
                <a:latin typeface="Times New Roman"/>
                <a:ea typeface="Calibri"/>
                <a:cs typeface="Times New Roman"/>
              </a:rPr>
              <a:t>, </a:t>
            </a:r>
            <a:r>
              <a:rPr lang="en-US" sz="1250">
                <a:solidFill>
                  <a:srgbClr val="072319"/>
                </a:solidFill>
                <a:latin typeface="Times New Roman"/>
                <a:ea typeface="Calibri"/>
                <a:cs typeface="Times New Roman"/>
              </a:rPr>
              <a:t>créer</a:t>
            </a:r>
            <a:r>
              <a:rPr lang="en-US" sz="1250">
                <a:solidFill>
                  <a:srgbClr val="072319"/>
                </a:solidFill>
                <a:latin typeface="Times New Roman"/>
                <a:ea typeface="Calibri"/>
                <a:cs typeface="Times New Roman"/>
              </a:rPr>
              <a:t> des tables, </a:t>
            </a:r>
            <a:r>
              <a:rPr lang="en-US" sz="1250">
                <a:solidFill>
                  <a:srgbClr val="072319"/>
                </a:solidFill>
                <a:latin typeface="Times New Roman"/>
                <a:ea typeface="Calibri"/>
                <a:cs typeface="Times New Roman"/>
              </a:rPr>
              <a:t>insérer</a:t>
            </a:r>
            <a:r>
              <a:rPr lang="en-US" sz="1250">
                <a:solidFill>
                  <a:srgbClr val="072319"/>
                </a:solidFill>
                <a:latin typeface="Times New Roman"/>
                <a:ea typeface="Calibri"/>
                <a:cs typeface="Times New Roman"/>
              </a:rPr>
              <a:t> des </a:t>
            </a:r>
            <a:r>
              <a:rPr lang="en-US" sz="1250">
                <a:solidFill>
                  <a:srgbClr val="072319"/>
                </a:solidFill>
                <a:latin typeface="Times New Roman"/>
                <a:ea typeface="Calibri"/>
                <a:cs typeface="Times New Roman"/>
              </a:rPr>
              <a:t>données</a:t>
            </a:r>
            <a:r>
              <a:rPr lang="en-US" sz="1250">
                <a:solidFill>
                  <a:srgbClr val="072319"/>
                </a:solidFill>
                <a:latin typeface="Times New Roman"/>
                <a:ea typeface="Calibri"/>
                <a:cs typeface="Times New Roman"/>
              </a:rPr>
              <a:t>.</a:t>
            </a:r>
            <a:endParaRPr lang="en-US" sz="1250">
              <a:solidFill>
                <a:srgbClr val="072319"/>
              </a:solidFill>
              <a:latin typeface="Times New Roman"/>
              <a:cs typeface="Times New Roman"/>
            </a:endParaRPr>
          </a:p>
        </p:txBody>
      </p:sp>
      <p:sp>
        <p:nvSpPr>
          <p:cNvPr id="868998951" name="Shape 1"/>
          <p:cNvSpPr/>
          <p:nvPr/>
        </p:nvSpPr>
        <p:spPr bwMode="auto">
          <a:xfrm>
            <a:off x="499078" y="762343"/>
            <a:ext cx="8229600" cy="4571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458661" name="Google Shape;216;p25"/>
          <p:cNvSpPr txBox="1">
            <a:spLocks noGrp="1"/>
          </p:cNvSpPr>
          <p:nvPr>
            <p:ph type="sldNum" idx="12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>
                <a:latin typeface="Times New Roman"/>
                <a:cs typeface="Times New Roman"/>
              </a:rPr>
              <a:t>27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17344864" name="Text 1"/>
          <p:cNvSpPr/>
          <p:nvPr/>
        </p:nvSpPr>
        <p:spPr bwMode="auto">
          <a:xfrm>
            <a:off x="499078" y="73152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Sensors</a:t>
            </a:r>
            <a:endParaRPr lang="en-US" sz="3000">
              <a:solidFill>
                <a:srgbClr val="002060"/>
              </a:solidFill>
              <a:latin typeface="Times New Roman"/>
              <a:cs typeface="Times New Roman"/>
            </a:endParaRPr>
          </a:p>
        </p:txBody>
      </p:sp>
      <p:sp>
        <p:nvSpPr>
          <p:cNvPr id="1179646629" name="Shape 4"/>
          <p:cNvSpPr/>
          <p:nvPr/>
        </p:nvSpPr>
        <p:spPr bwMode="auto">
          <a:xfrm>
            <a:off x="365760" y="1126272"/>
            <a:ext cx="8412480" cy="5486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90000"/>
              </a:schemeClr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638820402" name="Text 5"/>
          <p:cNvSpPr/>
          <p:nvPr/>
        </p:nvSpPr>
        <p:spPr bwMode="auto">
          <a:xfrm>
            <a:off x="548640" y="1153704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Les Sensors </a:t>
            </a:r>
            <a:r>
              <a:rPr lang="en-US" sz="13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sont</a:t>
            </a:r>
            <a:r>
              <a:rPr lang="en-US" sz="13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 des operators </a:t>
            </a:r>
            <a:r>
              <a:rPr lang="en-US" sz="13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spéciaux</a:t>
            </a:r>
            <a:r>
              <a:rPr lang="en-US" sz="13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 qui </a:t>
            </a:r>
            <a:r>
              <a:rPr lang="en-US" sz="13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écoutent</a:t>
            </a:r>
            <a:r>
              <a:rPr lang="en-US" sz="13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3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l'environnement</a:t>
            </a:r>
            <a:r>
              <a:rPr lang="en-US" sz="13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3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en</a:t>
            </a:r>
            <a:r>
              <a:rPr lang="en-US" sz="13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 permanence et </a:t>
            </a:r>
            <a:r>
              <a:rPr lang="en-US" sz="13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bloquent</a:t>
            </a:r>
            <a:r>
              <a:rPr lang="en-US" sz="13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 le DAG </a:t>
            </a:r>
            <a:r>
              <a:rPr lang="en-US" sz="13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tant</a:t>
            </a:r>
            <a:r>
              <a:rPr lang="en-US" sz="13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3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qu'une</a:t>
            </a:r>
            <a:r>
              <a:rPr lang="en-US" sz="13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 condition </a:t>
            </a:r>
            <a:r>
              <a:rPr lang="en-US" sz="13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n'est</a:t>
            </a:r>
            <a:r>
              <a:rPr lang="en-US" sz="13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 pas </a:t>
            </a:r>
            <a:r>
              <a:rPr lang="en-US" sz="13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vraie</a:t>
            </a:r>
            <a:r>
              <a:rPr lang="en-US" sz="13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.</a:t>
            </a:r>
            <a:endParaRPr lang="en-US" sz="1300">
              <a:solidFill>
                <a:srgbClr val="3A1212"/>
              </a:solidFill>
              <a:latin typeface="Times New Roman"/>
              <a:cs typeface="Times New Roman"/>
            </a:endParaRPr>
          </a:p>
        </p:txBody>
      </p:sp>
      <p:sp>
        <p:nvSpPr>
          <p:cNvPr id="1974011266" name="Text 6"/>
          <p:cNvSpPr/>
          <p:nvPr/>
        </p:nvSpPr>
        <p:spPr bwMode="auto">
          <a:xfrm>
            <a:off x="365760" y="1700217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i="1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Principaux</a:t>
            </a:r>
            <a:r>
              <a:rPr lang="en-US" sz="1300" b="1" i="1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 Sensors :</a:t>
            </a:r>
            <a:endParaRPr lang="en-US" sz="1300" i="1">
              <a:solidFill>
                <a:srgbClr val="3A1212"/>
              </a:solidFill>
              <a:latin typeface="Times New Roman"/>
              <a:cs typeface="Times New Roman"/>
            </a:endParaRPr>
          </a:p>
        </p:txBody>
      </p:sp>
      <p:sp>
        <p:nvSpPr>
          <p:cNvPr id="790323083" name="Shape 7"/>
          <p:cNvSpPr/>
          <p:nvPr/>
        </p:nvSpPr>
        <p:spPr bwMode="auto">
          <a:xfrm>
            <a:off x="365760" y="1975104"/>
            <a:ext cx="2926080" cy="3017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24351555" name="Shape 8"/>
          <p:cNvSpPr/>
          <p:nvPr/>
        </p:nvSpPr>
        <p:spPr bwMode="auto">
          <a:xfrm>
            <a:off x="3291840" y="1975104"/>
            <a:ext cx="5486400" cy="3017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46950150" name="Text 9"/>
          <p:cNvSpPr/>
          <p:nvPr/>
        </p:nvSpPr>
        <p:spPr bwMode="auto">
          <a:xfrm>
            <a:off x="457200" y="1993392"/>
            <a:ext cx="2743200" cy="2560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Sensor</a:t>
            </a:r>
            <a:endParaRPr lang="en-US" sz="12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706839055" name="Text 10"/>
          <p:cNvSpPr/>
          <p:nvPr/>
        </p:nvSpPr>
        <p:spPr bwMode="auto">
          <a:xfrm>
            <a:off x="3383280" y="1993392"/>
            <a:ext cx="5303520" cy="2560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Ce </a:t>
            </a:r>
            <a:r>
              <a:rPr lang="en-US" sz="1200" b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qu'il</a:t>
            </a:r>
            <a:r>
              <a:rPr lang="en-US" sz="1200" b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 attend</a:t>
            </a:r>
            <a:endParaRPr lang="en-US" sz="12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208131810" name="Shape 11"/>
          <p:cNvSpPr/>
          <p:nvPr/>
        </p:nvSpPr>
        <p:spPr bwMode="auto">
          <a:xfrm>
            <a:off x="365760" y="2295144"/>
            <a:ext cx="2926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763994111" name="Shape 12"/>
          <p:cNvSpPr/>
          <p:nvPr/>
        </p:nvSpPr>
        <p:spPr bwMode="auto">
          <a:xfrm>
            <a:off x="3291840" y="2295144"/>
            <a:ext cx="5486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1892190677" name="Text 13"/>
          <p:cNvSpPr/>
          <p:nvPr/>
        </p:nvSpPr>
        <p:spPr bwMode="auto">
          <a:xfrm>
            <a:off x="457200" y="2313432"/>
            <a:ext cx="27432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`</a:t>
            </a:r>
            <a:r>
              <a:rPr lang="en-US" sz="12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FileSensor</a:t>
            </a:r>
            <a:r>
              <a:rPr lang="en-US" sz="12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`</a:t>
            </a:r>
            <a:endParaRPr lang="en-US" sz="1200" b="1"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753275623" name="Text 14"/>
          <p:cNvSpPr/>
          <p:nvPr/>
        </p:nvSpPr>
        <p:spPr bwMode="auto">
          <a:xfrm>
            <a:off x="3383280" y="2313432"/>
            <a:ext cx="53035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Qu'un</a:t>
            </a: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fichier</a:t>
            </a: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apparaisse</a:t>
            </a:r>
            <a:endParaRPr lang="en-US" sz="12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878033470" name="Shape 15"/>
          <p:cNvSpPr/>
          <p:nvPr/>
        </p:nvSpPr>
        <p:spPr bwMode="auto">
          <a:xfrm>
            <a:off x="365760" y="2615184"/>
            <a:ext cx="2926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354184286" name="Shape 16"/>
          <p:cNvSpPr/>
          <p:nvPr/>
        </p:nvSpPr>
        <p:spPr bwMode="auto">
          <a:xfrm>
            <a:off x="3291840" y="2615184"/>
            <a:ext cx="5486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829470008" name="Text 17"/>
          <p:cNvSpPr/>
          <p:nvPr/>
        </p:nvSpPr>
        <p:spPr bwMode="auto">
          <a:xfrm>
            <a:off x="457200" y="2633472"/>
            <a:ext cx="27432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`</a:t>
            </a:r>
            <a:r>
              <a:rPr lang="en-US" sz="12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HttpSensor</a:t>
            </a:r>
            <a:r>
              <a:rPr lang="en-US" sz="12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`</a:t>
            </a:r>
            <a:endParaRPr lang="en-US" sz="1200" b="1"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519887841" name="Text 18"/>
          <p:cNvSpPr/>
          <p:nvPr/>
        </p:nvSpPr>
        <p:spPr bwMode="auto">
          <a:xfrm>
            <a:off x="3383280" y="2633472"/>
            <a:ext cx="53035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Qu'une</a:t>
            </a: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API </a:t>
            </a: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réponde</a:t>
            </a:r>
            <a:endParaRPr lang="en-US" sz="12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759611690" name="Shape 19"/>
          <p:cNvSpPr/>
          <p:nvPr/>
        </p:nvSpPr>
        <p:spPr bwMode="auto">
          <a:xfrm>
            <a:off x="365760" y="2935224"/>
            <a:ext cx="2926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1370579552" name="Shape 20"/>
          <p:cNvSpPr/>
          <p:nvPr/>
        </p:nvSpPr>
        <p:spPr bwMode="auto">
          <a:xfrm>
            <a:off x="3291840" y="2935224"/>
            <a:ext cx="5486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768551622" name="Text 21"/>
          <p:cNvSpPr/>
          <p:nvPr/>
        </p:nvSpPr>
        <p:spPr bwMode="auto">
          <a:xfrm>
            <a:off x="457200" y="2953512"/>
            <a:ext cx="27432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`</a:t>
            </a:r>
            <a:r>
              <a:rPr lang="en-US" sz="12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SqlSensor</a:t>
            </a:r>
            <a:r>
              <a:rPr lang="en-US" sz="12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`</a:t>
            </a:r>
            <a:endParaRPr lang="en-US" sz="1200" b="1"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40518853" name="Text 22"/>
          <p:cNvSpPr/>
          <p:nvPr/>
        </p:nvSpPr>
        <p:spPr bwMode="auto">
          <a:xfrm>
            <a:off x="3383280" y="2953512"/>
            <a:ext cx="53035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Qu'une</a:t>
            </a: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requête</a:t>
            </a: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SQL </a:t>
            </a: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retourne</a:t>
            </a: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un </a:t>
            </a: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résultat</a:t>
            </a:r>
            <a:endParaRPr lang="en-US" sz="12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800875402" name="Shape 23"/>
          <p:cNvSpPr/>
          <p:nvPr/>
        </p:nvSpPr>
        <p:spPr bwMode="auto">
          <a:xfrm>
            <a:off x="365760" y="3255264"/>
            <a:ext cx="2926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894906278" name="Shape 24"/>
          <p:cNvSpPr/>
          <p:nvPr/>
        </p:nvSpPr>
        <p:spPr bwMode="auto">
          <a:xfrm>
            <a:off x="3291840" y="3255264"/>
            <a:ext cx="5486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945612058" name="Text 25"/>
          <p:cNvSpPr/>
          <p:nvPr/>
        </p:nvSpPr>
        <p:spPr bwMode="auto">
          <a:xfrm>
            <a:off x="457200" y="3273552"/>
            <a:ext cx="27432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`</a:t>
            </a:r>
            <a:r>
              <a:rPr lang="en-US" sz="12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ExternalTaskSensor</a:t>
            </a:r>
            <a:r>
              <a:rPr lang="en-US" sz="12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`</a:t>
            </a:r>
            <a:endParaRPr lang="en-US" sz="1200" b="1"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85568603" name="Text 26"/>
          <p:cNvSpPr/>
          <p:nvPr/>
        </p:nvSpPr>
        <p:spPr bwMode="auto">
          <a:xfrm>
            <a:off x="3383280" y="3273552"/>
            <a:ext cx="53035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Qu'un</a:t>
            </a: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autre</a:t>
            </a: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DAG </a:t>
            </a: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termine</a:t>
            </a:r>
            <a:endParaRPr lang="en-US" sz="12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841017613" name="Shape 27"/>
          <p:cNvSpPr/>
          <p:nvPr/>
        </p:nvSpPr>
        <p:spPr bwMode="auto">
          <a:xfrm>
            <a:off x="365760" y="3575303"/>
            <a:ext cx="2926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456575568" name="Shape 28"/>
          <p:cNvSpPr/>
          <p:nvPr/>
        </p:nvSpPr>
        <p:spPr bwMode="auto">
          <a:xfrm>
            <a:off x="3291840" y="3575303"/>
            <a:ext cx="5486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1988635522" name="Text 29"/>
          <p:cNvSpPr/>
          <p:nvPr/>
        </p:nvSpPr>
        <p:spPr bwMode="auto">
          <a:xfrm>
            <a:off x="457200" y="3593592"/>
            <a:ext cx="27432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`</a:t>
            </a:r>
            <a:r>
              <a:rPr lang="en-US" sz="12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TimeSensor</a:t>
            </a:r>
            <a:r>
              <a:rPr lang="en-US" sz="1200" b="1">
                <a:solidFill>
                  <a:schemeClr val="tx2">
                    <a:lumMod val="10000"/>
                  </a:schemeClr>
                </a:solidFill>
                <a:latin typeface="Times New Roman"/>
                <a:ea typeface="Consolas"/>
                <a:cs typeface="Times New Roman"/>
              </a:rPr>
              <a:t>`</a:t>
            </a:r>
            <a:endParaRPr lang="en-US" sz="1200" b="1"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996227141" name="Text 30"/>
          <p:cNvSpPr/>
          <p:nvPr/>
        </p:nvSpPr>
        <p:spPr bwMode="auto">
          <a:xfrm>
            <a:off x="3383280" y="3593592"/>
            <a:ext cx="53035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Qu'une</a:t>
            </a: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heure</a:t>
            </a: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précise</a:t>
            </a: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soit </a:t>
            </a:r>
            <a:r>
              <a:rPr lang="en-US" sz="12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atteinte</a:t>
            </a:r>
            <a:endParaRPr lang="en-US" sz="12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2034866735" name="Text 31"/>
          <p:cNvSpPr/>
          <p:nvPr/>
        </p:nvSpPr>
        <p:spPr bwMode="auto">
          <a:xfrm>
            <a:off x="365760" y="3874929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i="1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Paramètres</a:t>
            </a:r>
            <a:r>
              <a:rPr lang="en-US" sz="1300" b="1" i="1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300" b="1" i="1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clés</a:t>
            </a:r>
            <a:r>
              <a:rPr lang="en-US" sz="1300" b="1" i="1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 :</a:t>
            </a:r>
            <a:endParaRPr lang="en-US" sz="1300" i="1">
              <a:solidFill>
                <a:srgbClr val="3A1212"/>
              </a:solidFill>
              <a:latin typeface="Times New Roman"/>
              <a:cs typeface="Times New Roman"/>
            </a:endParaRPr>
          </a:p>
        </p:txBody>
      </p:sp>
      <p:sp>
        <p:nvSpPr>
          <p:cNvPr id="2047718341" name="Shape 32"/>
          <p:cNvSpPr/>
          <p:nvPr/>
        </p:nvSpPr>
        <p:spPr bwMode="auto">
          <a:xfrm>
            <a:off x="365760" y="4156266"/>
            <a:ext cx="2743200" cy="640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90000"/>
              </a:schemeClr>
            </a:solidFill>
            <a:prstDash val="solid"/>
          </a:ln>
        </p:spPr>
      </p:sp>
      <p:sp>
        <p:nvSpPr>
          <p:cNvPr id="2122150653" name="Text 33"/>
          <p:cNvSpPr/>
          <p:nvPr/>
        </p:nvSpPr>
        <p:spPr bwMode="auto">
          <a:xfrm>
            <a:off x="457200" y="4183697"/>
            <a:ext cx="2560320" cy="2560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chemeClr val="accent2">
                    <a:lumMod val="50000"/>
                  </a:schemeClr>
                </a:solidFill>
                <a:latin typeface="Times New Roman"/>
                <a:ea typeface="Consolas"/>
                <a:cs typeface="Times New Roman"/>
              </a:rPr>
              <a:t>poke_interval</a:t>
            </a:r>
            <a:endParaRPr lang="en-US" sz="1200">
              <a:solidFill>
                <a:schemeClr val="accent2">
                  <a:lumMod val="5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2140716313" name="Text 34"/>
          <p:cNvSpPr/>
          <p:nvPr/>
        </p:nvSpPr>
        <p:spPr bwMode="auto">
          <a:xfrm>
            <a:off x="457200" y="4439730"/>
            <a:ext cx="2560320" cy="32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Fréquence</a:t>
            </a:r>
            <a:r>
              <a:rPr lang="en-US" sz="11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 de </a:t>
            </a:r>
            <a:r>
              <a:rPr lang="en-US" sz="11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vérification</a:t>
            </a:r>
            <a:r>
              <a:rPr lang="en-US" sz="11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 (</a:t>
            </a:r>
            <a:r>
              <a:rPr lang="en-US" sz="11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en</a:t>
            </a:r>
            <a:r>
              <a:rPr lang="en-US" sz="11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secondes</a:t>
            </a:r>
            <a:r>
              <a:rPr lang="en-US" sz="11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)</a:t>
            </a:r>
            <a:endParaRPr lang="en-US" sz="1100">
              <a:solidFill>
                <a:srgbClr val="3A1212"/>
              </a:solidFill>
              <a:latin typeface="Times New Roman"/>
              <a:cs typeface="Times New Roman"/>
            </a:endParaRPr>
          </a:p>
        </p:txBody>
      </p:sp>
      <p:sp>
        <p:nvSpPr>
          <p:cNvPr id="2112643264" name="Shape 35"/>
          <p:cNvSpPr/>
          <p:nvPr/>
        </p:nvSpPr>
        <p:spPr bwMode="auto">
          <a:xfrm>
            <a:off x="3291840" y="4156266"/>
            <a:ext cx="2743200" cy="640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90000"/>
              </a:schemeClr>
            </a:solidFill>
            <a:prstDash val="solid"/>
          </a:ln>
        </p:spPr>
      </p:sp>
      <p:sp>
        <p:nvSpPr>
          <p:cNvPr id="1480333199" name="Text 36"/>
          <p:cNvSpPr/>
          <p:nvPr/>
        </p:nvSpPr>
        <p:spPr bwMode="auto">
          <a:xfrm>
            <a:off x="3383280" y="4183697"/>
            <a:ext cx="2560320" cy="2560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chemeClr val="accent2">
                    <a:lumMod val="50000"/>
                  </a:schemeClr>
                </a:solidFill>
                <a:latin typeface="Times New Roman"/>
                <a:ea typeface="Consolas"/>
                <a:cs typeface="Times New Roman"/>
              </a:rPr>
              <a:t>timeout</a:t>
            </a:r>
            <a:endParaRPr lang="en-US" sz="1200">
              <a:solidFill>
                <a:schemeClr val="accent2">
                  <a:lumMod val="5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105874722" name="Text 37"/>
          <p:cNvSpPr/>
          <p:nvPr/>
        </p:nvSpPr>
        <p:spPr bwMode="auto">
          <a:xfrm>
            <a:off x="3381153" y="4458586"/>
            <a:ext cx="2562447" cy="3011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Durée max </a:t>
            </a:r>
            <a:r>
              <a:rPr lang="en-US" sz="11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d'attente</a:t>
            </a:r>
            <a:r>
              <a:rPr lang="en-US" sz="11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avant</a:t>
            </a:r>
            <a:r>
              <a:rPr lang="en-US" sz="11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échec</a:t>
            </a:r>
            <a:endParaRPr lang="en-US" sz="1100">
              <a:solidFill>
                <a:srgbClr val="3A1212"/>
              </a:solidFill>
              <a:latin typeface="Times New Roman"/>
              <a:cs typeface="Times New Roman"/>
            </a:endParaRPr>
          </a:p>
        </p:txBody>
      </p:sp>
      <p:sp>
        <p:nvSpPr>
          <p:cNvPr id="1941881365" name="Shape 38"/>
          <p:cNvSpPr/>
          <p:nvPr/>
        </p:nvSpPr>
        <p:spPr bwMode="auto">
          <a:xfrm>
            <a:off x="6217920" y="4156266"/>
            <a:ext cx="2743200" cy="640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90000"/>
              </a:schemeClr>
            </a:solidFill>
            <a:prstDash val="solid"/>
          </a:ln>
        </p:spPr>
      </p:sp>
      <p:sp>
        <p:nvSpPr>
          <p:cNvPr id="992870481" name="Text 39"/>
          <p:cNvSpPr/>
          <p:nvPr/>
        </p:nvSpPr>
        <p:spPr bwMode="auto">
          <a:xfrm>
            <a:off x="6309360" y="4183697"/>
            <a:ext cx="2560320" cy="2560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chemeClr val="accent2">
                    <a:lumMod val="50000"/>
                  </a:schemeClr>
                </a:solidFill>
                <a:latin typeface="Times New Roman"/>
                <a:ea typeface="Consolas"/>
                <a:cs typeface="Times New Roman"/>
              </a:rPr>
              <a:t>mode</a:t>
            </a:r>
            <a:endParaRPr lang="en-US" sz="1200">
              <a:solidFill>
                <a:schemeClr val="accent2">
                  <a:lumMod val="5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206667116" name="Text 40"/>
          <p:cNvSpPr/>
          <p:nvPr/>
        </p:nvSpPr>
        <p:spPr bwMode="auto">
          <a:xfrm>
            <a:off x="6309360" y="4451498"/>
            <a:ext cx="2558193" cy="3082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'poke' (</a:t>
            </a:r>
            <a:r>
              <a:rPr lang="en-US" sz="11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bloque</a:t>
            </a:r>
            <a:r>
              <a:rPr lang="en-US" sz="11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) </a:t>
            </a:r>
            <a:r>
              <a:rPr lang="en-US" sz="11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ou</a:t>
            </a:r>
            <a:r>
              <a:rPr lang="en-US" sz="11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 'reschedule' (</a:t>
            </a:r>
            <a:r>
              <a:rPr lang="en-US" sz="11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libère</a:t>
            </a:r>
            <a:r>
              <a:rPr lang="en-US" sz="1100">
                <a:solidFill>
                  <a:srgbClr val="3A1212"/>
                </a:solidFill>
                <a:latin typeface="Times New Roman"/>
                <a:ea typeface="Calibri"/>
                <a:cs typeface="Times New Roman"/>
              </a:rPr>
              <a:t>)</a:t>
            </a:r>
            <a:endParaRPr lang="en-US" sz="1100">
              <a:solidFill>
                <a:srgbClr val="3A1212"/>
              </a:solidFill>
              <a:latin typeface="Times New Roman"/>
              <a:cs typeface="Times New Roman"/>
            </a:endParaRPr>
          </a:p>
        </p:txBody>
      </p:sp>
      <p:sp>
        <p:nvSpPr>
          <p:cNvPr id="628526452" name="Shape 1"/>
          <p:cNvSpPr/>
          <p:nvPr/>
        </p:nvSpPr>
        <p:spPr bwMode="auto">
          <a:xfrm>
            <a:off x="499078" y="762343"/>
            <a:ext cx="8229600" cy="4571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721399" name="Espace réservé du numéro de diapositive 1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-FR">
                <a:latin typeface="Times New Roman"/>
                <a:cs typeface="Times New Roman"/>
              </a:rPr>
              <a:t>28</a:t>
            </a:fld>
            <a:endParaRPr lang="fr-FR">
              <a:latin typeface="Times New Roman"/>
              <a:cs typeface="Times New Roman"/>
            </a:endParaRPr>
          </a:p>
        </p:txBody>
      </p:sp>
      <p:sp>
        <p:nvSpPr>
          <p:cNvPr id="72324805" name="Text 1"/>
          <p:cNvSpPr/>
          <p:nvPr/>
        </p:nvSpPr>
        <p:spPr bwMode="auto">
          <a:xfrm>
            <a:off x="432391" y="141767"/>
            <a:ext cx="8254409" cy="5257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162236"/>
                </a:solidFill>
                <a:latin typeface="Times New Roman"/>
                <a:ea typeface="Calibri"/>
                <a:cs typeface="Times New Roman"/>
              </a:rPr>
              <a:t>Récapitulatif</a:t>
            </a:r>
            <a:endParaRPr lang="en-US" sz="3200">
              <a:solidFill>
                <a:srgbClr val="162236"/>
              </a:solidFill>
              <a:latin typeface="Times New Roman"/>
              <a:cs typeface="Times New Roman"/>
            </a:endParaRPr>
          </a:p>
        </p:txBody>
      </p:sp>
      <p:sp>
        <p:nvSpPr>
          <p:cNvPr id="892811043" name="Text 2"/>
          <p:cNvSpPr/>
          <p:nvPr/>
        </p:nvSpPr>
        <p:spPr bwMode="auto">
          <a:xfrm>
            <a:off x="432392" y="595423"/>
            <a:ext cx="8254408" cy="318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endParaRPr lang="en-US" sz="1400">
              <a:solidFill>
                <a:srgbClr val="002060"/>
              </a:solidFill>
              <a:latin typeface="Times New Roman"/>
              <a:cs typeface="Times New Roman"/>
            </a:endParaRPr>
          </a:p>
        </p:txBody>
      </p:sp>
      <p:sp>
        <p:nvSpPr>
          <p:cNvPr id="1426539328" name="Shape 3"/>
          <p:cNvSpPr/>
          <p:nvPr/>
        </p:nvSpPr>
        <p:spPr bwMode="auto">
          <a:xfrm>
            <a:off x="347329" y="948990"/>
            <a:ext cx="2377440" cy="365760"/>
          </a:xfrm>
          <a:prstGeom prst="rect">
            <a:avLst/>
          </a:prstGeom>
          <a:solidFill>
            <a:srgbClr val="14539A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75281240" name="Text 4"/>
          <p:cNvSpPr/>
          <p:nvPr/>
        </p:nvSpPr>
        <p:spPr bwMode="auto">
          <a:xfrm>
            <a:off x="457058" y="967278"/>
            <a:ext cx="2240280" cy="320040"/>
          </a:xfrm>
          <a:prstGeom prst="rect">
            <a:avLst/>
          </a:prstGeom>
          <a:solidFill>
            <a:srgbClr val="14539A"/>
          </a:solidFill>
          <a:ln>
            <a:solidFill>
              <a:schemeClr val="accent2"/>
            </a:solidFill>
          </a:ln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Operator</a:t>
            </a:r>
            <a:endParaRPr lang="en-US" sz="12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764534072" name="Shape 5"/>
          <p:cNvSpPr/>
          <p:nvPr/>
        </p:nvSpPr>
        <p:spPr bwMode="auto">
          <a:xfrm>
            <a:off x="2724770" y="948990"/>
            <a:ext cx="2743200" cy="365760"/>
          </a:xfrm>
          <a:prstGeom prst="rect">
            <a:avLst/>
          </a:prstGeom>
          <a:solidFill>
            <a:srgbClr val="14539A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11061043" name="Text 6"/>
          <p:cNvSpPr/>
          <p:nvPr/>
        </p:nvSpPr>
        <p:spPr bwMode="auto">
          <a:xfrm>
            <a:off x="2834498" y="967278"/>
            <a:ext cx="2606040" cy="320040"/>
          </a:xfrm>
          <a:prstGeom prst="rect">
            <a:avLst/>
          </a:prstGeom>
          <a:solidFill>
            <a:srgbClr val="14539A"/>
          </a:solidFill>
          <a:ln>
            <a:solidFill>
              <a:schemeClr val="accent2"/>
            </a:solidFill>
          </a:ln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Action </a:t>
            </a:r>
            <a:r>
              <a:rPr lang="en-US" sz="1200" b="1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principale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738897931" name="Shape 7"/>
          <p:cNvSpPr/>
          <p:nvPr/>
        </p:nvSpPr>
        <p:spPr bwMode="auto">
          <a:xfrm>
            <a:off x="5467970" y="948990"/>
            <a:ext cx="3236873" cy="365760"/>
          </a:xfrm>
          <a:prstGeom prst="rect">
            <a:avLst/>
          </a:prstGeom>
          <a:solidFill>
            <a:srgbClr val="14539A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52949867" name="Text 8"/>
          <p:cNvSpPr/>
          <p:nvPr/>
        </p:nvSpPr>
        <p:spPr bwMode="auto">
          <a:xfrm>
            <a:off x="5577698" y="967278"/>
            <a:ext cx="3109102" cy="320040"/>
          </a:xfrm>
          <a:prstGeom prst="rect">
            <a:avLst/>
          </a:prstGeom>
          <a:solidFill>
            <a:srgbClr val="14539A"/>
          </a:solidFill>
          <a:ln>
            <a:solidFill>
              <a:schemeClr val="accent2"/>
            </a:solidFill>
          </a:ln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Cas </a:t>
            </a:r>
            <a:r>
              <a:rPr lang="en-US" sz="1200" b="1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d'usage</a:t>
            </a:r>
            <a:r>
              <a:rPr lang="en-US" sz="1200" b="1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200" b="1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typique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161062039" name="Shape 9"/>
          <p:cNvSpPr/>
          <p:nvPr/>
        </p:nvSpPr>
        <p:spPr bwMode="auto">
          <a:xfrm>
            <a:off x="347329" y="1333038"/>
            <a:ext cx="2377440" cy="365760"/>
          </a:xfrm>
          <a:prstGeom prst="rect">
            <a:avLst/>
          </a:prstGeom>
          <a:solidFill>
            <a:srgbClr val="F3F8FD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1437624860" name="Text 10"/>
          <p:cNvSpPr/>
          <p:nvPr/>
        </p:nvSpPr>
        <p:spPr bwMode="auto">
          <a:xfrm>
            <a:off x="457058" y="1351326"/>
            <a:ext cx="2240280" cy="320040"/>
          </a:xfrm>
          <a:prstGeom prst="rect">
            <a:avLst/>
          </a:prstGeom>
          <a:solidFill>
            <a:srgbClr val="F3F8FD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4539A"/>
                </a:solidFill>
                <a:latin typeface="Times New Roman"/>
                <a:ea typeface="Calibri"/>
                <a:cs typeface="Times New Roman"/>
              </a:rPr>
              <a:t>PythonOperator</a:t>
            </a:r>
            <a:endParaRPr lang="en-US" sz="1200" b="1">
              <a:solidFill>
                <a:srgbClr val="14539A"/>
              </a:solidFill>
              <a:latin typeface="Times New Roman"/>
              <a:cs typeface="Times New Roman"/>
            </a:endParaRPr>
          </a:p>
        </p:txBody>
      </p:sp>
      <p:sp>
        <p:nvSpPr>
          <p:cNvPr id="1946565357" name="Shape 11"/>
          <p:cNvSpPr/>
          <p:nvPr/>
        </p:nvSpPr>
        <p:spPr bwMode="auto">
          <a:xfrm>
            <a:off x="2724770" y="1333038"/>
            <a:ext cx="2743200" cy="365760"/>
          </a:xfrm>
          <a:prstGeom prst="rect">
            <a:avLst/>
          </a:prstGeom>
          <a:solidFill>
            <a:srgbClr val="F3F8FD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1034772055" name="Text 12"/>
          <p:cNvSpPr/>
          <p:nvPr/>
        </p:nvSpPr>
        <p:spPr bwMode="auto">
          <a:xfrm>
            <a:off x="2834498" y="1351326"/>
            <a:ext cx="2606040" cy="320040"/>
          </a:xfrm>
          <a:prstGeom prst="rect">
            <a:avLst/>
          </a:prstGeom>
          <a:solidFill>
            <a:srgbClr val="F3F8FD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Exécuter</a:t>
            </a: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 du code Python</a:t>
            </a:r>
            <a:endParaRPr lang="en-US" sz="1200">
              <a:solidFill>
                <a:srgbClr val="405974"/>
              </a:solidFill>
              <a:latin typeface="Times New Roman"/>
              <a:cs typeface="Times New Roman"/>
            </a:endParaRPr>
          </a:p>
        </p:txBody>
      </p:sp>
      <p:sp>
        <p:nvSpPr>
          <p:cNvPr id="1374025535" name="Shape 13"/>
          <p:cNvSpPr/>
          <p:nvPr/>
        </p:nvSpPr>
        <p:spPr bwMode="auto">
          <a:xfrm>
            <a:off x="5467970" y="1333038"/>
            <a:ext cx="3236873" cy="365760"/>
          </a:xfrm>
          <a:prstGeom prst="rect">
            <a:avLst/>
          </a:prstGeom>
          <a:solidFill>
            <a:srgbClr val="F3F8FD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1148898435" name="Text 14"/>
          <p:cNvSpPr/>
          <p:nvPr/>
        </p:nvSpPr>
        <p:spPr bwMode="auto">
          <a:xfrm>
            <a:off x="5577698" y="1351326"/>
            <a:ext cx="3109102" cy="320040"/>
          </a:xfrm>
          <a:prstGeom prst="rect">
            <a:avLst/>
          </a:prstGeom>
          <a:solidFill>
            <a:srgbClr val="F3F8FD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ETL, </a:t>
            </a: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appels</a:t>
            </a: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 API, transformations</a:t>
            </a:r>
            <a:endParaRPr lang="en-US" sz="1200">
              <a:solidFill>
                <a:srgbClr val="405974"/>
              </a:solidFill>
              <a:latin typeface="Times New Roman"/>
              <a:cs typeface="Times New Roman"/>
            </a:endParaRPr>
          </a:p>
        </p:txBody>
      </p:sp>
      <p:sp>
        <p:nvSpPr>
          <p:cNvPr id="619549535" name="Shape 15"/>
          <p:cNvSpPr/>
          <p:nvPr/>
        </p:nvSpPr>
        <p:spPr bwMode="auto">
          <a:xfrm>
            <a:off x="347329" y="1717086"/>
            <a:ext cx="2377440" cy="365760"/>
          </a:xfrm>
          <a:prstGeom prst="rect">
            <a:avLst/>
          </a:prstGeom>
          <a:solidFill>
            <a:srgbClr val="F3F8FD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525733641" name="Text 16"/>
          <p:cNvSpPr/>
          <p:nvPr/>
        </p:nvSpPr>
        <p:spPr bwMode="auto">
          <a:xfrm>
            <a:off x="457058" y="1735374"/>
            <a:ext cx="2240280" cy="320040"/>
          </a:xfrm>
          <a:prstGeom prst="rect">
            <a:avLst/>
          </a:prstGeom>
          <a:solidFill>
            <a:srgbClr val="F3F8FD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4539A"/>
                </a:solidFill>
                <a:latin typeface="Times New Roman"/>
                <a:ea typeface="Calibri"/>
                <a:cs typeface="Times New Roman"/>
              </a:rPr>
              <a:t>BashOperator</a:t>
            </a:r>
            <a:endParaRPr lang="en-US" sz="1200" b="1">
              <a:solidFill>
                <a:srgbClr val="14539A"/>
              </a:solidFill>
              <a:latin typeface="Times New Roman"/>
              <a:cs typeface="Times New Roman"/>
            </a:endParaRPr>
          </a:p>
        </p:txBody>
      </p:sp>
      <p:sp>
        <p:nvSpPr>
          <p:cNvPr id="1309778948" name="Shape 17"/>
          <p:cNvSpPr/>
          <p:nvPr/>
        </p:nvSpPr>
        <p:spPr bwMode="auto">
          <a:xfrm>
            <a:off x="2724770" y="1717086"/>
            <a:ext cx="2743200" cy="365760"/>
          </a:xfrm>
          <a:prstGeom prst="rect">
            <a:avLst/>
          </a:prstGeom>
          <a:solidFill>
            <a:srgbClr val="F3F8FD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581828697" name="Text 18"/>
          <p:cNvSpPr/>
          <p:nvPr/>
        </p:nvSpPr>
        <p:spPr bwMode="auto">
          <a:xfrm>
            <a:off x="2834498" y="1735374"/>
            <a:ext cx="2606040" cy="320040"/>
          </a:xfrm>
          <a:prstGeom prst="rect">
            <a:avLst/>
          </a:prstGeom>
          <a:solidFill>
            <a:srgbClr val="F3F8FD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Lancer des </a:t>
            </a: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commandes</a:t>
            </a: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 Shell</a:t>
            </a:r>
            <a:endParaRPr lang="en-US" sz="1200">
              <a:solidFill>
                <a:srgbClr val="405974"/>
              </a:solidFill>
              <a:latin typeface="Times New Roman"/>
              <a:cs typeface="Times New Roman"/>
            </a:endParaRPr>
          </a:p>
        </p:txBody>
      </p:sp>
      <p:sp>
        <p:nvSpPr>
          <p:cNvPr id="647882517" name="Shape 19"/>
          <p:cNvSpPr/>
          <p:nvPr/>
        </p:nvSpPr>
        <p:spPr bwMode="auto">
          <a:xfrm>
            <a:off x="5467970" y="1717086"/>
            <a:ext cx="3236873" cy="365760"/>
          </a:xfrm>
          <a:prstGeom prst="rect">
            <a:avLst/>
          </a:prstGeom>
          <a:solidFill>
            <a:srgbClr val="F3F8FD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612677592" name="Text 20"/>
          <p:cNvSpPr/>
          <p:nvPr/>
        </p:nvSpPr>
        <p:spPr bwMode="auto">
          <a:xfrm>
            <a:off x="5577698" y="1735374"/>
            <a:ext cx="3109102" cy="320040"/>
          </a:xfrm>
          <a:prstGeom prst="rect">
            <a:avLst/>
          </a:prstGeom>
          <a:solidFill>
            <a:srgbClr val="F3F8FD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Scripts </a:t>
            </a: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système</a:t>
            </a: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, </a:t>
            </a: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automatisation</a:t>
            </a:r>
            <a:endParaRPr lang="en-US" sz="1200">
              <a:solidFill>
                <a:srgbClr val="405974"/>
              </a:solidFill>
              <a:latin typeface="Times New Roman"/>
              <a:cs typeface="Times New Roman"/>
            </a:endParaRPr>
          </a:p>
        </p:txBody>
      </p:sp>
      <p:sp>
        <p:nvSpPr>
          <p:cNvPr id="894183661" name="Shape 21"/>
          <p:cNvSpPr/>
          <p:nvPr/>
        </p:nvSpPr>
        <p:spPr bwMode="auto">
          <a:xfrm>
            <a:off x="347329" y="2101134"/>
            <a:ext cx="2377440" cy="365760"/>
          </a:xfrm>
          <a:prstGeom prst="rect">
            <a:avLst/>
          </a:prstGeom>
          <a:solidFill>
            <a:srgbClr val="F3F8FD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1428282527" name="Text 22"/>
          <p:cNvSpPr/>
          <p:nvPr/>
        </p:nvSpPr>
        <p:spPr bwMode="auto">
          <a:xfrm>
            <a:off x="457058" y="2119422"/>
            <a:ext cx="2240280" cy="320040"/>
          </a:xfrm>
          <a:prstGeom prst="rect">
            <a:avLst/>
          </a:prstGeom>
          <a:solidFill>
            <a:srgbClr val="F3F8FD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4539A"/>
                </a:solidFill>
                <a:latin typeface="Times New Roman"/>
                <a:ea typeface="Calibri"/>
                <a:cs typeface="Times New Roman"/>
              </a:rPr>
              <a:t>EmailOperator</a:t>
            </a:r>
            <a:endParaRPr lang="en-US" sz="1200" b="1">
              <a:solidFill>
                <a:srgbClr val="14539A"/>
              </a:solidFill>
              <a:latin typeface="Times New Roman"/>
              <a:cs typeface="Times New Roman"/>
            </a:endParaRPr>
          </a:p>
        </p:txBody>
      </p:sp>
      <p:sp>
        <p:nvSpPr>
          <p:cNvPr id="114791688" name="Shape 23"/>
          <p:cNvSpPr/>
          <p:nvPr/>
        </p:nvSpPr>
        <p:spPr bwMode="auto">
          <a:xfrm>
            <a:off x="2724770" y="2101134"/>
            <a:ext cx="2743200" cy="365760"/>
          </a:xfrm>
          <a:prstGeom prst="rect">
            <a:avLst/>
          </a:prstGeom>
          <a:solidFill>
            <a:srgbClr val="F3F8FD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1415379525" name="Text 24"/>
          <p:cNvSpPr/>
          <p:nvPr/>
        </p:nvSpPr>
        <p:spPr bwMode="auto">
          <a:xfrm>
            <a:off x="2834498" y="2119422"/>
            <a:ext cx="2606040" cy="320040"/>
          </a:xfrm>
          <a:prstGeom prst="rect">
            <a:avLst/>
          </a:prstGeom>
          <a:solidFill>
            <a:srgbClr val="F3F8FD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Envoyer</a:t>
            </a: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 des emails</a:t>
            </a:r>
            <a:endParaRPr lang="en-US" sz="1200">
              <a:solidFill>
                <a:srgbClr val="405974"/>
              </a:solidFill>
              <a:latin typeface="Times New Roman"/>
              <a:cs typeface="Times New Roman"/>
            </a:endParaRPr>
          </a:p>
        </p:txBody>
      </p:sp>
      <p:sp>
        <p:nvSpPr>
          <p:cNvPr id="516833658" name="Shape 25"/>
          <p:cNvSpPr/>
          <p:nvPr/>
        </p:nvSpPr>
        <p:spPr bwMode="auto">
          <a:xfrm>
            <a:off x="5467970" y="2101134"/>
            <a:ext cx="3236873" cy="365760"/>
          </a:xfrm>
          <a:prstGeom prst="rect">
            <a:avLst/>
          </a:prstGeom>
          <a:solidFill>
            <a:srgbClr val="F3F8FD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1589976192" name="Text 26"/>
          <p:cNvSpPr/>
          <p:nvPr/>
        </p:nvSpPr>
        <p:spPr bwMode="auto">
          <a:xfrm>
            <a:off x="5577698" y="2119422"/>
            <a:ext cx="3109102" cy="320040"/>
          </a:xfrm>
          <a:prstGeom prst="rect">
            <a:avLst/>
          </a:prstGeom>
          <a:solidFill>
            <a:srgbClr val="F3F8FD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Notifications, rapports </a:t>
            </a: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automatiques</a:t>
            </a:r>
            <a:endParaRPr lang="en-US" sz="1200">
              <a:solidFill>
                <a:srgbClr val="405974"/>
              </a:solidFill>
              <a:latin typeface="Times New Roman"/>
              <a:cs typeface="Times New Roman"/>
            </a:endParaRPr>
          </a:p>
        </p:txBody>
      </p:sp>
      <p:sp>
        <p:nvSpPr>
          <p:cNvPr id="1196030799" name="Shape 27"/>
          <p:cNvSpPr/>
          <p:nvPr/>
        </p:nvSpPr>
        <p:spPr bwMode="auto">
          <a:xfrm>
            <a:off x="347329" y="2485182"/>
            <a:ext cx="2377440" cy="365760"/>
          </a:xfrm>
          <a:prstGeom prst="rect">
            <a:avLst/>
          </a:prstGeom>
          <a:solidFill>
            <a:srgbClr val="F3F8FD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169047316" name="Text 28"/>
          <p:cNvSpPr/>
          <p:nvPr/>
        </p:nvSpPr>
        <p:spPr bwMode="auto">
          <a:xfrm>
            <a:off x="457058" y="2503470"/>
            <a:ext cx="2240280" cy="320040"/>
          </a:xfrm>
          <a:prstGeom prst="rect">
            <a:avLst/>
          </a:prstGeom>
          <a:solidFill>
            <a:srgbClr val="F3F8FD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4539A"/>
                </a:solidFill>
                <a:latin typeface="Times New Roman"/>
                <a:ea typeface="Calibri"/>
                <a:cs typeface="Times New Roman"/>
              </a:rPr>
              <a:t>SQL Operators</a:t>
            </a:r>
            <a:endParaRPr lang="en-US" sz="1200" b="1">
              <a:solidFill>
                <a:srgbClr val="14539A"/>
              </a:solidFill>
              <a:latin typeface="Times New Roman"/>
              <a:cs typeface="Times New Roman"/>
            </a:endParaRPr>
          </a:p>
        </p:txBody>
      </p:sp>
      <p:sp>
        <p:nvSpPr>
          <p:cNvPr id="1301719249" name="Shape 29"/>
          <p:cNvSpPr/>
          <p:nvPr/>
        </p:nvSpPr>
        <p:spPr bwMode="auto">
          <a:xfrm>
            <a:off x="2724770" y="2485182"/>
            <a:ext cx="2743200" cy="365760"/>
          </a:xfrm>
          <a:prstGeom prst="rect">
            <a:avLst/>
          </a:prstGeom>
          <a:solidFill>
            <a:srgbClr val="F3F8FD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96736424" name="Text 30"/>
          <p:cNvSpPr/>
          <p:nvPr/>
        </p:nvSpPr>
        <p:spPr bwMode="auto">
          <a:xfrm>
            <a:off x="2843887" y="2488091"/>
            <a:ext cx="2606040" cy="320040"/>
          </a:xfrm>
          <a:prstGeom prst="rect">
            <a:avLst/>
          </a:prstGeom>
          <a:solidFill>
            <a:srgbClr val="F3F8FD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Interagir</a:t>
            </a: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 avec les BDD</a:t>
            </a:r>
            <a:endParaRPr lang="en-US" sz="1200">
              <a:solidFill>
                <a:srgbClr val="405974"/>
              </a:solidFill>
              <a:latin typeface="Times New Roman"/>
              <a:cs typeface="Times New Roman"/>
            </a:endParaRPr>
          </a:p>
        </p:txBody>
      </p:sp>
      <p:sp>
        <p:nvSpPr>
          <p:cNvPr id="86236633" name="Shape 31"/>
          <p:cNvSpPr/>
          <p:nvPr/>
        </p:nvSpPr>
        <p:spPr bwMode="auto">
          <a:xfrm>
            <a:off x="5467970" y="2485182"/>
            <a:ext cx="3236873" cy="365760"/>
          </a:xfrm>
          <a:prstGeom prst="rect">
            <a:avLst/>
          </a:prstGeom>
          <a:solidFill>
            <a:srgbClr val="F3F8FD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594223843" name="Text 32"/>
          <p:cNvSpPr/>
          <p:nvPr/>
        </p:nvSpPr>
        <p:spPr bwMode="auto">
          <a:xfrm>
            <a:off x="5577698" y="2503470"/>
            <a:ext cx="3109102" cy="320040"/>
          </a:xfrm>
          <a:prstGeom prst="rect">
            <a:avLst/>
          </a:prstGeom>
          <a:solidFill>
            <a:srgbClr val="F3F8FD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Créer</a:t>
            </a: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 tables, </a:t>
            </a: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insérer</a:t>
            </a: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, </a:t>
            </a: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requêtes</a:t>
            </a:r>
            <a:endParaRPr lang="en-US" sz="1200">
              <a:solidFill>
                <a:srgbClr val="405974"/>
              </a:solidFill>
              <a:latin typeface="Times New Roman"/>
              <a:cs typeface="Times New Roman"/>
            </a:endParaRPr>
          </a:p>
        </p:txBody>
      </p:sp>
      <p:sp>
        <p:nvSpPr>
          <p:cNvPr id="1314878324" name="Shape 33"/>
          <p:cNvSpPr/>
          <p:nvPr/>
        </p:nvSpPr>
        <p:spPr bwMode="auto">
          <a:xfrm>
            <a:off x="347329" y="2869230"/>
            <a:ext cx="2377440" cy="365760"/>
          </a:xfrm>
          <a:prstGeom prst="rect">
            <a:avLst/>
          </a:prstGeom>
          <a:solidFill>
            <a:srgbClr val="F3F8FD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1773574886" name="Text 34"/>
          <p:cNvSpPr/>
          <p:nvPr/>
        </p:nvSpPr>
        <p:spPr bwMode="auto">
          <a:xfrm>
            <a:off x="457058" y="2887518"/>
            <a:ext cx="2240280" cy="320040"/>
          </a:xfrm>
          <a:prstGeom prst="rect">
            <a:avLst/>
          </a:prstGeom>
          <a:solidFill>
            <a:srgbClr val="F3F8FD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4539A"/>
                </a:solidFill>
                <a:latin typeface="Times New Roman"/>
                <a:ea typeface="Calibri"/>
                <a:cs typeface="Times New Roman"/>
              </a:rPr>
              <a:t>Sensors</a:t>
            </a:r>
            <a:endParaRPr lang="en-US" sz="1200" b="1">
              <a:solidFill>
                <a:srgbClr val="14539A"/>
              </a:solidFill>
              <a:latin typeface="Times New Roman"/>
              <a:cs typeface="Times New Roman"/>
            </a:endParaRPr>
          </a:p>
        </p:txBody>
      </p:sp>
      <p:sp>
        <p:nvSpPr>
          <p:cNvPr id="1444302856" name="Shape 35"/>
          <p:cNvSpPr/>
          <p:nvPr/>
        </p:nvSpPr>
        <p:spPr bwMode="auto">
          <a:xfrm>
            <a:off x="2724770" y="2869230"/>
            <a:ext cx="2743200" cy="365760"/>
          </a:xfrm>
          <a:prstGeom prst="rect">
            <a:avLst/>
          </a:prstGeom>
          <a:solidFill>
            <a:srgbClr val="F3F8FD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887546657" name="Text 36"/>
          <p:cNvSpPr/>
          <p:nvPr/>
        </p:nvSpPr>
        <p:spPr bwMode="auto">
          <a:xfrm>
            <a:off x="2834498" y="2887518"/>
            <a:ext cx="2606040" cy="320040"/>
          </a:xfrm>
          <a:prstGeom prst="rect">
            <a:avLst/>
          </a:prstGeom>
          <a:solidFill>
            <a:srgbClr val="F3F8FD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Attendre</a:t>
            </a: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une</a:t>
            </a: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 condition</a:t>
            </a:r>
            <a:endParaRPr lang="en-US" sz="1200">
              <a:solidFill>
                <a:srgbClr val="405974"/>
              </a:solidFill>
              <a:latin typeface="Times New Roman"/>
              <a:cs typeface="Times New Roman"/>
            </a:endParaRPr>
          </a:p>
        </p:txBody>
      </p:sp>
      <p:sp>
        <p:nvSpPr>
          <p:cNvPr id="160719546" name="Shape 37"/>
          <p:cNvSpPr/>
          <p:nvPr/>
        </p:nvSpPr>
        <p:spPr bwMode="auto">
          <a:xfrm>
            <a:off x="5467970" y="2869230"/>
            <a:ext cx="3236873" cy="365760"/>
          </a:xfrm>
          <a:prstGeom prst="rect">
            <a:avLst/>
          </a:prstGeom>
          <a:solidFill>
            <a:srgbClr val="F3F8FD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31017667" name="Text 38"/>
          <p:cNvSpPr/>
          <p:nvPr/>
        </p:nvSpPr>
        <p:spPr bwMode="auto">
          <a:xfrm>
            <a:off x="5577698" y="2887518"/>
            <a:ext cx="3109102" cy="320040"/>
          </a:xfrm>
          <a:prstGeom prst="rect">
            <a:avLst/>
          </a:prstGeom>
          <a:solidFill>
            <a:srgbClr val="F3F8FD"/>
          </a:solidFill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Synchroniser</a:t>
            </a: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 pipelines, </a:t>
            </a: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attendre</a:t>
            </a: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200">
                <a:solidFill>
                  <a:srgbClr val="405974"/>
                </a:solidFill>
                <a:latin typeface="Times New Roman"/>
                <a:ea typeface="Calibri"/>
                <a:cs typeface="Times New Roman"/>
              </a:rPr>
              <a:t>fichiers</a:t>
            </a:r>
            <a:endParaRPr lang="en-US" sz="1200">
              <a:solidFill>
                <a:srgbClr val="405974"/>
              </a:solidFill>
              <a:latin typeface="Times New Roman"/>
              <a:cs typeface="Times New Roman"/>
            </a:endParaRPr>
          </a:p>
        </p:txBody>
      </p:sp>
      <p:sp>
        <p:nvSpPr>
          <p:cNvPr id="1912193599" name="Shape 39"/>
          <p:cNvSpPr/>
          <p:nvPr/>
        </p:nvSpPr>
        <p:spPr bwMode="auto">
          <a:xfrm>
            <a:off x="347329" y="3409276"/>
            <a:ext cx="8357513" cy="765526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  <a:prstDash val="solid"/>
          </a:ln>
        </p:spPr>
      </p:sp>
      <p:sp>
        <p:nvSpPr>
          <p:cNvPr id="1702376476" name="Text 40"/>
          <p:cNvSpPr/>
          <p:nvPr/>
        </p:nvSpPr>
        <p:spPr bwMode="auto">
          <a:xfrm>
            <a:off x="543632" y="3447417"/>
            <a:ext cx="2291008" cy="27018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62236"/>
                </a:solidFill>
                <a:latin typeface="Times New Roman"/>
                <a:ea typeface="Calibri"/>
                <a:cs typeface="Times New Roman"/>
              </a:rPr>
              <a:t>Message </a:t>
            </a:r>
            <a:r>
              <a:rPr lang="en-US" sz="1200" b="1">
                <a:solidFill>
                  <a:srgbClr val="162236"/>
                </a:solidFill>
                <a:latin typeface="Times New Roman"/>
                <a:ea typeface="Calibri"/>
                <a:cs typeface="Times New Roman"/>
              </a:rPr>
              <a:t>clé</a:t>
            </a:r>
            <a:r>
              <a:rPr lang="en-US" sz="1200" b="1">
                <a:solidFill>
                  <a:srgbClr val="162236"/>
                </a:solidFill>
                <a:latin typeface="Times New Roman"/>
                <a:ea typeface="Calibri"/>
                <a:cs typeface="Times New Roman"/>
              </a:rPr>
              <a:t> :</a:t>
            </a:r>
            <a:endParaRPr lang="en-US" sz="1200">
              <a:solidFill>
                <a:srgbClr val="162236"/>
              </a:solidFill>
              <a:latin typeface="Times New Roman"/>
              <a:cs typeface="Times New Roman"/>
            </a:endParaRPr>
          </a:p>
        </p:txBody>
      </p:sp>
      <p:sp>
        <p:nvSpPr>
          <p:cNvPr id="98807510" name="Text 41"/>
          <p:cNvSpPr/>
          <p:nvPr/>
        </p:nvSpPr>
        <p:spPr bwMode="auto">
          <a:xfrm>
            <a:off x="533184" y="3656067"/>
            <a:ext cx="8067184" cy="4250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chemeClr val="bg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Airflow propose un operator pour </a:t>
            </a:r>
            <a:r>
              <a:rPr lang="en-US" sz="1200" i="1">
                <a:solidFill>
                  <a:schemeClr val="bg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chaque</a:t>
            </a:r>
            <a:r>
              <a:rPr lang="en-US" sz="1200" i="1">
                <a:solidFill>
                  <a:schemeClr val="bg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 type de </a:t>
            </a:r>
            <a:r>
              <a:rPr lang="en-US" sz="1200" i="1">
                <a:solidFill>
                  <a:schemeClr val="bg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besoin</a:t>
            </a:r>
            <a:r>
              <a:rPr lang="en-US" sz="1200" i="1">
                <a:solidFill>
                  <a:schemeClr val="bg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 — le bon </a:t>
            </a:r>
            <a:r>
              <a:rPr lang="en-US" sz="1200" i="1">
                <a:solidFill>
                  <a:schemeClr val="bg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choix</a:t>
            </a:r>
            <a:r>
              <a:rPr lang="en-US" sz="1200" i="1">
                <a:solidFill>
                  <a:schemeClr val="bg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 rend un pipeline plus </a:t>
            </a:r>
            <a:r>
              <a:rPr lang="en-US" sz="1200" i="1">
                <a:solidFill>
                  <a:schemeClr val="bg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lisible</a:t>
            </a:r>
            <a:r>
              <a:rPr lang="en-US" sz="1200" i="1">
                <a:solidFill>
                  <a:schemeClr val="bg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, plus </a:t>
            </a:r>
            <a:r>
              <a:rPr lang="en-US" sz="1200" i="1">
                <a:solidFill>
                  <a:schemeClr val="bg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fiable</a:t>
            </a:r>
            <a:r>
              <a:rPr lang="en-US" sz="1200" i="1">
                <a:solidFill>
                  <a:schemeClr val="bg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 et plus </a:t>
            </a:r>
            <a:r>
              <a:rPr lang="en-US" sz="1200" i="1">
                <a:solidFill>
                  <a:schemeClr val="bg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maintenable</a:t>
            </a:r>
            <a:r>
              <a:rPr lang="en-US" sz="1200" i="1">
                <a:solidFill>
                  <a:schemeClr val="bg2">
                    <a:lumMod val="75000"/>
                  </a:schemeClr>
                </a:solidFill>
                <a:latin typeface="Times New Roman"/>
                <a:ea typeface="Calibri"/>
                <a:cs typeface="Times New Roman"/>
              </a:rPr>
              <a:t>.</a:t>
            </a:r>
            <a:endParaRPr lang="en-US" sz="1200">
              <a:solidFill>
                <a:schemeClr val="bg2">
                  <a:lumMod val="7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72579294" name="Shape 42"/>
          <p:cNvSpPr/>
          <p:nvPr/>
        </p:nvSpPr>
        <p:spPr bwMode="auto">
          <a:xfrm>
            <a:off x="326065" y="4328296"/>
            <a:ext cx="2792767" cy="447974"/>
          </a:xfrm>
          <a:prstGeom prst="rect">
            <a:avLst/>
          </a:prstGeom>
          <a:solidFill>
            <a:schemeClr val="bg1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090742549" name="Text 43"/>
          <p:cNvSpPr/>
          <p:nvPr/>
        </p:nvSpPr>
        <p:spPr bwMode="auto">
          <a:xfrm>
            <a:off x="420153" y="4352260"/>
            <a:ext cx="2606581" cy="378289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62236"/>
                </a:solidFill>
                <a:latin typeface="Times New Roman"/>
                <a:ea typeface="Calibri"/>
                <a:cs typeface="Times New Roman"/>
              </a:rPr>
              <a:t>  </a:t>
            </a:r>
            <a:r>
              <a:rPr lang="en-US" sz="1200" b="1">
                <a:solidFill>
                  <a:srgbClr val="162236"/>
                </a:solidFill>
                <a:latin typeface="Times New Roman"/>
                <a:ea typeface="Calibri"/>
                <a:cs typeface="Times New Roman"/>
              </a:rPr>
              <a:t>PythonOperator</a:t>
            </a:r>
            <a:r>
              <a:rPr lang="en-US" sz="1200" b="1">
                <a:solidFill>
                  <a:srgbClr val="162236"/>
                </a:solidFill>
                <a:latin typeface="Times New Roman"/>
                <a:ea typeface="Calibri"/>
                <a:cs typeface="Times New Roman"/>
              </a:rPr>
              <a:t> pour la </a:t>
            </a:r>
            <a:r>
              <a:rPr lang="en-US" sz="1200" b="1">
                <a:solidFill>
                  <a:srgbClr val="162236"/>
                </a:solidFill>
                <a:latin typeface="Times New Roman"/>
                <a:ea typeface="Calibri"/>
                <a:cs typeface="Times New Roman"/>
              </a:rPr>
              <a:t>logique</a:t>
            </a:r>
            <a:r>
              <a:rPr lang="en-US" sz="1200" b="1">
                <a:solidFill>
                  <a:srgbClr val="162236"/>
                </a:solidFill>
                <a:latin typeface="Times New Roman"/>
                <a:ea typeface="Calibri"/>
                <a:cs typeface="Times New Roman"/>
              </a:rPr>
              <a:t> métier</a:t>
            </a:r>
            <a:endParaRPr lang="en-US" sz="1200" b="1">
              <a:solidFill>
                <a:srgbClr val="162236"/>
              </a:solidFill>
              <a:latin typeface="Times New Roman"/>
              <a:cs typeface="Times New Roman"/>
            </a:endParaRPr>
          </a:p>
        </p:txBody>
      </p:sp>
      <p:sp>
        <p:nvSpPr>
          <p:cNvPr id="446507672" name="Shape 44"/>
          <p:cNvSpPr/>
          <p:nvPr/>
        </p:nvSpPr>
        <p:spPr bwMode="auto">
          <a:xfrm>
            <a:off x="3437036" y="6205834"/>
            <a:ext cx="2743200" cy="411480"/>
          </a:xfrm>
          <a:prstGeom prst="rect">
            <a:avLst/>
          </a:prstGeom>
          <a:solidFill>
            <a:srgbClr val="16223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73674370" name="Text 45"/>
          <p:cNvSpPr/>
          <p:nvPr/>
        </p:nvSpPr>
        <p:spPr bwMode="auto">
          <a:xfrm>
            <a:off x="3528476" y="6224121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CBD5E1"/>
                </a:solidFill>
                <a:latin typeface="Times New Roman"/>
                <a:ea typeface="Calibri"/>
                <a:cs typeface="Times New Roman"/>
              </a:rPr>
              <a:t>🗄️  SQL Operators pour les bases de données</a:t>
            </a:r>
            <a:endParaRPr lang="en-US" sz="1050">
              <a:latin typeface="Times New Roman"/>
              <a:cs typeface="Times New Roman"/>
            </a:endParaRPr>
          </a:p>
        </p:txBody>
      </p:sp>
      <p:sp>
        <p:nvSpPr>
          <p:cNvPr id="243141582" name="Shape 46"/>
          <p:cNvSpPr/>
          <p:nvPr/>
        </p:nvSpPr>
        <p:spPr bwMode="auto">
          <a:xfrm>
            <a:off x="6178225" y="4328296"/>
            <a:ext cx="2792767" cy="447974"/>
          </a:xfrm>
          <a:prstGeom prst="rect">
            <a:avLst/>
          </a:prstGeom>
          <a:solidFill>
            <a:schemeClr val="bg1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534650191" name="Text 47"/>
          <p:cNvSpPr/>
          <p:nvPr/>
        </p:nvSpPr>
        <p:spPr bwMode="auto">
          <a:xfrm>
            <a:off x="6268221" y="4355931"/>
            <a:ext cx="2612774" cy="4026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62236"/>
                </a:solidFill>
                <a:latin typeface="Times New Roman"/>
                <a:ea typeface="Calibri"/>
                <a:cs typeface="Times New Roman"/>
              </a:rPr>
              <a:t> Sensors pour </a:t>
            </a:r>
            <a:r>
              <a:rPr lang="en-US" sz="1200" b="1">
                <a:solidFill>
                  <a:srgbClr val="162236"/>
                </a:solidFill>
                <a:latin typeface="Times New Roman"/>
                <a:ea typeface="Calibri"/>
                <a:cs typeface="Times New Roman"/>
              </a:rPr>
              <a:t>synchroniser</a:t>
            </a:r>
            <a:r>
              <a:rPr lang="en-US" sz="1200" b="1">
                <a:solidFill>
                  <a:srgbClr val="162236"/>
                </a:solidFill>
                <a:latin typeface="Times New Roman"/>
                <a:ea typeface="Calibri"/>
                <a:cs typeface="Times New Roman"/>
              </a:rPr>
              <a:t> les pipelines</a:t>
            </a:r>
            <a:endParaRPr lang="en-US" sz="1200" b="1">
              <a:solidFill>
                <a:srgbClr val="162236"/>
              </a:solidFill>
              <a:latin typeface="Times New Roman"/>
              <a:cs typeface="Times New Roman"/>
            </a:endParaRPr>
          </a:p>
        </p:txBody>
      </p:sp>
      <p:sp>
        <p:nvSpPr>
          <p:cNvPr id="361246854" name="Shape 26"/>
          <p:cNvSpPr/>
          <p:nvPr/>
        </p:nvSpPr>
        <p:spPr bwMode="auto">
          <a:xfrm>
            <a:off x="3482755" y="5648050"/>
            <a:ext cx="2651760" cy="640080"/>
          </a:xfrm>
          <a:prstGeom prst="rect">
            <a:avLst/>
          </a:prstGeom>
          <a:solidFill>
            <a:srgbClr val="F3F8FD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1843641506" name="Text 27"/>
          <p:cNvSpPr/>
          <p:nvPr/>
        </p:nvSpPr>
        <p:spPr bwMode="auto">
          <a:xfrm>
            <a:off x="3574196" y="565719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4539A"/>
                </a:solidFill>
                <a:latin typeface="Times New Roman"/>
                <a:cs typeface="Times New Roman"/>
              </a:rPr>
              <a:t>GenericTransfer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125519418" name="Text 28"/>
          <p:cNvSpPr/>
          <p:nvPr/>
        </p:nvSpPr>
        <p:spPr bwMode="auto">
          <a:xfrm>
            <a:off x="3574196" y="591322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6B8CAE"/>
                </a:solidFill>
                <a:latin typeface="Times New Roman"/>
                <a:cs typeface="Times New Roman"/>
              </a:rPr>
              <a:t>→ Base vers base</a:t>
            </a:r>
            <a:endParaRPr lang="en-US" sz="900">
              <a:latin typeface="Times New Roman"/>
              <a:cs typeface="Times New Roman"/>
            </a:endParaRPr>
          </a:p>
        </p:txBody>
      </p:sp>
      <p:sp>
        <p:nvSpPr>
          <p:cNvPr id="1097330871" name="Shape 44"/>
          <p:cNvSpPr/>
          <p:nvPr/>
        </p:nvSpPr>
        <p:spPr bwMode="auto">
          <a:xfrm>
            <a:off x="3252145" y="4328296"/>
            <a:ext cx="2792767" cy="447974"/>
          </a:xfrm>
          <a:prstGeom prst="rect">
            <a:avLst/>
          </a:prstGeom>
          <a:solidFill>
            <a:schemeClr val="bg1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63391149" name="Text 45"/>
          <p:cNvSpPr/>
          <p:nvPr/>
        </p:nvSpPr>
        <p:spPr bwMode="auto">
          <a:xfrm>
            <a:off x="3346233" y="4352260"/>
            <a:ext cx="2606581" cy="378289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62236"/>
                </a:solidFill>
                <a:latin typeface="Times New Roman"/>
                <a:ea typeface="Calibri"/>
                <a:cs typeface="Times New Roman"/>
              </a:rPr>
              <a:t>  SQL Operators pour les bases de données</a:t>
            </a:r>
            <a:endParaRPr lang="en-US" sz="1200" b="1">
              <a:solidFill>
                <a:srgbClr val="162236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415478" name="Google Shape;99;p15"/>
          <p:cNvSpPr txBox="1">
            <a:spLocks noGrp="1"/>
          </p:cNvSpPr>
          <p:nvPr>
            <p:ph type="sldNum" idx="4294967295"/>
          </p:nvPr>
        </p:nvSpPr>
        <p:spPr bwMode="auto">
          <a:xfrm>
            <a:off x="8404382" y="4749849"/>
            <a:ext cx="548698" cy="393598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8DAD1134-1C15-4114-5F35-FE1B7D0946BC}" type="slidenum">
              <a:rPr lang="en">
                <a:latin typeface="Times New Roman"/>
                <a:cs typeface="Times New Roman"/>
              </a:rPr>
              <a:t>29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2107604698" name="Text 14"/>
          <p:cNvSpPr>
            <a:spLocks noGrp="1"/>
          </p:cNvSpPr>
          <p:nvPr>
            <p:ph type="ctrTitle"/>
          </p:nvPr>
        </p:nvSpPr>
        <p:spPr bwMode="auto">
          <a:xfrm>
            <a:off x="987186" y="1731741"/>
            <a:ext cx="7488298" cy="1159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fr-FR" sz="540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Avantages et limites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26602243" name="Google Shape;98;p15"/>
          <p:cNvSpPr txBox="1">
            <a:spLocks noGrp="1"/>
          </p:cNvSpPr>
          <p:nvPr>
            <p:ph type="subTitle" idx="1"/>
          </p:nvPr>
        </p:nvSpPr>
        <p:spPr bwMode="auto">
          <a:xfrm>
            <a:off x="987185" y="2782683"/>
            <a:ext cx="6972987" cy="63072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indent="0">
              <a:defRPr/>
            </a:pPr>
            <a:r>
              <a:rPr lang="fr-FR" sz="1800">
                <a:solidFill>
                  <a:srgbClr val="6B8CAE"/>
                </a:solidFill>
                <a:latin typeface="Arial"/>
                <a:ea typeface="Arial"/>
                <a:cs typeface="Arial"/>
              </a:rPr>
              <a:t>Avantages</a:t>
            </a:r>
            <a:r>
              <a:rPr lang="en-US" sz="1800">
                <a:solidFill>
                  <a:srgbClr val="6B8CAE"/>
                </a:solidFill>
                <a:latin typeface="Arial"/>
                <a:ea typeface="Arial"/>
                <a:cs typeface="Arial"/>
              </a:rPr>
              <a:t>  • </a:t>
            </a:r>
            <a:r>
              <a:rPr lang="fr-FR" sz="1800">
                <a:solidFill>
                  <a:srgbClr val="6B8CAE"/>
                </a:solidFill>
                <a:latin typeface="Arial"/>
                <a:ea typeface="Arial"/>
                <a:cs typeface="Arial"/>
              </a:rPr>
              <a:t>Limites</a:t>
            </a:r>
            <a:r>
              <a:rPr lang="en-US" sz="1800">
                <a:solidFill>
                  <a:srgbClr val="6B8CAE"/>
                </a:solidFill>
                <a:latin typeface="Arial"/>
                <a:ea typeface="Arial"/>
                <a:cs typeface="Arial"/>
              </a:rPr>
              <a:t>  • </a:t>
            </a:r>
            <a:r>
              <a:rPr lang="fr-FR" sz="1800">
                <a:solidFill>
                  <a:srgbClr val="6B8CAE"/>
                </a:solidFill>
                <a:latin typeface="Arial"/>
                <a:ea typeface="Arial"/>
                <a:cs typeface="Arial"/>
              </a:rPr>
              <a:t>Quand utiliser </a:t>
            </a:r>
            <a:r>
              <a:rPr lang="fr-FR" sz="1800">
                <a:solidFill>
                  <a:srgbClr val="6B8CAE"/>
                </a:solidFill>
                <a:latin typeface="Arial"/>
                <a:ea typeface="Arial"/>
                <a:cs typeface="Arial"/>
              </a:rPr>
              <a:t>Airflow</a:t>
            </a:r>
            <a:r>
              <a:rPr lang="fr-FR" sz="1800">
                <a:solidFill>
                  <a:srgbClr val="6B8CAE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00" b="0" i="0" u="none" strike="noStrike" cap="none" spc="0">
                <a:solidFill>
                  <a:srgbClr val="6B8CAE"/>
                </a:solidFill>
                <a:latin typeface="Arial"/>
                <a:ea typeface="Arial"/>
                <a:cs typeface="Arial"/>
              </a:rPr>
              <a:t> •</a:t>
            </a:r>
            <a:r>
              <a:rPr lang="fr-FR" sz="1800" b="0" i="0" u="none" strike="noStrike" cap="none" spc="0">
                <a:solidFill>
                  <a:srgbClr val="6B8CAE"/>
                </a:solidFill>
                <a:latin typeface="Arial"/>
                <a:ea typeface="Arial"/>
                <a:cs typeface="Arial"/>
              </a:rPr>
              <a:t> Comparaison avec       d’autres outils</a:t>
            </a:r>
            <a:endParaRPr lang="en-US"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293716" name="Google Shape;282;p30"/>
          <p:cNvSpPr txBox="1">
            <a:spLocks noGrp="1"/>
          </p:cNvSpPr>
          <p:nvPr>
            <p:ph type="sldNum" idx="12"/>
          </p:nvPr>
        </p:nvSpPr>
        <p:spPr bwMode="auto">
          <a:xfrm>
            <a:off x="8404383" y="4749850"/>
            <a:ext cx="548699" cy="39359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3197B385-F149-E564-B58C-161267C33ACA}" type="slidenum">
              <a:rPr lang="en">
                <a:latin typeface="Times New Roman"/>
                <a:cs typeface="Times New Roman"/>
              </a:rPr>
              <a:t>30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765214561" name="ZoneTexte 1921475698"/>
          <p:cNvSpPr txBox="1"/>
          <p:nvPr/>
        </p:nvSpPr>
        <p:spPr bwMode="auto">
          <a:xfrm>
            <a:off x="537387" y="271858"/>
            <a:ext cx="8152981" cy="4462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fr-FR" sz="2400" b="1">
                <a:solidFill>
                  <a:srgbClr val="002060"/>
                </a:solidFill>
                <a:latin typeface="+mj-lt"/>
                <a:cs typeface="Times New Roman"/>
              </a:rPr>
              <a:t>Avantages</a:t>
            </a:r>
            <a:endParaRPr sz="2400">
              <a:solidFill>
                <a:srgbClr val="002060"/>
              </a:solidFill>
              <a:latin typeface="+mj-lt"/>
              <a:cs typeface="Times New Roman"/>
            </a:endParaRPr>
          </a:p>
        </p:txBody>
      </p:sp>
      <p:sp>
        <p:nvSpPr>
          <p:cNvPr id="1397014912" name="Google Shape;248;p27"/>
          <p:cNvSpPr txBox="1">
            <a:spLocks noGrp="1"/>
          </p:cNvSpPr>
          <p:nvPr/>
        </p:nvSpPr>
        <p:spPr bwMode="auto">
          <a:xfrm>
            <a:off x="685797" y="1200844"/>
            <a:ext cx="7772400" cy="3745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098" algn="l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1pPr>
            <a:lvl2pPr marL="914400" marR="0" lvl="1" indent="-38099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2pPr>
            <a:lvl3pPr marL="1371600" marR="0" lvl="2" indent="-38099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>
            <a:pPr marL="454149" lvl="0" indent="-416047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Wingdings"/>
              <a:buChar char="ü"/>
              <a:defRPr/>
            </a:pPr>
            <a:r>
              <a:rPr lang="fr-FR" sz="2800" b="0" i="0" u="none" strike="noStrike" cap="none" spc="0">
                <a:solidFill>
                  <a:schemeClr val="dk1"/>
                </a:solidFill>
                <a:latin typeface="Times New Roman"/>
                <a:cs typeface="Times New Roman"/>
              </a:rPr>
              <a:t>Flexibilité et extensibilité</a:t>
            </a:r>
            <a:endParaRPr sz="2800">
              <a:latin typeface="Times New Roman"/>
              <a:cs typeface="Times New Roman"/>
            </a:endParaRPr>
          </a:p>
          <a:p>
            <a:pPr marL="454149" lvl="0" indent="-416047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Wingdings"/>
              <a:buChar char="ü"/>
              <a:defRPr/>
            </a:pPr>
            <a:r>
              <a:rPr lang="fr-FR" sz="2800" b="0" i="0" u="none" strike="noStrike" cap="none" spc="0">
                <a:solidFill>
                  <a:schemeClr val="dk1"/>
                </a:solidFill>
                <a:latin typeface="Times New Roman"/>
                <a:cs typeface="Times New Roman"/>
              </a:rPr>
              <a:t>Interface visuelle intuitive</a:t>
            </a:r>
            <a:endParaRPr sz="2800">
              <a:latin typeface="Times New Roman"/>
              <a:cs typeface="Times New Roman"/>
            </a:endParaRPr>
          </a:p>
          <a:p>
            <a:pPr marL="454149" lvl="0" indent="-416047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Wingdings"/>
              <a:buChar char="ü"/>
              <a:defRPr/>
            </a:pPr>
            <a:r>
              <a:rPr lang="fr-FR" sz="2800" b="0" i="0" u="none" strike="noStrike" cap="none" spc="0">
                <a:solidFill>
                  <a:schemeClr val="dk1"/>
                </a:solidFill>
                <a:latin typeface="Times New Roman"/>
                <a:cs typeface="Times New Roman"/>
              </a:rPr>
              <a:t>Écosystème riche et intégrations multiples</a:t>
            </a:r>
            <a:endParaRPr sz="2800">
              <a:latin typeface="Times New Roman"/>
              <a:cs typeface="Times New Roman"/>
            </a:endParaRPr>
          </a:p>
          <a:p>
            <a:pPr marL="454149" lvl="0" indent="-416047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Wingdings"/>
              <a:buChar char="ü"/>
              <a:defRPr/>
            </a:pPr>
            <a:r>
              <a:rPr lang="fr-FR" sz="2800" b="0" i="0" u="none" strike="noStrike" cap="none" spc="0">
                <a:solidFill>
                  <a:schemeClr val="dk1"/>
                </a:solidFill>
                <a:latin typeface="Times New Roman"/>
                <a:cs typeface="Times New Roman"/>
              </a:rPr>
              <a:t>Orchestration avancé et gestion des dépendances</a:t>
            </a:r>
            <a:endParaRPr sz="2800">
              <a:latin typeface="Times New Roman"/>
              <a:cs typeface="Times New Roman"/>
            </a:endParaRPr>
          </a:p>
          <a:p>
            <a:pPr marL="454149" lvl="0" indent="-416047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Wingdings"/>
              <a:buChar char="ü"/>
              <a:defRPr/>
            </a:pPr>
            <a:r>
              <a:rPr lang="fr-FR" sz="2800" b="0" i="0" u="none" strike="noStrike" cap="none" spc="0">
                <a:solidFill>
                  <a:schemeClr val="dk1"/>
                </a:solidFill>
                <a:latin typeface="Times New Roman"/>
                <a:cs typeface="Times New Roman"/>
              </a:rPr>
              <a:t>Open-source et support cloud</a:t>
            </a:r>
            <a:endParaRPr sz="2800">
              <a:latin typeface="Times New Roman"/>
              <a:cs typeface="Times New Roman"/>
            </a:endParaRPr>
          </a:p>
          <a:p>
            <a:pPr marL="0" lvl="0" indent="0" algn="ctr">
              <a:spcBef>
                <a:spcPts val="598"/>
              </a:spcBef>
              <a:spcAft>
                <a:spcPts val="0"/>
              </a:spcAft>
              <a:buNone/>
              <a:defRPr/>
            </a:pPr>
            <a:endParaRPr>
              <a:latin typeface="Times New Roman"/>
              <a:cs typeface="Times New Roman"/>
            </a:endParaRPr>
          </a:p>
        </p:txBody>
      </p:sp>
      <p:grpSp>
        <p:nvGrpSpPr>
          <p:cNvPr id="137733942" name="Google Shape;315;p31"/>
          <p:cNvGrpSpPr/>
          <p:nvPr/>
        </p:nvGrpSpPr>
        <p:grpSpPr bwMode="auto">
          <a:xfrm flipH="0" flipV="0">
            <a:off x="5306580" y="1210269"/>
            <a:ext cx="532955" cy="481692"/>
            <a:chOff x="0" y="0"/>
            <a:chExt cx="532955" cy="481692"/>
          </a:xfrm>
        </p:grpSpPr>
        <p:sp>
          <p:nvSpPr>
            <p:cNvPr id="1063497558" name="Google Shape;316;p31"/>
            <p:cNvSpPr/>
            <p:nvPr/>
          </p:nvSpPr>
          <p:spPr bwMode="auto">
            <a:xfrm>
              <a:off x="400303" y="0"/>
              <a:ext cx="88637" cy="83514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stroke="1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0091EA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906487348" name="Google Shape;317;p31"/>
            <p:cNvSpPr/>
            <p:nvPr/>
          </p:nvSpPr>
          <p:spPr bwMode="auto">
            <a:xfrm>
              <a:off x="88613" y="24414"/>
              <a:ext cx="88044" cy="82954"/>
            </a:xfrm>
            <a:custGeom>
              <a:avLst/>
              <a:gdLst/>
              <a:ahLst/>
              <a:cxnLst/>
              <a:rect l="l" t="t" r="r" b="b"/>
              <a:pathLst>
                <a:path w="3557" h="3557" fill="none" stroke="1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0091EA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330419333" name="Google Shape;318;p31"/>
            <p:cNvSpPr/>
            <p:nvPr/>
          </p:nvSpPr>
          <p:spPr bwMode="auto">
            <a:xfrm>
              <a:off x="0" y="280586"/>
              <a:ext cx="88637" cy="83514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stroke="1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0091EA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1680024667" name="Google Shape;319;p31"/>
            <p:cNvSpPr/>
            <p:nvPr/>
          </p:nvSpPr>
          <p:spPr bwMode="auto">
            <a:xfrm>
              <a:off x="217627" y="399295"/>
              <a:ext cx="88044" cy="82395"/>
            </a:xfrm>
            <a:custGeom>
              <a:avLst/>
              <a:gdLst/>
              <a:ahLst/>
              <a:cxnLst/>
              <a:rect l="l" t="t" r="r" b="b"/>
              <a:pathLst>
                <a:path w="3557" h="3533" fill="none" stroke="1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0091EA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888887639" name="Google Shape;320;p31"/>
            <p:cNvSpPr/>
            <p:nvPr/>
          </p:nvSpPr>
          <p:spPr bwMode="auto">
            <a:xfrm>
              <a:off x="444909" y="218689"/>
              <a:ext cx="88044" cy="83514"/>
            </a:xfrm>
            <a:custGeom>
              <a:avLst/>
              <a:gdLst/>
              <a:ahLst/>
              <a:cxnLst/>
              <a:rect l="l" t="t" r="r" b="b"/>
              <a:pathLst>
                <a:path w="3557" h="3581" fill="none" stroke="1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0091EA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1135789072" name="Google Shape;321;p31"/>
            <p:cNvSpPr/>
            <p:nvPr/>
          </p:nvSpPr>
          <p:spPr bwMode="auto">
            <a:xfrm>
              <a:off x="176635" y="145970"/>
              <a:ext cx="186907" cy="176685"/>
            </a:xfrm>
            <a:custGeom>
              <a:avLst/>
              <a:gdLst/>
              <a:ahLst/>
              <a:cxnLst/>
              <a:rect l="l" t="t" r="r" b="b"/>
              <a:pathLst>
                <a:path w="7551" h="7576" fill="none" stroke="1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0091EA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1831015077" name="Google Shape;322;p31"/>
            <p:cNvSpPr/>
            <p:nvPr/>
          </p:nvSpPr>
          <p:spPr bwMode="auto">
            <a:xfrm>
              <a:off x="132624" y="65882"/>
              <a:ext cx="80791" cy="98859"/>
            </a:xfrm>
            <a:custGeom>
              <a:avLst/>
              <a:gdLst/>
              <a:ahLst/>
              <a:cxnLst/>
              <a:rect l="l" t="t" r="r" b="b"/>
              <a:pathLst>
                <a:path w="3264" h="4239" fill="none" stroke="1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0091EA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1464376051" name="Google Shape;323;p31"/>
            <p:cNvSpPr/>
            <p:nvPr/>
          </p:nvSpPr>
          <p:spPr bwMode="auto">
            <a:xfrm>
              <a:off x="330969" y="42023"/>
              <a:ext cx="113962" cy="124980"/>
            </a:xfrm>
            <a:custGeom>
              <a:avLst/>
              <a:gdLst/>
              <a:ahLst/>
              <a:cxnLst/>
              <a:rect l="l" t="t" r="r" b="b"/>
              <a:pathLst>
                <a:path w="4604" h="5359" fill="none" stroke="1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0091EA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3725074" name="Google Shape;324;p31"/>
            <p:cNvSpPr/>
            <p:nvPr/>
          </p:nvSpPr>
          <p:spPr bwMode="auto">
            <a:xfrm>
              <a:off x="362927" y="245369"/>
              <a:ext cx="126015" cy="15366"/>
            </a:xfrm>
            <a:custGeom>
              <a:avLst/>
              <a:gdLst/>
              <a:ahLst/>
              <a:cxnLst/>
              <a:rect l="l" t="t" r="r" b="b"/>
              <a:pathLst>
                <a:path w="5091" h="659" fill="none" stroke="1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0091EA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651770478" name="Google Shape;325;p31"/>
            <p:cNvSpPr/>
            <p:nvPr/>
          </p:nvSpPr>
          <p:spPr bwMode="auto">
            <a:xfrm>
              <a:off x="261637" y="322052"/>
              <a:ext cx="4848" cy="118170"/>
            </a:xfrm>
            <a:custGeom>
              <a:avLst/>
              <a:gdLst/>
              <a:ahLst/>
              <a:cxnLst/>
              <a:rect l="l" t="t" r="r" b="b"/>
              <a:pathLst>
                <a:path w="196" h="5067" fill="none" stroke="1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0091EA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1365039309" name="Google Shape;326;p31"/>
            <p:cNvSpPr/>
            <p:nvPr/>
          </p:nvSpPr>
          <p:spPr bwMode="auto">
            <a:xfrm>
              <a:off x="44010" y="268085"/>
              <a:ext cx="139876" cy="54570"/>
            </a:xfrm>
            <a:custGeom>
              <a:avLst/>
              <a:gdLst/>
              <a:ahLst/>
              <a:cxnLst/>
              <a:rect l="l" t="t" r="r" b="b"/>
              <a:pathLst>
                <a:path w="5651" h="2340" fill="none" stroke="1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0091EA"/>
                </a:solidFill>
                <a:latin typeface="Times New Roman"/>
                <a:cs typeface="Times New Roman"/>
              </a:endParaRPr>
            </a:p>
          </p:txBody>
        </p:sp>
      </p:grpSp>
      <p:grpSp>
        <p:nvGrpSpPr>
          <p:cNvPr id="533014484" name="Google Shape;869;p48"/>
          <p:cNvGrpSpPr/>
          <p:nvPr/>
        </p:nvGrpSpPr>
        <p:grpSpPr bwMode="auto">
          <a:xfrm>
            <a:off x="5350467" y="1903194"/>
            <a:ext cx="387930" cy="367464"/>
            <a:chOff x="2583099" y="2973772"/>
            <a:chExt cx="461547" cy="437197"/>
          </a:xfrm>
        </p:grpSpPr>
        <p:sp>
          <p:nvSpPr>
            <p:cNvPr id="1413333185" name="Google Shape;870;p48"/>
            <p:cNvSpPr/>
            <p:nvPr/>
          </p:nvSpPr>
          <p:spPr bwMode="auto">
            <a:xfrm>
              <a:off x="2701224" y="3315972"/>
              <a:ext cx="225297" cy="94997"/>
            </a:xfrm>
            <a:custGeom>
              <a:avLst/>
              <a:gdLst/>
              <a:ahLst/>
              <a:cxnLst/>
              <a:rect l="l" t="t" r="r" b="b"/>
              <a:pathLst>
                <a:path w="9012" h="3800" fill="none" stroke="1" extrusionOk="0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w="1904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1708585491" name="Google Shape;871;p48"/>
            <p:cNvSpPr/>
            <p:nvPr/>
          </p:nvSpPr>
          <p:spPr bwMode="auto">
            <a:xfrm>
              <a:off x="2583099" y="2973772"/>
              <a:ext cx="461547" cy="336123"/>
            </a:xfrm>
            <a:custGeom>
              <a:avLst/>
              <a:gdLst/>
              <a:ahLst/>
              <a:cxnLst/>
              <a:rect l="l" t="t" r="r" b="b"/>
              <a:pathLst>
                <a:path w="18462" h="13445" fill="none" stroke="1" extrusionOk="0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</p:grpSp>
      <p:sp>
        <p:nvSpPr>
          <p:cNvPr id="459243039" name="Google Shape;794;p48"/>
          <p:cNvSpPr/>
          <p:nvPr/>
        </p:nvSpPr>
        <p:spPr bwMode="auto">
          <a:xfrm flipH="0" flipV="0">
            <a:off x="7461579" y="2168757"/>
            <a:ext cx="420813" cy="402991"/>
          </a:xfrm>
          <a:custGeom>
            <a:avLst/>
            <a:gdLst/>
            <a:ahLst/>
            <a:cxnLst/>
            <a:rect l="l" t="t" r="r" b="b"/>
            <a:pathLst>
              <a:path w="16027" h="16027" fill="none" stroke="1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699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grpSp>
        <p:nvGrpSpPr>
          <p:cNvPr id="1980717155" name="Google Shape;873;p48"/>
          <p:cNvGrpSpPr/>
          <p:nvPr/>
        </p:nvGrpSpPr>
        <p:grpSpPr bwMode="auto">
          <a:xfrm flipH="0" flipV="0">
            <a:off x="8392271" y="2902617"/>
            <a:ext cx="545730" cy="494048"/>
            <a:chOff x="0" y="0"/>
            <a:chExt cx="545730" cy="494048"/>
          </a:xfrm>
        </p:grpSpPr>
        <p:sp>
          <p:nvSpPr>
            <p:cNvPr id="431656124" name="Google Shape;874;p48"/>
            <p:cNvSpPr/>
            <p:nvPr/>
          </p:nvSpPr>
          <p:spPr bwMode="auto">
            <a:xfrm>
              <a:off x="0" y="0"/>
              <a:ext cx="367877" cy="447929"/>
            </a:xfrm>
            <a:custGeom>
              <a:avLst/>
              <a:gdLst/>
              <a:ahLst/>
              <a:cxnLst/>
              <a:rect l="l" t="t" r="r" b="b"/>
              <a:pathLst>
                <a:path w="13956" h="13956" fill="none" stroke="1" extrusionOk="0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1945241668" name="Google Shape;875;p48"/>
            <p:cNvSpPr/>
            <p:nvPr/>
          </p:nvSpPr>
          <p:spPr bwMode="auto">
            <a:xfrm>
              <a:off x="336405" y="239174"/>
              <a:ext cx="209323" cy="254870"/>
            </a:xfrm>
            <a:custGeom>
              <a:avLst/>
              <a:gdLst/>
              <a:ahLst/>
              <a:cxnLst/>
              <a:rect l="l" t="t" r="r" b="b"/>
              <a:pathLst>
                <a:path w="7941" h="7941" fill="none" stroke="1" extrusionOk="0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</p:grpSp>
      <p:grpSp>
        <p:nvGrpSpPr>
          <p:cNvPr id="1822278673" name="Google Shape;1077;p48"/>
          <p:cNvGrpSpPr/>
          <p:nvPr/>
        </p:nvGrpSpPr>
        <p:grpSpPr bwMode="auto">
          <a:xfrm>
            <a:off x="5800832" y="3492546"/>
            <a:ext cx="290265" cy="478785"/>
            <a:chOff x="0" y="0"/>
            <a:chExt cx="290265" cy="478785"/>
          </a:xfrm>
        </p:grpSpPr>
        <p:sp>
          <p:nvSpPr>
            <p:cNvPr id="771325847" name="Google Shape;1078;p48"/>
            <p:cNvSpPr/>
            <p:nvPr/>
          </p:nvSpPr>
          <p:spPr bwMode="auto">
            <a:xfrm>
              <a:off x="87349" y="417199"/>
              <a:ext cx="115562" cy="2650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stroke="1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712886414" name="Google Shape;1079;p48"/>
            <p:cNvSpPr/>
            <p:nvPr/>
          </p:nvSpPr>
          <p:spPr bwMode="auto">
            <a:xfrm>
              <a:off x="87349" y="390020"/>
              <a:ext cx="115562" cy="2650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stroke="1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739831750" name="Google Shape;1080;p48"/>
            <p:cNvSpPr/>
            <p:nvPr/>
          </p:nvSpPr>
          <p:spPr bwMode="auto">
            <a:xfrm>
              <a:off x="87349" y="443673"/>
              <a:ext cx="115562" cy="35109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stroke="1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070513721" name="Google Shape;1081;p48"/>
            <p:cNvSpPr/>
            <p:nvPr/>
          </p:nvSpPr>
          <p:spPr bwMode="auto">
            <a:xfrm>
              <a:off x="74951" y="165303"/>
              <a:ext cx="39933" cy="196128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stroke="1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1614297106" name="Google Shape;1082;p48"/>
            <p:cNvSpPr/>
            <p:nvPr/>
          </p:nvSpPr>
          <p:spPr bwMode="auto">
            <a:xfrm>
              <a:off x="0" y="0"/>
              <a:ext cx="290265" cy="361431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stroke="1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1308959182" name="Google Shape;1083;p48"/>
            <p:cNvSpPr/>
            <p:nvPr/>
          </p:nvSpPr>
          <p:spPr bwMode="auto">
            <a:xfrm>
              <a:off x="175378" y="165303"/>
              <a:ext cx="39933" cy="196128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stroke="1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1828071810" name="Google Shape;1084;p48"/>
            <p:cNvSpPr/>
            <p:nvPr/>
          </p:nvSpPr>
          <p:spPr bwMode="auto">
            <a:xfrm>
              <a:off x="94212" y="158163"/>
              <a:ext cx="101835" cy="22915"/>
            </a:xfrm>
            <a:custGeom>
              <a:avLst/>
              <a:gdLst/>
              <a:ahLst/>
              <a:cxnLst/>
              <a:rect l="l" t="t" r="r" b="b"/>
              <a:pathLst>
                <a:path w="3606" h="780" fill="none" stroke="1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94486323" name="Google Shape;1085;p48"/>
            <p:cNvSpPr/>
            <p:nvPr/>
          </p:nvSpPr>
          <p:spPr bwMode="auto">
            <a:xfrm>
              <a:off x="87349" y="364252"/>
              <a:ext cx="115562" cy="27"/>
            </a:xfrm>
            <a:custGeom>
              <a:avLst/>
              <a:gdLst/>
              <a:ahLst/>
              <a:cxnLst/>
              <a:rect l="l" t="t" r="r" b="b"/>
              <a:pathLst>
                <a:path w="4092" h="1" fill="none" stroke="1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</p:grpSp>
      <p:sp>
        <p:nvSpPr>
          <p:cNvPr id="731931830" name="Shape 1"/>
          <p:cNvSpPr/>
          <p:nvPr/>
        </p:nvSpPr>
        <p:spPr bwMode="auto">
          <a:xfrm>
            <a:off x="499077" y="808061"/>
            <a:ext cx="8229600" cy="4571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2888185" name="Google Shape;282;p30"/>
          <p:cNvSpPr txBox="1">
            <a:spLocks noGrp="1"/>
          </p:cNvSpPr>
          <p:nvPr>
            <p:ph type="sldNum" idx="12"/>
          </p:nvPr>
        </p:nvSpPr>
        <p:spPr bwMode="auto">
          <a:xfrm>
            <a:off x="8404382" y="4749849"/>
            <a:ext cx="548698" cy="393598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8F33B238-3721-A9F8-BDE0-B84B519AFFFC}" type="slidenum">
              <a:rPr lang="en">
                <a:latin typeface="Times New Roman"/>
                <a:cs typeface="Times New Roman"/>
              </a:rPr>
              <a:t>31</a:t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1347259129" name="ZoneTexte 811899312"/>
          <p:cNvSpPr txBox="1"/>
          <p:nvPr/>
        </p:nvSpPr>
        <p:spPr bwMode="auto">
          <a:xfrm>
            <a:off x="499077" y="296667"/>
            <a:ext cx="822996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fr-FR" sz="2400" b="1">
                <a:solidFill>
                  <a:srgbClr val="002060"/>
                </a:solidFill>
                <a:latin typeface="+mj-lt"/>
                <a:cs typeface="Times New Roman"/>
              </a:rPr>
              <a:t>Inconvénients </a:t>
            </a:r>
            <a:endParaRPr sz="2400">
              <a:solidFill>
                <a:srgbClr val="002060"/>
              </a:solidFill>
              <a:latin typeface="+mj-lt"/>
              <a:cs typeface="Times New Roman"/>
            </a:endParaRPr>
          </a:p>
        </p:txBody>
      </p:sp>
      <p:sp>
        <p:nvSpPr>
          <p:cNvPr id="1891860985" name="Google Shape;248;p27"/>
          <p:cNvSpPr txBox="1">
            <a:spLocks noGrp="1"/>
          </p:cNvSpPr>
          <p:nvPr/>
        </p:nvSpPr>
        <p:spPr bwMode="auto">
          <a:xfrm>
            <a:off x="685797" y="1200844"/>
            <a:ext cx="7772400" cy="3343936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098" algn="l">
              <a:lnSpc>
                <a:spcPct val="100000"/>
              </a:lnSpc>
              <a:spcBef>
                <a:spcPts val="598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1pPr>
            <a:lvl2pPr marL="914400" marR="0" lvl="1" indent="-38099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2pPr>
            <a:lvl3pPr marL="1371600" marR="0" lvl="2" indent="-38099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>
            <a:pPr lvl="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Wingdings"/>
              <a:buChar char="û"/>
              <a:defRPr/>
            </a:pPr>
            <a:r>
              <a:rPr lang="fr-FR" sz="2800" b="0" i="0" u="none" strike="noStrike" cap="none" spc="0">
                <a:solidFill>
                  <a:schemeClr val="tx1"/>
                </a:solidFill>
                <a:latin typeface="Times New Roman"/>
                <a:cs typeface="Times New Roman"/>
              </a:rPr>
              <a:t>Courbe d’apprentissage raide</a:t>
            </a:r>
            <a:endParaRPr sz="2800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Wingdings"/>
              <a:buChar char="û"/>
              <a:defRPr/>
            </a:pPr>
            <a:r>
              <a:rPr lang="fr-FR" sz="2800" b="0" i="0" u="none" strike="noStrike" cap="none" spc="0">
                <a:solidFill>
                  <a:schemeClr val="tx1"/>
                </a:solidFill>
                <a:latin typeface="Times New Roman"/>
                <a:cs typeface="Times New Roman"/>
              </a:rPr>
              <a:t>Surcharge opérationnelle</a:t>
            </a:r>
            <a:endParaRPr sz="2800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Wingdings"/>
              <a:buChar char="û"/>
              <a:defRPr/>
            </a:pPr>
            <a:r>
              <a:rPr lang="fr-FR" sz="2800" b="0" i="0" u="none" strike="noStrike" cap="none" spc="0">
                <a:solidFill>
                  <a:schemeClr val="tx1"/>
                </a:solidFill>
                <a:latin typeface="Times New Roman"/>
                <a:cs typeface="Times New Roman"/>
              </a:rPr>
              <a:t>Gestion de la complexité des </a:t>
            </a:r>
            <a:r>
              <a:rPr lang="fr-FR" sz="2800" b="0" i="0" u="none" strike="noStrike" cap="none" spc="0">
                <a:solidFill>
                  <a:schemeClr val="tx1"/>
                </a:solidFill>
                <a:latin typeface="Times New Roman"/>
                <a:cs typeface="Times New Roman"/>
              </a:rPr>
              <a:t>DAGs</a:t>
            </a:r>
            <a:endParaRPr sz="2800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Wingdings"/>
              <a:buChar char="û"/>
              <a:defRPr/>
            </a:pPr>
            <a:r>
              <a:rPr lang="fr-FR" sz="2800" b="0" i="0" u="none" strike="noStrike" cap="none" spc="0">
                <a:solidFill>
                  <a:schemeClr val="tx1"/>
                </a:solidFill>
                <a:latin typeface="Times New Roman"/>
                <a:cs typeface="Times New Roman"/>
              </a:rPr>
              <a:t>Limité pour les flux en temps réel</a:t>
            </a:r>
            <a:endParaRPr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Wingdings"/>
              <a:buChar char="û"/>
              <a:defRPr/>
            </a:pPr>
            <a:r>
              <a:rPr lang="fr-FR" sz="2800" b="0" i="0" u="none" strike="noStrike" cap="none" spc="0">
                <a:solidFill>
                  <a:schemeClr val="tx1"/>
                </a:solidFill>
                <a:latin typeface="Times New Roman"/>
                <a:cs typeface="Times New Roman"/>
              </a:rPr>
              <a:t>Complexité d’intégrations parfois</a:t>
            </a:r>
            <a:endParaRPr sz="2800">
              <a:latin typeface="Times New Roman"/>
              <a:cs typeface="Times New Roman"/>
            </a:endParaRPr>
          </a:p>
          <a:p>
            <a:pPr lvl="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Wingdings"/>
              <a:buChar char="û"/>
              <a:defRPr/>
            </a:pPr>
            <a:endParaRPr sz="3000" strike="noStrike" cap="none" spc="0">
              <a:solidFill>
                <a:schemeClr val="accent3"/>
              </a:solidFill>
              <a:latin typeface="Times New Roman"/>
              <a:cs typeface="Times New Roman"/>
            </a:endParaRPr>
          </a:p>
          <a:p>
            <a:pPr marL="0" lvl="0" indent="0" algn="ctr">
              <a:spcBef>
                <a:spcPts val="597"/>
              </a:spcBef>
              <a:spcAft>
                <a:spcPts val="0"/>
              </a:spcAft>
              <a:buNone/>
              <a:defRPr/>
            </a:pPr>
            <a:endParaRPr>
              <a:latin typeface="Times New Roman"/>
              <a:cs typeface="Times New Roman"/>
            </a:endParaRPr>
          </a:p>
        </p:txBody>
      </p:sp>
      <p:grpSp>
        <p:nvGrpSpPr>
          <p:cNvPr id="6875264" name="Google Shape;1027;p48"/>
          <p:cNvGrpSpPr/>
          <p:nvPr/>
        </p:nvGrpSpPr>
        <p:grpSpPr bwMode="auto">
          <a:xfrm>
            <a:off x="6370499" y="3047722"/>
            <a:ext cx="303759" cy="321864"/>
            <a:chOff x="0" y="0"/>
            <a:chExt cx="332668" cy="332668"/>
          </a:xfrm>
        </p:grpSpPr>
        <p:sp>
          <p:nvSpPr>
            <p:cNvPr id="86426992" name="Google Shape;1028;p48"/>
            <p:cNvSpPr/>
            <p:nvPr/>
          </p:nvSpPr>
          <p:spPr bwMode="auto">
            <a:xfrm>
              <a:off x="0" y="0"/>
              <a:ext cx="332668" cy="332668"/>
            </a:xfrm>
            <a:custGeom>
              <a:avLst/>
              <a:gdLst/>
              <a:ahLst/>
              <a:cxnLst/>
              <a:rect l="l" t="t" r="r" b="b"/>
              <a:pathLst>
                <a:path w="15832" h="15832" fill="none" stroke="1" extrusionOk="0">
                  <a:moveTo>
                    <a:pt x="7916" y="1"/>
                  </a:moveTo>
                  <a:lnTo>
                    <a:pt x="7916" y="1"/>
                  </a:lnTo>
                  <a:lnTo>
                    <a:pt x="7502" y="25"/>
                  </a:lnTo>
                  <a:lnTo>
                    <a:pt x="7112" y="49"/>
                  </a:lnTo>
                  <a:lnTo>
                    <a:pt x="6723" y="98"/>
                  </a:lnTo>
                  <a:lnTo>
                    <a:pt x="6333" y="171"/>
                  </a:lnTo>
                  <a:lnTo>
                    <a:pt x="5943" y="244"/>
                  </a:lnTo>
                  <a:lnTo>
                    <a:pt x="5553" y="366"/>
                  </a:lnTo>
                  <a:lnTo>
                    <a:pt x="5188" y="488"/>
                  </a:lnTo>
                  <a:lnTo>
                    <a:pt x="4847" y="634"/>
                  </a:lnTo>
                  <a:lnTo>
                    <a:pt x="4482" y="780"/>
                  </a:lnTo>
                  <a:lnTo>
                    <a:pt x="4141" y="950"/>
                  </a:lnTo>
                  <a:lnTo>
                    <a:pt x="3824" y="1145"/>
                  </a:lnTo>
                  <a:lnTo>
                    <a:pt x="3483" y="1364"/>
                  </a:lnTo>
                  <a:lnTo>
                    <a:pt x="3191" y="1584"/>
                  </a:lnTo>
                  <a:lnTo>
                    <a:pt x="2874" y="1803"/>
                  </a:lnTo>
                  <a:lnTo>
                    <a:pt x="2607" y="2071"/>
                  </a:lnTo>
                  <a:lnTo>
                    <a:pt x="2314" y="2314"/>
                  </a:lnTo>
                  <a:lnTo>
                    <a:pt x="2071" y="2607"/>
                  </a:lnTo>
                  <a:lnTo>
                    <a:pt x="1803" y="2874"/>
                  </a:lnTo>
                  <a:lnTo>
                    <a:pt x="1584" y="3191"/>
                  </a:lnTo>
                  <a:lnTo>
                    <a:pt x="1364" y="3483"/>
                  </a:lnTo>
                  <a:lnTo>
                    <a:pt x="1145" y="3824"/>
                  </a:lnTo>
                  <a:lnTo>
                    <a:pt x="950" y="4141"/>
                  </a:lnTo>
                  <a:lnTo>
                    <a:pt x="780" y="4482"/>
                  </a:lnTo>
                  <a:lnTo>
                    <a:pt x="634" y="4847"/>
                  </a:lnTo>
                  <a:lnTo>
                    <a:pt x="488" y="5188"/>
                  </a:lnTo>
                  <a:lnTo>
                    <a:pt x="366" y="5553"/>
                  </a:lnTo>
                  <a:lnTo>
                    <a:pt x="244" y="5943"/>
                  </a:lnTo>
                  <a:lnTo>
                    <a:pt x="171" y="6333"/>
                  </a:lnTo>
                  <a:lnTo>
                    <a:pt x="98" y="6722"/>
                  </a:lnTo>
                  <a:lnTo>
                    <a:pt x="49" y="7112"/>
                  </a:lnTo>
                  <a:lnTo>
                    <a:pt x="25" y="7502"/>
                  </a:lnTo>
                  <a:lnTo>
                    <a:pt x="1" y="7916"/>
                  </a:lnTo>
                  <a:lnTo>
                    <a:pt x="1" y="7916"/>
                  </a:lnTo>
                  <a:lnTo>
                    <a:pt x="25" y="8330"/>
                  </a:lnTo>
                  <a:lnTo>
                    <a:pt x="49" y="8720"/>
                  </a:lnTo>
                  <a:lnTo>
                    <a:pt x="98" y="9109"/>
                  </a:lnTo>
                  <a:lnTo>
                    <a:pt x="171" y="9499"/>
                  </a:lnTo>
                  <a:lnTo>
                    <a:pt x="244" y="9889"/>
                  </a:lnTo>
                  <a:lnTo>
                    <a:pt x="366" y="10278"/>
                  </a:lnTo>
                  <a:lnTo>
                    <a:pt x="488" y="10644"/>
                  </a:lnTo>
                  <a:lnTo>
                    <a:pt x="634" y="10985"/>
                  </a:lnTo>
                  <a:lnTo>
                    <a:pt x="780" y="11350"/>
                  </a:lnTo>
                  <a:lnTo>
                    <a:pt x="950" y="11691"/>
                  </a:lnTo>
                  <a:lnTo>
                    <a:pt x="1145" y="12008"/>
                  </a:lnTo>
                  <a:lnTo>
                    <a:pt x="1364" y="12348"/>
                  </a:lnTo>
                  <a:lnTo>
                    <a:pt x="1584" y="12641"/>
                  </a:lnTo>
                  <a:lnTo>
                    <a:pt x="1803" y="12957"/>
                  </a:lnTo>
                  <a:lnTo>
                    <a:pt x="2071" y="13225"/>
                  </a:lnTo>
                  <a:lnTo>
                    <a:pt x="2314" y="13518"/>
                  </a:lnTo>
                  <a:lnTo>
                    <a:pt x="2607" y="13761"/>
                  </a:lnTo>
                  <a:lnTo>
                    <a:pt x="2874" y="14029"/>
                  </a:lnTo>
                  <a:lnTo>
                    <a:pt x="3191" y="14248"/>
                  </a:lnTo>
                  <a:lnTo>
                    <a:pt x="3483" y="14467"/>
                  </a:lnTo>
                  <a:lnTo>
                    <a:pt x="3824" y="14687"/>
                  </a:lnTo>
                  <a:lnTo>
                    <a:pt x="4141" y="14881"/>
                  </a:lnTo>
                  <a:lnTo>
                    <a:pt x="4482" y="15052"/>
                  </a:lnTo>
                  <a:lnTo>
                    <a:pt x="4847" y="15198"/>
                  </a:lnTo>
                  <a:lnTo>
                    <a:pt x="5188" y="15344"/>
                  </a:lnTo>
                  <a:lnTo>
                    <a:pt x="5553" y="15466"/>
                  </a:lnTo>
                  <a:lnTo>
                    <a:pt x="5943" y="15588"/>
                  </a:lnTo>
                  <a:lnTo>
                    <a:pt x="6333" y="15661"/>
                  </a:lnTo>
                  <a:lnTo>
                    <a:pt x="6723" y="15734"/>
                  </a:lnTo>
                  <a:lnTo>
                    <a:pt x="7112" y="15783"/>
                  </a:lnTo>
                  <a:lnTo>
                    <a:pt x="7502" y="15807"/>
                  </a:lnTo>
                  <a:lnTo>
                    <a:pt x="7916" y="15831"/>
                  </a:lnTo>
                  <a:lnTo>
                    <a:pt x="7916" y="15831"/>
                  </a:lnTo>
                  <a:lnTo>
                    <a:pt x="8330" y="15807"/>
                  </a:lnTo>
                  <a:lnTo>
                    <a:pt x="8720" y="15783"/>
                  </a:lnTo>
                  <a:lnTo>
                    <a:pt x="9109" y="15734"/>
                  </a:lnTo>
                  <a:lnTo>
                    <a:pt x="9499" y="15661"/>
                  </a:lnTo>
                  <a:lnTo>
                    <a:pt x="9889" y="15588"/>
                  </a:lnTo>
                  <a:lnTo>
                    <a:pt x="10278" y="15466"/>
                  </a:lnTo>
                  <a:lnTo>
                    <a:pt x="10644" y="15344"/>
                  </a:lnTo>
                  <a:lnTo>
                    <a:pt x="10985" y="15198"/>
                  </a:lnTo>
                  <a:lnTo>
                    <a:pt x="11350" y="15052"/>
                  </a:lnTo>
                  <a:lnTo>
                    <a:pt x="11691" y="14881"/>
                  </a:lnTo>
                  <a:lnTo>
                    <a:pt x="12008" y="14687"/>
                  </a:lnTo>
                  <a:lnTo>
                    <a:pt x="12349" y="14467"/>
                  </a:lnTo>
                  <a:lnTo>
                    <a:pt x="12641" y="14248"/>
                  </a:lnTo>
                  <a:lnTo>
                    <a:pt x="12957" y="14029"/>
                  </a:lnTo>
                  <a:lnTo>
                    <a:pt x="13225" y="13761"/>
                  </a:lnTo>
                  <a:lnTo>
                    <a:pt x="13518" y="13518"/>
                  </a:lnTo>
                  <a:lnTo>
                    <a:pt x="13761" y="13225"/>
                  </a:lnTo>
                  <a:lnTo>
                    <a:pt x="14029" y="12957"/>
                  </a:lnTo>
                  <a:lnTo>
                    <a:pt x="14248" y="12641"/>
                  </a:lnTo>
                  <a:lnTo>
                    <a:pt x="14467" y="12348"/>
                  </a:lnTo>
                  <a:lnTo>
                    <a:pt x="14687" y="12008"/>
                  </a:lnTo>
                  <a:lnTo>
                    <a:pt x="14881" y="11691"/>
                  </a:lnTo>
                  <a:lnTo>
                    <a:pt x="15052" y="11350"/>
                  </a:lnTo>
                  <a:lnTo>
                    <a:pt x="15198" y="10985"/>
                  </a:lnTo>
                  <a:lnTo>
                    <a:pt x="15344" y="10644"/>
                  </a:lnTo>
                  <a:lnTo>
                    <a:pt x="15466" y="10278"/>
                  </a:lnTo>
                  <a:lnTo>
                    <a:pt x="15588" y="9889"/>
                  </a:lnTo>
                  <a:lnTo>
                    <a:pt x="15661" y="9499"/>
                  </a:lnTo>
                  <a:lnTo>
                    <a:pt x="15734" y="9109"/>
                  </a:lnTo>
                  <a:lnTo>
                    <a:pt x="15783" y="8720"/>
                  </a:lnTo>
                  <a:lnTo>
                    <a:pt x="15807" y="8330"/>
                  </a:lnTo>
                  <a:lnTo>
                    <a:pt x="15831" y="7916"/>
                  </a:lnTo>
                  <a:lnTo>
                    <a:pt x="15831" y="7916"/>
                  </a:lnTo>
                  <a:lnTo>
                    <a:pt x="15807" y="7502"/>
                  </a:lnTo>
                  <a:lnTo>
                    <a:pt x="15783" y="7112"/>
                  </a:lnTo>
                  <a:lnTo>
                    <a:pt x="15734" y="6722"/>
                  </a:lnTo>
                  <a:lnTo>
                    <a:pt x="15661" y="6333"/>
                  </a:lnTo>
                  <a:lnTo>
                    <a:pt x="15588" y="5943"/>
                  </a:lnTo>
                  <a:lnTo>
                    <a:pt x="15466" y="5553"/>
                  </a:lnTo>
                  <a:lnTo>
                    <a:pt x="15344" y="5188"/>
                  </a:lnTo>
                  <a:lnTo>
                    <a:pt x="15198" y="4847"/>
                  </a:lnTo>
                  <a:lnTo>
                    <a:pt x="15052" y="4482"/>
                  </a:lnTo>
                  <a:lnTo>
                    <a:pt x="14881" y="4141"/>
                  </a:lnTo>
                  <a:lnTo>
                    <a:pt x="14687" y="3824"/>
                  </a:lnTo>
                  <a:lnTo>
                    <a:pt x="14467" y="3483"/>
                  </a:lnTo>
                  <a:lnTo>
                    <a:pt x="14248" y="3191"/>
                  </a:lnTo>
                  <a:lnTo>
                    <a:pt x="14029" y="2874"/>
                  </a:lnTo>
                  <a:lnTo>
                    <a:pt x="13761" y="2607"/>
                  </a:lnTo>
                  <a:lnTo>
                    <a:pt x="13518" y="2314"/>
                  </a:lnTo>
                  <a:lnTo>
                    <a:pt x="13225" y="2071"/>
                  </a:lnTo>
                  <a:lnTo>
                    <a:pt x="12957" y="1803"/>
                  </a:lnTo>
                  <a:lnTo>
                    <a:pt x="12641" y="1584"/>
                  </a:lnTo>
                  <a:lnTo>
                    <a:pt x="12349" y="1364"/>
                  </a:lnTo>
                  <a:lnTo>
                    <a:pt x="12008" y="1145"/>
                  </a:lnTo>
                  <a:lnTo>
                    <a:pt x="11691" y="950"/>
                  </a:lnTo>
                  <a:lnTo>
                    <a:pt x="11350" y="780"/>
                  </a:lnTo>
                  <a:lnTo>
                    <a:pt x="10985" y="634"/>
                  </a:lnTo>
                  <a:lnTo>
                    <a:pt x="10644" y="488"/>
                  </a:lnTo>
                  <a:lnTo>
                    <a:pt x="10278" y="366"/>
                  </a:lnTo>
                  <a:lnTo>
                    <a:pt x="9889" y="244"/>
                  </a:lnTo>
                  <a:lnTo>
                    <a:pt x="9499" y="171"/>
                  </a:lnTo>
                  <a:lnTo>
                    <a:pt x="9109" y="98"/>
                  </a:lnTo>
                  <a:lnTo>
                    <a:pt x="8720" y="49"/>
                  </a:lnTo>
                  <a:lnTo>
                    <a:pt x="8330" y="25"/>
                  </a:lnTo>
                  <a:lnTo>
                    <a:pt x="7916" y="1"/>
                  </a:lnTo>
                  <a:lnTo>
                    <a:pt x="7916" y="1"/>
                  </a:lnTo>
                  <a:close/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1882727466" name="Google Shape;1029;p48"/>
            <p:cNvSpPr/>
            <p:nvPr/>
          </p:nvSpPr>
          <p:spPr bwMode="auto">
            <a:xfrm>
              <a:off x="20466" y="20466"/>
              <a:ext cx="291736" cy="291736"/>
            </a:xfrm>
            <a:custGeom>
              <a:avLst/>
              <a:gdLst/>
              <a:ahLst/>
              <a:cxnLst/>
              <a:rect l="l" t="t" r="r" b="b"/>
              <a:pathLst>
                <a:path w="13884" h="13884" fill="none" stroke="1" extrusionOk="0">
                  <a:moveTo>
                    <a:pt x="6942" y="13883"/>
                  </a:moveTo>
                  <a:lnTo>
                    <a:pt x="6942" y="13883"/>
                  </a:lnTo>
                  <a:lnTo>
                    <a:pt x="6577" y="13883"/>
                  </a:lnTo>
                  <a:lnTo>
                    <a:pt x="6236" y="13834"/>
                  </a:lnTo>
                  <a:lnTo>
                    <a:pt x="5895" y="13810"/>
                  </a:lnTo>
                  <a:lnTo>
                    <a:pt x="5554" y="13737"/>
                  </a:lnTo>
                  <a:lnTo>
                    <a:pt x="5213" y="13664"/>
                  </a:lnTo>
                  <a:lnTo>
                    <a:pt x="4872" y="13566"/>
                  </a:lnTo>
                  <a:lnTo>
                    <a:pt x="4555" y="13469"/>
                  </a:lnTo>
                  <a:lnTo>
                    <a:pt x="4239" y="13323"/>
                  </a:lnTo>
                  <a:lnTo>
                    <a:pt x="3946" y="13201"/>
                  </a:lnTo>
                  <a:lnTo>
                    <a:pt x="3630" y="13031"/>
                  </a:lnTo>
                  <a:lnTo>
                    <a:pt x="3337" y="12884"/>
                  </a:lnTo>
                  <a:lnTo>
                    <a:pt x="3069" y="12690"/>
                  </a:lnTo>
                  <a:lnTo>
                    <a:pt x="2802" y="12495"/>
                  </a:lnTo>
                  <a:lnTo>
                    <a:pt x="2534" y="12300"/>
                  </a:lnTo>
                  <a:lnTo>
                    <a:pt x="2290" y="12081"/>
                  </a:lnTo>
                  <a:lnTo>
                    <a:pt x="2047" y="11837"/>
                  </a:lnTo>
                  <a:lnTo>
                    <a:pt x="1803" y="11594"/>
                  </a:lnTo>
                  <a:lnTo>
                    <a:pt x="1584" y="11350"/>
                  </a:lnTo>
                  <a:lnTo>
                    <a:pt x="1389" y="11082"/>
                  </a:lnTo>
                  <a:lnTo>
                    <a:pt x="1194" y="10814"/>
                  </a:lnTo>
                  <a:lnTo>
                    <a:pt x="999" y="10546"/>
                  </a:lnTo>
                  <a:lnTo>
                    <a:pt x="853" y="10254"/>
                  </a:lnTo>
                  <a:lnTo>
                    <a:pt x="683" y="9938"/>
                  </a:lnTo>
                  <a:lnTo>
                    <a:pt x="561" y="9645"/>
                  </a:lnTo>
                  <a:lnTo>
                    <a:pt x="415" y="9329"/>
                  </a:lnTo>
                  <a:lnTo>
                    <a:pt x="317" y="9012"/>
                  </a:lnTo>
                  <a:lnTo>
                    <a:pt x="220" y="8671"/>
                  </a:lnTo>
                  <a:lnTo>
                    <a:pt x="147" y="8330"/>
                  </a:lnTo>
                  <a:lnTo>
                    <a:pt x="74" y="7989"/>
                  </a:lnTo>
                  <a:lnTo>
                    <a:pt x="49" y="7648"/>
                  </a:lnTo>
                  <a:lnTo>
                    <a:pt x="1" y="7307"/>
                  </a:lnTo>
                  <a:lnTo>
                    <a:pt x="1" y="6942"/>
                  </a:lnTo>
                  <a:lnTo>
                    <a:pt x="1" y="6942"/>
                  </a:lnTo>
                  <a:lnTo>
                    <a:pt x="1" y="6577"/>
                  </a:lnTo>
                  <a:lnTo>
                    <a:pt x="49" y="6236"/>
                  </a:lnTo>
                  <a:lnTo>
                    <a:pt x="74" y="5895"/>
                  </a:lnTo>
                  <a:lnTo>
                    <a:pt x="147" y="5554"/>
                  </a:lnTo>
                  <a:lnTo>
                    <a:pt x="220" y="5213"/>
                  </a:lnTo>
                  <a:lnTo>
                    <a:pt x="317" y="4872"/>
                  </a:lnTo>
                  <a:lnTo>
                    <a:pt x="415" y="4555"/>
                  </a:lnTo>
                  <a:lnTo>
                    <a:pt x="561" y="4238"/>
                  </a:lnTo>
                  <a:lnTo>
                    <a:pt x="683" y="3946"/>
                  </a:lnTo>
                  <a:lnTo>
                    <a:pt x="853" y="3630"/>
                  </a:lnTo>
                  <a:lnTo>
                    <a:pt x="999" y="3337"/>
                  </a:lnTo>
                  <a:lnTo>
                    <a:pt x="1194" y="3069"/>
                  </a:lnTo>
                  <a:lnTo>
                    <a:pt x="1389" y="2802"/>
                  </a:lnTo>
                  <a:lnTo>
                    <a:pt x="1584" y="2534"/>
                  </a:lnTo>
                  <a:lnTo>
                    <a:pt x="1803" y="2290"/>
                  </a:lnTo>
                  <a:lnTo>
                    <a:pt x="2047" y="2047"/>
                  </a:lnTo>
                  <a:lnTo>
                    <a:pt x="2290" y="1803"/>
                  </a:lnTo>
                  <a:lnTo>
                    <a:pt x="2534" y="1584"/>
                  </a:lnTo>
                  <a:lnTo>
                    <a:pt x="2802" y="1389"/>
                  </a:lnTo>
                  <a:lnTo>
                    <a:pt x="3069" y="1194"/>
                  </a:lnTo>
                  <a:lnTo>
                    <a:pt x="3337" y="999"/>
                  </a:lnTo>
                  <a:lnTo>
                    <a:pt x="3630" y="853"/>
                  </a:lnTo>
                  <a:lnTo>
                    <a:pt x="3946" y="683"/>
                  </a:lnTo>
                  <a:lnTo>
                    <a:pt x="4239" y="561"/>
                  </a:lnTo>
                  <a:lnTo>
                    <a:pt x="4555" y="415"/>
                  </a:lnTo>
                  <a:lnTo>
                    <a:pt x="4872" y="317"/>
                  </a:lnTo>
                  <a:lnTo>
                    <a:pt x="5213" y="220"/>
                  </a:lnTo>
                  <a:lnTo>
                    <a:pt x="5554" y="147"/>
                  </a:lnTo>
                  <a:lnTo>
                    <a:pt x="5895" y="74"/>
                  </a:lnTo>
                  <a:lnTo>
                    <a:pt x="6236" y="49"/>
                  </a:lnTo>
                  <a:lnTo>
                    <a:pt x="6577" y="1"/>
                  </a:lnTo>
                  <a:lnTo>
                    <a:pt x="6942" y="1"/>
                  </a:lnTo>
                  <a:lnTo>
                    <a:pt x="6942" y="1"/>
                  </a:lnTo>
                  <a:lnTo>
                    <a:pt x="7307" y="1"/>
                  </a:lnTo>
                  <a:lnTo>
                    <a:pt x="7648" y="49"/>
                  </a:lnTo>
                  <a:lnTo>
                    <a:pt x="7989" y="74"/>
                  </a:lnTo>
                  <a:lnTo>
                    <a:pt x="8330" y="147"/>
                  </a:lnTo>
                  <a:lnTo>
                    <a:pt x="8671" y="220"/>
                  </a:lnTo>
                  <a:lnTo>
                    <a:pt x="9012" y="317"/>
                  </a:lnTo>
                  <a:lnTo>
                    <a:pt x="9329" y="415"/>
                  </a:lnTo>
                  <a:lnTo>
                    <a:pt x="9645" y="561"/>
                  </a:lnTo>
                  <a:lnTo>
                    <a:pt x="9938" y="683"/>
                  </a:lnTo>
                  <a:lnTo>
                    <a:pt x="10254" y="853"/>
                  </a:lnTo>
                  <a:lnTo>
                    <a:pt x="10546" y="999"/>
                  </a:lnTo>
                  <a:lnTo>
                    <a:pt x="10814" y="1194"/>
                  </a:lnTo>
                  <a:lnTo>
                    <a:pt x="11082" y="1389"/>
                  </a:lnTo>
                  <a:lnTo>
                    <a:pt x="11350" y="1584"/>
                  </a:lnTo>
                  <a:lnTo>
                    <a:pt x="11594" y="1803"/>
                  </a:lnTo>
                  <a:lnTo>
                    <a:pt x="11837" y="2047"/>
                  </a:lnTo>
                  <a:lnTo>
                    <a:pt x="12081" y="2290"/>
                  </a:lnTo>
                  <a:lnTo>
                    <a:pt x="12300" y="2534"/>
                  </a:lnTo>
                  <a:lnTo>
                    <a:pt x="12495" y="2802"/>
                  </a:lnTo>
                  <a:lnTo>
                    <a:pt x="12690" y="3069"/>
                  </a:lnTo>
                  <a:lnTo>
                    <a:pt x="12885" y="3337"/>
                  </a:lnTo>
                  <a:lnTo>
                    <a:pt x="13031" y="3630"/>
                  </a:lnTo>
                  <a:lnTo>
                    <a:pt x="13201" y="3946"/>
                  </a:lnTo>
                  <a:lnTo>
                    <a:pt x="13323" y="4238"/>
                  </a:lnTo>
                  <a:lnTo>
                    <a:pt x="13469" y="4555"/>
                  </a:lnTo>
                  <a:lnTo>
                    <a:pt x="13566" y="4872"/>
                  </a:lnTo>
                  <a:lnTo>
                    <a:pt x="13664" y="5213"/>
                  </a:lnTo>
                  <a:lnTo>
                    <a:pt x="13737" y="5554"/>
                  </a:lnTo>
                  <a:lnTo>
                    <a:pt x="13810" y="5895"/>
                  </a:lnTo>
                  <a:lnTo>
                    <a:pt x="13834" y="6236"/>
                  </a:lnTo>
                  <a:lnTo>
                    <a:pt x="13883" y="6577"/>
                  </a:lnTo>
                  <a:lnTo>
                    <a:pt x="13883" y="6942"/>
                  </a:lnTo>
                  <a:lnTo>
                    <a:pt x="13883" y="6942"/>
                  </a:lnTo>
                  <a:lnTo>
                    <a:pt x="13883" y="7307"/>
                  </a:lnTo>
                  <a:lnTo>
                    <a:pt x="13834" y="7648"/>
                  </a:lnTo>
                  <a:lnTo>
                    <a:pt x="13810" y="7989"/>
                  </a:lnTo>
                  <a:lnTo>
                    <a:pt x="13737" y="8330"/>
                  </a:lnTo>
                  <a:lnTo>
                    <a:pt x="13664" y="8671"/>
                  </a:lnTo>
                  <a:lnTo>
                    <a:pt x="13566" y="9012"/>
                  </a:lnTo>
                  <a:lnTo>
                    <a:pt x="13469" y="9329"/>
                  </a:lnTo>
                  <a:lnTo>
                    <a:pt x="13323" y="9645"/>
                  </a:lnTo>
                  <a:lnTo>
                    <a:pt x="13201" y="9938"/>
                  </a:lnTo>
                  <a:lnTo>
                    <a:pt x="13031" y="10254"/>
                  </a:lnTo>
                  <a:lnTo>
                    <a:pt x="12885" y="10546"/>
                  </a:lnTo>
                  <a:lnTo>
                    <a:pt x="12690" y="10814"/>
                  </a:lnTo>
                  <a:lnTo>
                    <a:pt x="12495" y="11082"/>
                  </a:lnTo>
                  <a:lnTo>
                    <a:pt x="12300" y="11350"/>
                  </a:lnTo>
                  <a:lnTo>
                    <a:pt x="12081" y="11594"/>
                  </a:lnTo>
                  <a:lnTo>
                    <a:pt x="11837" y="11837"/>
                  </a:lnTo>
                  <a:lnTo>
                    <a:pt x="11594" y="12081"/>
                  </a:lnTo>
                  <a:lnTo>
                    <a:pt x="11350" y="12300"/>
                  </a:lnTo>
                  <a:lnTo>
                    <a:pt x="11082" y="12495"/>
                  </a:lnTo>
                  <a:lnTo>
                    <a:pt x="10814" y="12690"/>
                  </a:lnTo>
                  <a:lnTo>
                    <a:pt x="10546" y="12884"/>
                  </a:lnTo>
                  <a:lnTo>
                    <a:pt x="10254" y="13031"/>
                  </a:lnTo>
                  <a:lnTo>
                    <a:pt x="9938" y="13201"/>
                  </a:lnTo>
                  <a:lnTo>
                    <a:pt x="9645" y="13323"/>
                  </a:lnTo>
                  <a:lnTo>
                    <a:pt x="9329" y="13469"/>
                  </a:lnTo>
                  <a:lnTo>
                    <a:pt x="9012" y="13566"/>
                  </a:lnTo>
                  <a:lnTo>
                    <a:pt x="8671" y="13664"/>
                  </a:lnTo>
                  <a:lnTo>
                    <a:pt x="8330" y="13737"/>
                  </a:lnTo>
                  <a:lnTo>
                    <a:pt x="7989" y="13810"/>
                  </a:lnTo>
                  <a:lnTo>
                    <a:pt x="7648" y="13834"/>
                  </a:lnTo>
                  <a:lnTo>
                    <a:pt x="7307" y="13883"/>
                  </a:lnTo>
                  <a:lnTo>
                    <a:pt x="6942" y="13883"/>
                  </a:lnTo>
                  <a:lnTo>
                    <a:pt x="6942" y="13883"/>
                  </a:lnTo>
                  <a:close/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1260503094" name="Google Shape;1030;p48"/>
            <p:cNvSpPr/>
            <p:nvPr/>
          </p:nvSpPr>
          <p:spPr bwMode="auto">
            <a:xfrm>
              <a:off x="167846" y="74193"/>
              <a:ext cx="46080" cy="142295"/>
            </a:xfrm>
            <a:custGeom>
              <a:avLst/>
              <a:gdLst/>
              <a:ahLst/>
              <a:cxnLst/>
              <a:rect l="l" t="t" r="r" b="b"/>
              <a:pathLst>
                <a:path w="2193" h="6772" fill="none" stroke="1" extrusionOk="0">
                  <a:moveTo>
                    <a:pt x="1" y="1"/>
                  </a:moveTo>
                  <a:lnTo>
                    <a:pt x="1" y="4580"/>
                  </a:lnTo>
                  <a:lnTo>
                    <a:pt x="2193" y="6772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472653095" name="Google Shape;1031;p48"/>
            <p:cNvSpPr/>
            <p:nvPr/>
          </p:nvSpPr>
          <p:spPr bwMode="auto">
            <a:xfrm>
              <a:off x="166312" y="20466"/>
              <a:ext cx="19" cy="24582"/>
            </a:xfrm>
            <a:custGeom>
              <a:avLst/>
              <a:gdLst/>
              <a:ahLst/>
              <a:cxnLst/>
              <a:rect l="l" t="t" r="r" b="b"/>
              <a:pathLst>
                <a:path w="1" h="1170" fill="none" stroke="1" extrusionOk="0">
                  <a:moveTo>
                    <a:pt x="1" y="1170"/>
                  </a:moveTo>
                  <a:lnTo>
                    <a:pt x="1" y="1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953778438" name="Google Shape;1032;p48"/>
            <p:cNvSpPr/>
            <p:nvPr/>
          </p:nvSpPr>
          <p:spPr bwMode="auto">
            <a:xfrm>
              <a:off x="93650" y="39921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fill="none" stroke="1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1074423670" name="Google Shape;1033;p48"/>
            <p:cNvSpPr/>
            <p:nvPr/>
          </p:nvSpPr>
          <p:spPr bwMode="auto">
            <a:xfrm>
              <a:off x="93650" y="39921"/>
              <a:ext cx="11786" cy="20989"/>
            </a:xfrm>
            <a:custGeom>
              <a:avLst/>
              <a:gdLst/>
              <a:ahLst/>
              <a:cxnLst/>
              <a:rect l="l" t="t" r="r" b="b"/>
              <a:pathLst>
                <a:path w="561" h="999" fill="none" stroke="1" extrusionOk="0">
                  <a:moveTo>
                    <a:pt x="1" y="0"/>
                  </a:moveTo>
                  <a:lnTo>
                    <a:pt x="561" y="999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1614169631" name="Google Shape;1034;p48"/>
            <p:cNvSpPr/>
            <p:nvPr/>
          </p:nvSpPr>
          <p:spPr bwMode="auto">
            <a:xfrm>
              <a:off x="39921" y="93650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fill="none" stroke="1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415059216" name="Google Shape;1035;p48"/>
            <p:cNvSpPr/>
            <p:nvPr/>
          </p:nvSpPr>
          <p:spPr bwMode="auto">
            <a:xfrm>
              <a:off x="39921" y="93650"/>
              <a:ext cx="20989" cy="11786"/>
            </a:xfrm>
            <a:custGeom>
              <a:avLst/>
              <a:gdLst/>
              <a:ahLst/>
              <a:cxnLst/>
              <a:rect l="l" t="t" r="r" b="b"/>
              <a:pathLst>
                <a:path w="999" h="561" fill="none" stroke="1" extrusionOk="0">
                  <a:moveTo>
                    <a:pt x="0" y="0"/>
                  </a:moveTo>
                  <a:lnTo>
                    <a:pt x="999" y="561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434080556" name="Google Shape;1036;p48"/>
            <p:cNvSpPr/>
            <p:nvPr/>
          </p:nvSpPr>
          <p:spPr bwMode="auto">
            <a:xfrm>
              <a:off x="20466" y="166312"/>
              <a:ext cx="24582" cy="19"/>
            </a:xfrm>
            <a:custGeom>
              <a:avLst/>
              <a:gdLst/>
              <a:ahLst/>
              <a:cxnLst/>
              <a:rect l="l" t="t" r="r" b="b"/>
              <a:pathLst>
                <a:path w="1170" h="1" fill="none" stroke="1" extrusionOk="0">
                  <a:moveTo>
                    <a:pt x="1" y="1"/>
                  </a:moveTo>
                  <a:lnTo>
                    <a:pt x="1170" y="1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123588157" name="Google Shape;1037;p48"/>
            <p:cNvSpPr/>
            <p:nvPr/>
          </p:nvSpPr>
          <p:spPr bwMode="auto">
            <a:xfrm>
              <a:off x="39921" y="238995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fill="none" stroke="1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406994471" name="Google Shape;1038;p48"/>
            <p:cNvSpPr/>
            <p:nvPr/>
          </p:nvSpPr>
          <p:spPr bwMode="auto">
            <a:xfrm>
              <a:off x="39921" y="227227"/>
              <a:ext cx="20989" cy="11786"/>
            </a:xfrm>
            <a:custGeom>
              <a:avLst/>
              <a:gdLst/>
              <a:ahLst/>
              <a:cxnLst/>
              <a:rect l="l" t="t" r="r" b="b"/>
              <a:pathLst>
                <a:path w="999" h="561" fill="none" stroke="1" extrusionOk="0">
                  <a:moveTo>
                    <a:pt x="0" y="560"/>
                  </a:moveTo>
                  <a:lnTo>
                    <a:pt x="999" y="0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132700141" name="Google Shape;1039;p48"/>
            <p:cNvSpPr/>
            <p:nvPr/>
          </p:nvSpPr>
          <p:spPr bwMode="auto">
            <a:xfrm>
              <a:off x="93650" y="271755"/>
              <a:ext cx="11786" cy="20989"/>
            </a:xfrm>
            <a:custGeom>
              <a:avLst/>
              <a:gdLst/>
              <a:ahLst/>
              <a:cxnLst/>
              <a:rect l="l" t="t" r="r" b="b"/>
              <a:pathLst>
                <a:path w="561" h="999" fill="none" stroke="1" extrusionOk="0">
                  <a:moveTo>
                    <a:pt x="1" y="999"/>
                  </a:moveTo>
                  <a:lnTo>
                    <a:pt x="561" y="0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727491443" name="Google Shape;1040;p48"/>
            <p:cNvSpPr/>
            <p:nvPr/>
          </p:nvSpPr>
          <p:spPr bwMode="auto">
            <a:xfrm>
              <a:off x="93650" y="292725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fill="none" stroke="1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1426666864" name="Google Shape;1041;p48"/>
            <p:cNvSpPr/>
            <p:nvPr/>
          </p:nvSpPr>
          <p:spPr bwMode="auto">
            <a:xfrm>
              <a:off x="166312" y="287617"/>
              <a:ext cx="19" cy="24582"/>
            </a:xfrm>
            <a:custGeom>
              <a:avLst/>
              <a:gdLst/>
              <a:ahLst/>
              <a:cxnLst/>
              <a:rect l="l" t="t" r="r" b="b"/>
              <a:pathLst>
                <a:path w="1" h="1170" fill="none" stroke="1" extrusionOk="0">
                  <a:moveTo>
                    <a:pt x="1" y="0"/>
                  </a:moveTo>
                  <a:lnTo>
                    <a:pt x="1" y="1169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131789738" name="Google Shape;1042;p48"/>
            <p:cNvSpPr/>
            <p:nvPr/>
          </p:nvSpPr>
          <p:spPr bwMode="auto">
            <a:xfrm>
              <a:off x="227227" y="271755"/>
              <a:ext cx="11786" cy="20989"/>
            </a:xfrm>
            <a:custGeom>
              <a:avLst/>
              <a:gdLst/>
              <a:ahLst/>
              <a:cxnLst/>
              <a:rect l="l" t="t" r="r" b="b"/>
              <a:pathLst>
                <a:path w="561" h="999" fill="none" stroke="1" extrusionOk="0">
                  <a:moveTo>
                    <a:pt x="560" y="999"/>
                  </a:moveTo>
                  <a:lnTo>
                    <a:pt x="0" y="0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307742352" name="Google Shape;1043;p48"/>
            <p:cNvSpPr/>
            <p:nvPr/>
          </p:nvSpPr>
          <p:spPr bwMode="auto">
            <a:xfrm>
              <a:off x="238995" y="292725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fill="none" stroke="1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824312" name="Google Shape;1044;p48"/>
            <p:cNvSpPr/>
            <p:nvPr/>
          </p:nvSpPr>
          <p:spPr bwMode="auto">
            <a:xfrm>
              <a:off x="271755" y="227227"/>
              <a:ext cx="20989" cy="11786"/>
            </a:xfrm>
            <a:custGeom>
              <a:avLst/>
              <a:gdLst/>
              <a:ahLst/>
              <a:cxnLst/>
              <a:rect l="l" t="t" r="r" b="b"/>
              <a:pathLst>
                <a:path w="999" h="561" fill="none" stroke="1" extrusionOk="0">
                  <a:moveTo>
                    <a:pt x="999" y="560"/>
                  </a:moveTo>
                  <a:lnTo>
                    <a:pt x="0" y="0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1885440214" name="Google Shape;1045;p48"/>
            <p:cNvSpPr/>
            <p:nvPr/>
          </p:nvSpPr>
          <p:spPr bwMode="auto">
            <a:xfrm>
              <a:off x="292725" y="238995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fill="none" stroke="1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11149144" name="Google Shape;1046;p48"/>
            <p:cNvSpPr/>
            <p:nvPr/>
          </p:nvSpPr>
          <p:spPr bwMode="auto">
            <a:xfrm>
              <a:off x="287617" y="166312"/>
              <a:ext cx="24582" cy="19"/>
            </a:xfrm>
            <a:custGeom>
              <a:avLst/>
              <a:gdLst/>
              <a:ahLst/>
              <a:cxnLst/>
              <a:rect l="l" t="t" r="r" b="b"/>
              <a:pathLst>
                <a:path w="1170" h="1" fill="none" stroke="1" extrusionOk="0">
                  <a:moveTo>
                    <a:pt x="1169" y="1"/>
                  </a:moveTo>
                  <a:lnTo>
                    <a:pt x="0" y="1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889839571" name="Google Shape;1047;p48"/>
            <p:cNvSpPr/>
            <p:nvPr/>
          </p:nvSpPr>
          <p:spPr bwMode="auto">
            <a:xfrm>
              <a:off x="271755" y="93650"/>
              <a:ext cx="20989" cy="11786"/>
            </a:xfrm>
            <a:custGeom>
              <a:avLst/>
              <a:gdLst/>
              <a:ahLst/>
              <a:cxnLst/>
              <a:rect l="l" t="t" r="r" b="b"/>
              <a:pathLst>
                <a:path w="999" h="561" fill="none" stroke="1" extrusionOk="0">
                  <a:moveTo>
                    <a:pt x="0" y="561"/>
                  </a:moveTo>
                  <a:lnTo>
                    <a:pt x="999" y="0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3230184" name="Google Shape;1048;p48"/>
            <p:cNvSpPr/>
            <p:nvPr/>
          </p:nvSpPr>
          <p:spPr bwMode="auto">
            <a:xfrm>
              <a:off x="292725" y="93650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fill="none" stroke="1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1359290712" name="Google Shape;1049;p48"/>
            <p:cNvSpPr/>
            <p:nvPr/>
          </p:nvSpPr>
          <p:spPr bwMode="auto">
            <a:xfrm>
              <a:off x="227227" y="39921"/>
              <a:ext cx="11786" cy="20989"/>
            </a:xfrm>
            <a:custGeom>
              <a:avLst/>
              <a:gdLst/>
              <a:ahLst/>
              <a:cxnLst/>
              <a:rect l="l" t="t" r="r" b="b"/>
              <a:pathLst>
                <a:path w="561" h="999" fill="none" stroke="1" extrusionOk="0">
                  <a:moveTo>
                    <a:pt x="560" y="0"/>
                  </a:moveTo>
                  <a:lnTo>
                    <a:pt x="0" y="999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1572120515" name="Google Shape;1050;p48"/>
            <p:cNvSpPr/>
            <p:nvPr/>
          </p:nvSpPr>
          <p:spPr bwMode="auto">
            <a:xfrm>
              <a:off x="238995" y="39921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fill="none" stroke="1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</p:grpSp>
      <p:sp>
        <p:nvSpPr>
          <p:cNvPr id="356591536" name="Google Shape;872;p48"/>
          <p:cNvSpPr/>
          <p:nvPr/>
        </p:nvSpPr>
        <p:spPr bwMode="auto">
          <a:xfrm flipH="0" flipV="0">
            <a:off x="6755976" y="2376798"/>
            <a:ext cx="420813" cy="389900"/>
          </a:xfrm>
          <a:custGeom>
            <a:avLst/>
            <a:gdLst/>
            <a:ahLst/>
            <a:cxnLst/>
            <a:rect l="l" t="t" r="r" b="b"/>
            <a:pathLst>
              <a:path w="16952" h="16952" fill="none" stroke="1" extrusionOk="0">
                <a:moveTo>
                  <a:pt x="16173" y="7015"/>
                </a:moveTo>
                <a:lnTo>
                  <a:pt x="14419" y="6820"/>
                </a:lnTo>
                <a:lnTo>
                  <a:pt x="14419" y="6820"/>
                </a:lnTo>
                <a:lnTo>
                  <a:pt x="14322" y="6479"/>
                </a:lnTo>
                <a:lnTo>
                  <a:pt x="14175" y="6114"/>
                </a:lnTo>
                <a:lnTo>
                  <a:pt x="14029" y="5773"/>
                </a:lnTo>
                <a:lnTo>
                  <a:pt x="13859" y="5432"/>
                </a:lnTo>
                <a:lnTo>
                  <a:pt x="14955" y="4068"/>
                </a:lnTo>
                <a:lnTo>
                  <a:pt x="14955" y="4068"/>
                </a:lnTo>
                <a:lnTo>
                  <a:pt x="15028" y="3922"/>
                </a:lnTo>
                <a:lnTo>
                  <a:pt x="15077" y="3776"/>
                </a:lnTo>
                <a:lnTo>
                  <a:pt x="15125" y="3630"/>
                </a:lnTo>
                <a:lnTo>
                  <a:pt x="15125" y="3484"/>
                </a:lnTo>
                <a:lnTo>
                  <a:pt x="15101" y="3313"/>
                </a:lnTo>
                <a:lnTo>
                  <a:pt x="15052" y="3167"/>
                </a:lnTo>
                <a:lnTo>
                  <a:pt x="14979" y="3021"/>
                </a:lnTo>
                <a:lnTo>
                  <a:pt x="14882" y="2899"/>
                </a:lnTo>
                <a:lnTo>
                  <a:pt x="14054" y="2071"/>
                </a:lnTo>
                <a:lnTo>
                  <a:pt x="14054" y="2071"/>
                </a:lnTo>
                <a:lnTo>
                  <a:pt x="13932" y="1974"/>
                </a:lnTo>
                <a:lnTo>
                  <a:pt x="13786" y="1901"/>
                </a:lnTo>
                <a:lnTo>
                  <a:pt x="13640" y="1852"/>
                </a:lnTo>
                <a:lnTo>
                  <a:pt x="13469" y="1827"/>
                </a:lnTo>
                <a:lnTo>
                  <a:pt x="13323" y="1827"/>
                </a:lnTo>
                <a:lnTo>
                  <a:pt x="13177" y="1876"/>
                </a:lnTo>
                <a:lnTo>
                  <a:pt x="13031" y="1925"/>
                </a:lnTo>
                <a:lnTo>
                  <a:pt x="12885" y="2022"/>
                </a:lnTo>
                <a:lnTo>
                  <a:pt x="11521" y="3094"/>
                </a:lnTo>
                <a:lnTo>
                  <a:pt x="11521" y="3094"/>
                </a:lnTo>
                <a:lnTo>
                  <a:pt x="11180" y="2923"/>
                </a:lnTo>
                <a:lnTo>
                  <a:pt x="10839" y="2777"/>
                </a:lnTo>
                <a:lnTo>
                  <a:pt x="10473" y="2631"/>
                </a:lnTo>
                <a:lnTo>
                  <a:pt x="10133" y="2534"/>
                </a:lnTo>
                <a:lnTo>
                  <a:pt x="9938" y="780"/>
                </a:lnTo>
                <a:lnTo>
                  <a:pt x="9938" y="780"/>
                </a:lnTo>
                <a:lnTo>
                  <a:pt x="9889" y="634"/>
                </a:lnTo>
                <a:lnTo>
                  <a:pt x="9840" y="488"/>
                </a:lnTo>
                <a:lnTo>
                  <a:pt x="9743" y="342"/>
                </a:lnTo>
                <a:lnTo>
                  <a:pt x="9645" y="244"/>
                </a:lnTo>
                <a:lnTo>
                  <a:pt x="9499" y="147"/>
                </a:lnTo>
                <a:lnTo>
                  <a:pt x="9378" y="74"/>
                </a:lnTo>
                <a:lnTo>
                  <a:pt x="9231" y="25"/>
                </a:lnTo>
                <a:lnTo>
                  <a:pt x="9061" y="1"/>
                </a:lnTo>
                <a:lnTo>
                  <a:pt x="7892" y="1"/>
                </a:lnTo>
                <a:lnTo>
                  <a:pt x="7892" y="1"/>
                </a:lnTo>
                <a:lnTo>
                  <a:pt x="7721" y="25"/>
                </a:lnTo>
                <a:lnTo>
                  <a:pt x="7575" y="74"/>
                </a:lnTo>
                <a:lnTo>
                  <a:pt x="7453" y="147"/>
                </a:lnTo>
                <a:lnTo>
                  <a:pt x="7307" y="244"/>
                </a:lnTo>
                <a:lnTo>
                  <a:pt x="7210" y="342"/>
                </a:lnTo>
                <a:lnTo>
                  <a:pt x="7112" y="488"/>
                </a:lnTo>
                <a:lnTo>
                  <a:pt x="7064" y="634"/>
                </a:lnTo>
                <a:lnTo>
                  <a:pt x="7015" y="780"/>
                </a:lnTo>
                <a:lnTo>
                  <a:pt x="6820" y="2534"/>
                </a:lnTo>
                <a:lnTo>
                  <a:pt x="6820" y="2534"/>
                </a:lnTo>
                <a:lnTo>
                  <a:pt x="6479" y="2631"/>
                </a:lnTo>
                <a:lnTo>
                  <a:pt x="6114" y="2777"/>
                </a:lnTo>
                <a:lnTo>
                  <a:pt x="5773" y="2923"/>
                </a:lnTo>
                <a:lnTo>
                  <a:pt x="5432" y="3094"/>
                </a:lnTo>
                <a:lnTo>
                  <a:pt x="4068" y="2022"/>
                </a:lnTo>
                <a:lnTo>
                  <a:pt x="4068" y="2022"/>
                </a:lnTo>
                <a:lnTo>
                  <a:pt x="3922" y="1925"/>
                </a:lnTo>
                <a:lnTo>
                  <a:pt x="3776" y="1876"/>
                </a:lnTo>
                <a:lnTo>
                  <a:pt x="3630" y="1827"/>
                </a:lnTo>
                <a:lnTo>
                  <a:pt x="3484" y="1827"/>
                </a:lnTo>
                <a:lnTo>
                  <a:pt x="3313" y="1852"/>
                </a:lnTo>
                <a:lnTo>
                  <a:pt x="3167" y="1901"/>
                </a:lnTo>
                <a:lnTo>
                  <a:pt x="3021" y="1974"/>
                </a:lnTo>
                <a:lnTo>
                  <a:pt x="2899" y="2071"/>
                </a:lnTo>
                <a:lnTo>
                  <a:pt x="2071" y="2899"/>
                </a:lnTo>
                <a:lnTo>
                  <a:pt x="2071" y="2899"/>
                </a:lnTo>
                <a:lnTo>
                  <a:pt x="1974" y="3021"/>
                </a:lnTo>
                <a:lnTo>
                  <a:pt x="1901" y="3167"/>
                </a:lnTo>
                <a:lnTo>
                  <a:pt x="1852" y="3313"/>
                </a:lnTo>
                <a:lnTo>
                  <a:pt x="1827" y="3484"/>
                </a:lnTo>
                <a:lnTo>
                  <a:pt x="1827" y="3630"/>
                </a:lnTo>
                <a:lnTo>
                  <a:pt x="1876" y="3776"/>
                </a:lnTo>
                <a:lnTo>
                  <a:pt x="1925" y="3922"/>
                </a:lnTo>
                <a:lnTo>
                  <a:pt x="2022" y="4068"/>
                </a:lnTo>
                <a:lnTo>
                  <a:pt x="3094" y="5432"/>
                </a:lnTo>
                <a:lnTo>
                  <a:pt x="3094" y="5432"/>
                </a:lnTo>
                <a:lnTo>
                  <a:pt x="2923" y="5773"/>
                </a:lnTo>
                <a:lnTo>
                  <a:pt x="2777" y="6114"/>
                </a:lnTo>
                <a:lnTo>
                  <a:pt x="2631" y="6479"/>
                </a:lnTo>
                <a:lnTo>
                  <a:pt x="2534" y="6820"/>
                </a:lnTo>
                <a:lnTo>
                  <a:pt x="780" y="7015"/>
                </a:lnTo>
                <a:lnTo>
                  <a:pt x="780" y="7015"/>
                </a:lnTo>
                <a:lnTo>
                  <a:pt x="634" y="7064"/>
                </a:lnTo>
                <a:lnTo>
                  <a:pt x="488" y="7112"/>
                </a:lnTo>
                <a:lnTo>
                  <a:pt x="342" y="7210"/>
                </a:lnTo>
                <a:lnTo>
                  <a:pt x="244" y="7307"/>
                </a:lnTo>
                <a:lnTo>
                  <a:pt x="147" y="7453"/>
                </a:lnTo>
                <a:lnTo>
                  <a:pt x="74" y="7575"/>
                </a:lnTo>
                <a:lnTo>
                  <a:pt x="25" y="7721"/>
                </a:lnTo>
                <a:lnTo>
                  <a:pt x="1" y="7892"/>
                </a:lnTo>
                <a:lnTo>
                  <a:pt x="1" y="9061"/>
                </a:lnTo>
                <a:lnTo>
                  <a:pt x="1" y="9061"/>
                </a:lnTo>
                <a:lnTo>
                  <a:pt x="25" y="9231"/>
                </a:lnTo>
                <a:lnTo>
                  <a:pt x="74" y="9377"/>
                </a:lnTo>
                <a:lnTo>
                  <a:pt x="147" y="9499"/>
                </a:lnTo>
                <a:lnTo>
                  <a:pt x="244" y="9645"/>
                </a:lnTo>
                <a:lnTo>
                  <a:pt x="342" y="9743"/>
                </a:lnTo>
                <a:lnTo>
                  <a:pt x="488" y="9840"/>
                </a:lnTo>
                <a:lnTo>
                  <a:pt x="634" y="9889"/>
                </a:lnTo>
                <a:lnTo>
                  <a:pt x="780" y="9938"/>
                </a:lnTo>
                <a:lnTo>
                  <a:pt x="2534" y="10132"/>
                </a:lnTo>
                <a:lnTo>
                  <a:pt x="2534" y="10132"/>
                </a:lnTo>
                <a:lnTo>
                  <a:pt x="2631" y="10473"/>
                </a:lnTo>
                <a:lnTo>
                  <a:pt x="2777" y="10839"/>
                </a:lnTo>
                <a:lnTo>
                  <a:pt x="2923" y="11180"/>
                </a:lnTo>
                <a:lnTo>
                  <a:pt x="3094" y="11521"/>
                </a:lnTo>
                <a:lnTo>
                  <a:pt x="2022" y="12885"/>
                </a:lnTo>
                <a:lnTo>
                  <a:pt x="2022" y="12885"/>
                </a:lnTo>
                <a:lnTo>
                  <a:pt x="1925" y="13031"/>
                </a:lnTo>
                <a:lnTo>
                  <a:pt x="1876" y="13177"/>
                </a:lnTo>
                <a:lnTo>
                  <a:pt x="1827" y="13323"/>
                </a:lnTo>
                <a:lnTo>
                  <a:pt x="1827" y="13469"/>
                </a:lnTo>
                <a:lnTo>
                  <a:pt x="1852" y="13640"/>
                </a:lnTo>
                <a:lnTo>
                  <a:pt x="1901" y="13786"/>
                </a:lnTo>
                <a:lnTo>
                  <a:pt x="1974" y="13932"/>
                </a:lnTo>
                <a:lnTo>
                  <a:pt x="2071" y="14054"/>
                </a:lnTo>
                <a:lnTo>
                  <a:pt x="2899" y="14882"/>
                </a:lnTo>
                <a:lnTo>
                  <a:pt x="2899" y="14882"/>
                </a:lnTo>
                <a:lnTo>
                  <a:pt x="3021" y="14979"/>
                </a:lnTo>
                <a:lnTo>
                  <a:pt x="3167" y="15052"/>
                </a:lnTo>
                <a:lnTo>
                  <a:pt x="3313" y="15101"/>
                </a:lnTo>
                <a:lnTo>
                  <a:pt x="3484" y="15125"/>
                </a:lnTo>
                <a:lnTo>
                  <a:pt x="3630" y="15125"/>
                </a:lnTo>
                <a:lnTo>
                  <a:pt x="3776" y="15077"/>
                </a:lnTo>
                <a:lnTo>
                  <a:pt x="3922" y="15028"/>
                </a:lnTo>
                <a:lnTo>
                  <a:pt x="4068" y="14955"/>
                </a:lnTo>
                <a:lnTo>
                  <a:pt x="5432" y="13859"/>
                </a:lnTo>
                <a:lnTo>
                  <a:pt x="5432" y="13859"/>
                </a:lnTo>
                <a:lnTo>
                  <a:pt x="5773" y="14029"/>
                </a:lnTo>
                <a:lnTo>
                  <a:pt x="6114" y="14175"/>
                </a:lnTo>
                <a:lnTo>
                  <a:pt x="6479" y="14322"/>
                </a:lnTo>
                <a:lnTo>
                  <a:pt x="6820" y="14419"/>
                </a:lnTo>
                <a:lnTo>
                  <a:pt x="7015" y="16173"/>
                </a:lnTo>
                <a:lnTo>
                  <a:pt x="7015" y="16173"/>
                </a:lnTo>
                <a:lnTo>
                  <a:pt x="7064" y="16319"/>
                </a:lnTo>
                <a:lnTo>
                  <a:pt x="7112" y="16465"/>
                </a:lnTo>
                <a:lnTo>
                  <a:pt x="7210" y="16611"/>
                </a:lnTo>
                <a:lnTo>
                  <a:pt x="7307" y="16708"/>
                </a:lnTo>
                <a:lnTo>
                  <a:pt x="7453" y="16806"/>
                </a:lnTo>
                <a:lnTo>
                  <a:pt x="7575" y="16879"/>
                </a:lnTo>
                <a:lnTo>
                  <a:pt x="7721" y="16928"/>
                </a:lnTo>
                <a:lnTo>
                  <a:pt x="7892" y="16952"/>
                </a:lnTo>
                <a:lnTo>
                  <a:pt x="9061" y="16952"/>
                </a:lnTo>
                <a:lnTo>
                  <a:pt x="9061" y="16952"/>
                </a:lnTo>
                <a:lnTo>
                  <a:pt x="9231" y="16928"/>
                </a:lnTo>
                <a:lnTo>
                  <a:pt x="9378" y="16879"/>
                </a:lnTo>
                <a:lnTo>
                  <a:pt x="9499" y="16806"/>
                </a:lnTo>
                <a:lnTo>
                  <a:pt x="9645" y="16708"/>
                </a:lnTo>
                <a:lnTo>
                  <a:pt x="9743" y="16611"/>
                </a:lnTo>
                <a:lnTo>
                  <a:pt x="9840" y="16465"/>
                </a:lnTo>
                <a:lnTo>
                  <a:pt x="9889" y="16319"/>
                </a:lnTo>
                <a:lnTo>
                  <a:pt x="9938" y="16173"/>
                </a:lnTo>
                <a:lnTo>
                  <a:pt x="10133" y="14419"/>
                </a:lnTo>
                <a:lnTo>
                  <a:pt x="10133" y="14419"/>
                </a:lnTo>
                <a:lnTo>
                  <a:pt x="10473" y="14322"/>
                </a:lnTo>
                <a:lnTo>
                  <a:pt x="10839" y="14175"/>
                </a:lnTo>
                <a:lnTo>
                  <a:pt x="11180" y="14029"/>
                </a:lnTo>
                <a:lnTo>
                  <a:pt x="11521" y="13859"/>
                </a:lnTo>
                <a:lnTo>
                  <a:pt x="12885" y="14955"/>
                </a:lnTo>
                <a:lnTo>
                  <a:pt x="12885" y="14955"/>
                </a:lnTo>
                <a:lnTo>
                  <a:pt x="13031" y="15028"/>
                </a:lnTo>
                <a:lnTo>
                  <a:pt x="13177" y="15077"/>
                </a:lnTo>
                <a:lnTo>
                  <a:pt x="13323" y="15125"/>
                </a:lnTo>
                <a:lnTo>
                  <a:pt x="13469" y="15125"/>
                </a:lnTo>
                <a:lnTo>
                  <a:pt x="13640" y="15101"/>
                </a:lnTo>
                <a:lnTo>
                  <a:pt x="13786" y="15052"/>
                </a:lnTo>
                <a:lnTo>
                  <a:pt x="13932" y="14979"/>
                </a:lnTo>
                <a:lnTo>
                  <a:pt x="14054" y="14882"/>
                </a:lnTo>
                <a:lnTo>
                  <a:pt x="14882" y="14054"/>
                </a:lnTo>
                <a:lnTo>
                  <a:pt x="14882" y="14054"/>
                </a:lnTo>
                <a:lnTo>
                  <a:pt x="14979" y="13932"/>
                </a:lnTo>
                <a:lnTo>
                  <a:pt x="15052" y="13786"/>
                </a:lnTo>
                <a:lnTo>
                  <a:pt x="15101" y="13640"/>
                </a:lnTo>
                <a:lnTo>
                  <a:pt x="15125" y="13469"/>
                </a:lnTo>
                <a:lnTo>
                  <a:pt x="15125" y="13323"/>
                </a:lnTo>
                <a:lnTo>
                  <a:pt x="15077" y="13177"/>
                </a:lnTo>
                <a:lnTo>
                  <a:pt x="15028" y="13031"/>
                </a:lnTo>
                <a:lnTo>
                  <a:pt x="14955" y="12885"/>
                </a:lnTo>
                <a:lnTo>
                  <a:pt x="13859" y="11521"/>
                </a:lnTo>
                <a:lnTo>
                  <a:pt x="13859" y="11521"/>
                </a:lnTo>
                <a:lnTo>
                  <a:pt x="14029" y="11180"/>
                </a:lnTo>
                <a:lnTo>
                  <a:pt x="14175" y="10839"/>
                </a:lnTo>
                <a:lnTo>
                  <a:pt x="14322" y="10473"/>
                </a:lnTo>
                <a:lnTo>
                  <a:pt x="14419" y="10132"/>
                </a:lnTo>
                <a:lnTo>
                  <a:pt x="16173" y="9938"/>
                </a:lnTo>
                <a:lnTo>
                  <a:pt x="16173" y="9938"/>
                </a:lnTo>
                <a:lnTo>
                  <a:pt x="16319" y="9889"/>
                </a:lnTo>
                <a:lnTo>
                  <a:pt x="16465" y="9840"/>
                </a:lnTo>
                <a:lnTo>
                  <a:pt x="16611" y="9743"/>
                </a:lnTo>
                <a:lnTo>
                  <a:pt x="16708" y="9645"/>
                </a:lnTo>
                <a:lnTo>
                  <a:pt x="16806" y="9499"/>
                </a:lnTo>
                <a:lnTo>
                  <a:pt x="16879" y="9377"/>
                </a:lnTo>
                <a:lnTo>
                  <a:pt x="16928" y="9231"/>
                </a:lnTo>
                <a:lnTo>
                  <a:pt x="16952" y="9061"/>
                </a:lnTo>
                <a:lnTo>
                  <a:pt x="16952" y="7892"/>
                </a:lnTo>
                <a:lnTo>
                  <a:pt x="16952" y="7892"/>
                </a:lnTo>
                <a:lnTo>
                  <a:pt x="16928" y="7721"/>
                </a:lnTo>
                <a:lnTo>
                  <a:pt x="16879" y="7575"/>
                </a:lnTo>
                <a:lnTo>
                  <a:pt x="16806" y="7453"/>
                </a:lnTo>
                <a:lnTo>
                  <a:pt x="16708" y="7307"/>
                </a:lnTo>
                <a:lnTo>
                  <a:pt x="16611" y="7210"/>
                </a:lnTo>
                <a:lnTo>
                  <a:pt x="16465" y="7112"/>
                </a:lnTo>
                <a:lnTo>
                  <a:pt x="16319" y="7064"/>
                </a:lnTo>
                <a:lnTo>
                  <a:pt x="16173" y="7015"/>
                </a:lnTo>
                <a:lnTo>
                  <a:pt x="16173" y="7015"/>
                </a:lnTo>
                <a:close/>
                <a:moveTo>
                  <a:pt x="10425" y="10425"/>
                </a:moveTo>
                <a:lnTo>
                  <a:pt x="10425" y="10425"/>
                </a:lnTo>
                <a:lnTo>
                  <a:pt x="10206" y="10620"/>
                </a:lnTo>
                <a:lnTo>
                  <a:pt x="9986" y="10766"/>
                </a:lnTo>
                <a:lnTo>
                  <a:pt x="9767" y="10912"/>
                </a:lnTo>
                <a:lnTo>
                  <a:pt x="9524" y="11034"/>
                </a:lnTo>
                <a:lnTo>
                  <a:pt x="9256" y="11107"/>
                </a:lnTo>
                <a:lnTo>
                  <a:pt x="9012" y="11180"/>
                </a:lnTo>
                <a:lnTo>
                  <a:pt x="8744" y="11228"/>
                </a:lnTo>
                <a:lnTo>
                  <a:pt x="8476" y="11228"/>
                </a:lnTo>
                <a:lnTo>
                  <a:pt x="8208" y="11228"/>
                </a:lnTo>
                <a:lnTo>
                  <a:pt x="7941" y="11180"/>
                </a:lnTo>
                <a:lnTo>
                  <a:pt x="7697" y="11107"/>
                </a:lnTo>
                <a:lnTo>
                  <a:pt x="7429" y="11034"/>
                </a:lnTo>
                <a:lnTo>
                  <a:pt x="7186" y="10912"/>
                </a:lnTo>
                <a:lnTo>
                  <a:pt x="6966" y="10766"/>
                </a:lnTo>
                <a:lnTo>
                  <a:pt x="6747" y="10620"/>
                </a:lnTo>
                <a:lnTo>
                  <a:pt x="6528" y="10425"/>
                </a:lnTo>
                <a:lnTo>
                  <a:pt x="6528" y="10425"/>
                </a:lnTo>
                <a:lnTo>
                  <a:pt x="6333" y="10206"/>
                </a:lnTo>
                <a:lnTo>
                  <a:pt x="6187" y="9986"/>
                </a:lnTo>
                <a:lnTo>
                  <a:pt x="6041" y="9767"/>
                </a:lnTo>
                <a:lnTo>
                  <a:pt x="5919" y="9524"/>
                </a:lnTo>
                <a:lnTo>
                  <a:pt x="5846" y="9256"/>
                </a:lnTo>
                <a:lnTo>
                  <a:pt x="5773" y="9012"/>
                </a:lnTo>
                <a:lnTo>
                  <a:pt x="5724" y="8744"/>
                </a:lnTo>
                <a:lnTo>
                  <a:pt x="5724" y="8476"/>
                </a:lnTo>
                <a:lnTo>
                  <a:pt x="5724" y="8208"/>
                </a:lnTo>
                <a:lnTo>
                  <a:pt x="5773" y="7941"/>
                </a:lnTo>
                <a:lnTo>
                  <a:pt x="5846" y="7697"/>
                </a:lnTo>
                <a:lnTo>
                  <a:pt x="5919" y="7429"/>
                </a:lnTo>
                <a:lnTo>
                  <a:pt x="6041" y="7186"/>
                </a:lnTo>
                <a:lnTo>
                  <a:pt x="6187" y="6966"/>
                </a:lnTo>
                <a:lnTo>
                  <a:pt x="6333" y="6747"/>
                </a:lnTo>
                <a:lnTo>
                  <a:pt x="6528" y="6528"/>
                </a:lnTo>
                <a:lnTo>
                  <a:pt x="6528" y="6528"/>
                </a:lnTo>
                <a:lnTo>
                  <a:pt x="6747" y="6333"/>
                </a:lnTo>
                <a:lnTo>
                  <a:pt x="6966" y="6187"/>
                </a:lnTo>
                <a:lnTo>
                  <a:pt x="7186" y="6041"/>
                </a:lnTo>
                <a:lnTo>
                  <a:pt x="7429" y="5919"/>
                </a:lnTo>
                <a:lnTo>
                  <a:pt x="7697" y="5846"/>
                </a:lnTo>
                <a:lnTo>
                  <a:pt x="7941" y="5773"/>
                </a:lnTo>
                <a:lnTo>
                  <a:pt x="8208" y="5724"/>
                </a:lnTo>
                <a:lnTo>
                  <a:pt x="8476" y="5724"/>
                </a:lnTo>
                <a:lnTo>
                  <a:pt x="8744" y="5724"/>
                </a:lnTo>
                <a:lnTo>
                  <a:pt x="9012" y="5773"/>
                </a:lnTo>
                <a:lnTo>
                  <a:pt x="9256" y="5846"/>
                </a:lnTo>
                <a:lnTo>
                  <a:pt x="9524" y="5919"/>
                </a:lnTo>
                <a:lnTo>
                  <a:pt x="9767" y="6041"/>
                </a:lnTo>
                <a:lnTo>
                  <a:pt x="9986" y="6187"/>
                </a:lnTo>
                <a:lnTo>
                  <a:pt x="10206" y="6333"/>
                </a:lnTo>
                <a:lnTo>
                  <a:pt x="10425" y="6528"/>
                </a:lnTo>
                <a:lnTo>
                  <a:pt x="10425" y="6528"/>
                </a:lnTo>
                <a:lnTo>
                  <a:pt x="10620" y="6747"/>
                </a:lnTo>
                <a:lnTo>
                  <a:pt x="10766" y="6966"/>
                </a:lnTo>
                <a:lnTo>
                  <a:pt x="10912" y="7186"/>
                </a:lnTo>
                <a:lnTo>
                  <a:pt x="11034" y="7429"/>
                </a:lnTo>
                <a:lnTo>
                  <a:pt x="11107" y="7697"/>
                </a:lnTo>
                <a:lnTo>
                  <a:pt x="11180" y="7941"/>
                </a:lnTo>
                <a:lnTo>
                  <a:pt x="11228" y="8208"/>
                </a:lnTo>
                <a:lnTo>
                  <a:pt x="11228" y="8476"/>
                </a:lnTo>
                <a:lnTo>
                  <a:pt x="11228" y="8744"/>
                </a:lnTo>
                <a:lnTo>
                  <a:pt x="11180" y="9012"/>
                </a:lnTo>
                <a:lnTo>
                  <a:pt x="11107" y="9256"/>
                </a:lnTo>
                <a:lnTo>
                  <a:pt x="11034" y="9524"/>
                </a:lnTo>
                <a:lnTo>
                  <a:pt x="10912" y="9767"/>
                </a:lnTo>
                <a:lnTo>
                  <a:pt x="10766" y="9986"/>
                </a:lnTo>
                <a:lnTo>
                  <a:pt x="10620" y="10206"/>
                </a:lnTo>
                <a:lnTo>
                  <a:pt x="10425" y="10425"/>
                </a:lnTo>
                <a:lnTo>
                  <a:pt x="10425" y="10425"/>
                </a:lnTo>
                <a:close/>
              </a:path>
            </a:pathLst>
          </a:custGeom>
          <a:noFill/>
          <a:ln w="12699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1425596997" name="Shape 1"/>
          <p:cNvSpPr/>
          <p:nvPr/>
        </p:nvSpPr>
        <p:spPr bwMode="auto">
          <a:xfrm flipH="0" flipV="0">
            <a:off x="499077" y="808061"/>
            <a:ext cx="8229600" cy="457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grpSp>
        <p:nvGrpSpPr>
          <p:cNvPr id="1069750433" name="Google Shape;917;p48"/>
          <p:cNvGrpSpPr/>
          <p:nvPr/>
        </p:nvGrpSpPr>
        <p:grpSpPr bwMode="auto">
          <a:xfrm>
            <a:off x="5867247" y="1289491"/>
            <a:ext cx="420636" cy="324900"/>
            <a:chOff x="0" y="0"/>
            <a:chExt cx="420636" cy="324900"/>
          </a:xfrm>
        </p:grpSpPr>
        <p:sp>
          <p:nvSpPr>
            <p:cNvPr id="898335663" name="Google Shape;918;p48"/>
            <p:cNvSpPr/>
            <p:nvPr/>
          </p:nvSpPr>
          <p:spPr bwMode="auto">
            <a:xfrm>
              <a:off x="0" y="0"/>
              <a:ext cx="420636" cy="324900"/>
            </a:xfrm>
            <a:custGeom>
              <a:avLst/>
              <a:gdLst/>
              <a:ahLst/>
              <a:cxnLst/>
              <a:rect l="l" t="t" r="r" b="b"/>
              <a:pathLst>
                <a:path w="17585" h="12763" fill="none" stroke="1" extrusionOk="0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2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w="1904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692383787" name="Google Shape;919;p48"/>
            <p:cNvSpPr/>
            <p:nvPr/>
          </p:nvSpPr>
          <p:spPr bwMode="auto">
            <a:xfrm>
              <a:off x="40781" y="47754"/>
              <a:ext cx="339093" cy="217624"/>
            </a:xfrm>
            <a:custGeom>
              <a:avLst/>
              <a:gdLst/>
              <a:ahLst/>
              <a:cxnLst/>
              <a:rect l="l" t="t" r="r" b="b"/>
              <a:pathLst>
                <a:path w="14176" h="8549" fill="none" stroke="1" extrusionOk="0">
                  <a:moveTo>
                    <a:pt x="1" y="8549"/>
                  </a:moveTo>
                  <a:lnTo>
                    <a:pt x="3654" y="4408"/>
                  </a:lnTo>
                  <a:lnTo>
                    <a:pt x="5821" y="5699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10571" y="3337"/>
                  </a:lnTo>
                  <a:lnTo>
                    <a:pt x="14175" y="0"/>
                  </a:lnTo>
                </a:path>
              </a:pathLst>
            </a:custGeom>
            <a:noFill/>
            <a:ln w="1904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</p:grpSp>
      <p:grpSp>
        <p:nvGrpSpPr>
          <p:cNvPr id="198844006" name="Google Shape;1133;p48"/>
          <p:cNvGrpSpPr/>
          <p:nvPr/>
        </p:nvGrpSpPr>
        <p:grpSpPr bwMode="auto">
          <a:xfrm flipH="0" flipV="0">
            <a:off x="5306051" y="1856522"/>
            <a:ext cx="436536" cy="392350"/>
            <a:chOff x="0" y="0"/>
            <a:chExt cx="436536" cy="392350"/>
          </a:xfrm>
        </p:grpSpPr>
        <p:sp>
          <p:nvSpPr>
            <p:cNvPr id="1906297726" name="Google Shape;1134;p48"/>
            <p:cNvSpPr/>
            <p:nvPr/>
          </p:nvSpPr>
          <p:spPr bwMode="auto">
            <a:xfrm>
              <a:off x="44128" y="203837"/>
              <a:ext cx="347780" cy="188513"/>
            </a:xfrm>
            <a:custGeom>
              <a:avLst/>
              <a:gdLst/>
              <a:ahLst/>
              <a:cxnLst/>
              <a:rect l="l" t="t" r="r" b="b"/>
              <a:pathLst>
                <a:path w="17464" h="9573" fill="none" stroke="1" extrusionOk="0">
                  <a:moveTo>
                    <a:pt x="1" y="1"/>
                  </a:moveTo>
                  <a:lnTo>
                    <a:pt x="1" y="4677"/>
                  </a:lnTo>
                  <a:lnTo>
                    <a:pt x="8720" y="9572"/>
                  </a:lnTo>
                  <a:lnTo>
                    <a:pt x="17463" y="4677"/>
                  </a:lnTo>
                  <a:lnTo>
                    <a:pt x="17463" y="1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683844302" name="Google Shape;1135;p48"/>
            <p:cNvSpPr/>
            <p:nvPr/>
          </p:nvSpPr>
          <p:spPr bwMode="auto">
            <a:xfrm>
              <a:off x="44627" y="0"/>
              <a:ext cx="347281" cy="98814"/>
            </a:xfrm>
            <a:custGeom>
              <a:avLst/>
              <a:gdLst/>
              <a:ahLst/>
              <a:cxnLst/>
              <a:rect l="l" t="t" r="r" b="b"/>
              <a:pathLst>
                <a:path w="17439" h="5018" fill="none" stroke="1" extrusionOk="0">
                  <a:moveTo>
                    <a:pt x="17438" y="5018"/>
                  </a:moveTo>
                  <a:lnTo>
                    <a:pt x="8671" y="1"/>
                  </a:lnTo>
                  <a:lnTo>
                    <a:pt x="0" y="5018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958517863" name="Google Shape;1136;p48"/>
            <p:cNvSpPr/>
            <p:nvPr/>
          </p:nvSpPr>
          <p:spPr bwMode="auto">
            <a:xfrm>
              <a:off x="0" y="98796"/>
              <a:ext cx="218277" cy="177959"/>
            </a:xfrm>
            <a:custGeom>
              <a:avLst/>
              <a:gdLst/>
              <a:ahLst/>
              <a:cxnLst/>
              <a:rect l="l" t="t" r="r" b="b"/>
              <a:pathLst>
                <a:path w="10961" h="9037" fill="none" stroke="1" extrusionOk="0">
                  <a:moveTo>
                    <a:pt x="8720" y="9037"/>
                  </a:moveTo>
                  <a:lnTo>
                    <a:pt x="1" y="4068"/>
                  </a:lnTo>
                  <a:lnTo>
                    <a:pt x="2241" y="1"/>
                  </a:lnTo>
                  <a:lnTo>
                    <a:pt x="10960" y="4969"/>
                  </a:lnTo>
                  <a:lnTo>
                    <a:pt x="8720" y="9037"/>
                  </a:lnTo>
                  <a:close/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010296565" name="Google Shape;1137;p48"/>
            <p:cNvSpPr/>
            <p:nvPr/>
          </p:nvSpPr>
          <p:spPr bwMode="auto">
            <a:xfrm>
              <a:off x="218258" y="98796"/>
              <a:ext cx="218277" cy="177959"/>
            </a:xfrm>
            <a:custGeom>
              <a:avLst/>
              <a:gdLst/>
              <a:ahLst/>
              <a:cxnLst/>
              <a:rect l="l" t="t" r="r" b="b"/>
              <a:pathLst>
                <a:path w="10961" h="9037" fill="none" stroke="1" extrusionOk="0">
                  <a:moveTo>
                    <a:pt x="2241" y="9037"/>
                  </a:moveTo>
                  <a:lnTo>
                    <a:pt x="10960" y="4068"/>
                  </a:lnTo>
                  <a:lnTo>
                    <a:pt x="8719" y="1"/>
                  </a:lnTo>
                  <a:lnTo>
                    <a:pt x="0" y="4969"/>
                  </a:lnTo>
                  <a:lnTo>
                    <a:pt x="2241" y="9037"/>
                  </a:lnTo>
                  <a:close/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552623064" name="Google Shape;1138;p48"/>
            <p:cNvSpPr/>
            <p:nvPr/>
          </p:nvSpPr>
          <p:spPr bwMode="auto">
            <a:xfrm>
              <a:off x="218258" y="196648"/>
              <a:ext cx="18" cy="195701"/>
            </a:xfrm>
            <a:custGeom>
              <a:avLst/>
              <a:gdLst/>
              <a:ahLst/>
              <a:cxnLst/>
              <a:rect l="l" t="t" r="r" b="b"/>
              <a:pathLst>
                <a:path w="1" h="9938" fill="none" stroke="1" extrusionOk="0">
                  <a:moveTo>
                    <a:pt x="0" y="0"/>
                  </a:moveTo>
                  <a:lnTo>
                    <a:pt x="0" y="9937"/>
                  </a:lnTo>
                </a:path>
              </a:pathLst>
            </a:custGeom>
            <a:noFill/>
            <a:ln w="12699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solidFill>
                  <a:srgbClr val="FFFFFF"/>
                </a:solidFill>
                <a:latin typeface="Times New Roman"/>
                <a:cs typeface="Times New Roman"/>
              </a:endParaRPr>
            </a:p>
          </p:txBody>
        </p:sp>
      </p:grpSp>
      <p:sp>
        <p:nvSpPr>
          <p:cNvPr id="1684961025" name="Google Shape;794;p48"/>
          <p:cNvSpPr/>
          <p:nvPr/>
        </p:nvSpPr>
        <p:spPr bwMode="auto">
          <a:xfrm flipH="0" flipV="0">
            <a:off x="6546420" y="3675565"/>
            <a:ext cx="329042" cy="352148"/>
          </a:xfrm>
          <a:custGeom>
            <a:avLst/>
            <a:gdLst/>
            <a:ahLst/>
            <a:cxnLst/>
            <a:rect l="l" t="t" r="r" b="b"/>
            <a:pathLst>
              <a:path w="16027" h="16027" fill="none" stroke="1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699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520156" name="Google Shape;84;p14"/>
          <p:cNvSpPr/>
          <p:nvPr/>
        </p:nvSpPr>
        <p:spPr bwMode="auto">
          <a:xfrm>
            <a:off x="5880378" y="2562022"/>
            <a:ext cx="1381796" cy="1365597"/>
          </a:xfrm>
          <a:prstGeom prst="ellipse">
            <a:avLst/>
          </a:prstGeom>
          <a:noFill/>
          <a:ln w="9525" cap="flat" cmpd="sng">
            <a:solidFill>
              <a:srgbClr val="CFD8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Times New Roman"/>
              <a:cs typeface="Times New Roman"/>
            </a:endParaRPr>
          </a:p>
        </p:txBody>
      </p:sp>
      <p:cxnSp>
        <p:nvCxnSpPr>
          <p:cNvPr id="1719832387" name="Google Shape;89;p14"/>
          <p:cNvCxnSpPr/>
          <p:nvPr/>
        </p:nvCxnSpPr>
        <p:spPr bwMode="auto">
          <a:xfrm>
            <a:off x="6694982" y="3933622"/>
            <a:ext cx="214497" cy="8568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7305727" name="Google Shape;90;p14"/>
          <p:cNvCxnSpPr/>
          <p:nvPr/>
        </p:nvCxnSpPr>
        <p:spPr bwMode="auto">
          <a:xfrm>
            <a:off x="7059839" y="3727571"/>
            <a:ext cx="394200" cy="5256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9697842" name="Google Shape;91;p14"/>
          <p:cNvCxnSpPr/>
          <p:nvPr/>
        </p:nvCxnSpPr>
        <p:spPr bwMode="auto">
          <a:xfrm>
            <a:off x="7224086" y="3501963"/>
            <a:ext cx="752397" cy="464097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3959021" name="Google Shape;92;p14"/>
          <p:cNvSpPr txBox="1">
            <a:spLocks noGrp="1"/>
          </p:cNvSpPr>
          <p:nvPr>
            <p:ph type="sldNum" idx="12"/>
          </p:nvPr>
        </p:nvSpPr>
        <p:spPr bwMode="auto">
          <a:xfrm>
            <a:off x="8404381" y="4749849"/>
            <a:ext cx="548697" cy="393597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6FE979A6-DB08-2413-8D23-FF5EAD2C4788}" type="slidenum">
              <a:rPr lang="en">
                <a:latin typeface="Times New Roman"/>
                <a:cs typeface="Times New Roman"/>
              </a:rPr>
              <a:t/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852661056" name="ZoneTexte 43716819"/>
          <p:cNvSpPr txBox="1"/>
          <p:nvPr/>
        </p:nvSpPr>
        <p:spPr bwMode="auto">
          <a:xfrm>
            <a:off x="582310" y="980064"/>
            <a:ext cx="7754914" cy="402249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 sz="2400" b="0">
              <a:latin typeface="Times New Roman"/>
              <a:cs typeface="Times New Roman"/>
            </a:endParaRPr>
          </a:p>
          <a:p>
            <a:pPr marL="239819" marR="0" indent="-239819" algn="l" defTabSz="91440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q"/>
              <a:defRPr/>
            </a:pPr>
            <a:r>
              <a:rPr lang="en-US" sz="2400" b="0" i="0" u="none" strike="noStrike" cap="none" spc="-26">
                <a:solidFill>
                  <a:srgbClr val="1C1C1D"/>
                </a:solidFill>
                <a:latin typeface="Times New Roman"/>
                <a:cs typeface="Times New Roman"/>
              </a:rPr>
              <a:t>Vous</a:t>
            </a:r>
            <a:r>
              <a:rPr lang="en-US" sz="2400" b="0" i="0" u="none" strike="noStrike" cap="none" spc="-26">
                <a:solidFill>
                  <a:srgbClr val="1C1C1D"/>
                </a:solidFill>
                <a:latin typeface="Times New Roman"/>
                <a:cs typeface="Times New Roman"/>
              </a:rPr>
              <a:t> </a:t>
            </a:r>
            <a:r>
              <a:rPr lang="en-US" sz="2400" b="0" i="0" u="none" strike="noStrike" cap="none" spc="-26">
                <a:solidFill>
                  <a:srgbClr val="1C1C1D"/>
                </a:solidFill>
                <a:latin typeface="Times New Roman"/>
                <a:cs typeface="Times New Roman"/>
              </a:rPr>
              <a:t>avez</a:t>
            </a:r>
            <a:r>
              <a:rPr lang="en-US" sz="2400" b="0" i="0" u="none" strike="noStrike" cap="none" spc="-26">
                <a:solidFill>
                  <a:srgbClr val="1C1C1D"/>
                </a:solidFill>
                <a:latin typeface="Times New Roman"/>
                <a:cs typeface="Times New Roman"/>
              </a:rPr>
              <a:t> </a:t>
            </a:r>
            <a:r>
              <a:rPr lang="en-US" sz="2400" b="0" i="0" u="none" strike="noStrike" cap="none" spc="-26">
                <a:solidFill>
                  <a:srgbClr val="1C1C1D"/>
                </a:solidFill>
                <a:latin typeface="Times New Roman"/>
                <a:cs typeface="Times New Roman"/>
              </a:rPr>
              <a:t>besoin</a:t>
            </a:r>
            <a:r>
              <a:rPr lang="en-US" sz="2400" b="0" i="0" u="none" strike="noStrike" cap="none" spc="-26">
                <a:solidFill>
                  <a:srgbClr val="1C1C1D"/>
                </a:solidFill>
                <a:latin typeface="Times New Roman"/>
                <a:cs typeface="Times New Roman"/>
              </a:rPr>
              <a:t> d’un </a:t>
            </a:r>
            <a:r>
              <a:rPr lang="en-US" sz="2400" b="0" i="0" u="none" strike="noStrike" cap="none" spc="-26">
                <a:solidFill>
                  <a:srgbClr val="1C1C1D"/>
                </a:solidFill>
                <a:latin typeface="Times New Roman"/>
                <a:cs typeface="Times New Roman"/>
              </a:rPr>
              <a:t>écosystème</a:t>
            </a:r>
            <a:r>
              <a:rPr lang="fr-FR" sz="2400" b="0" i="0" u="none" strike="noStrike" cap="none" spc="-26">
                <a:solidFill>
                  <a:srgbClr val="1C1C1D"/>
                </a:solidFill>
                <a:latin typeface="Times New Roman"/>
                <a:cs typeface="Times New Roman"/>
              </a:rPr>
              <a:t> </a:t>
            </a:r>
            <a:r>
              <a:rPr lang="en-US" sz="2400" b="0" i="0" u="none" strike="noStrike" cap="none" spc="-26">
                <a:solidFill>
                  <a:srgbClr val="1C1C1D"/>
                </a:solidFill>
                <a:latin typeface="Times New Roman"/>
                <a:cs typeface="Times New Roman"/>
              </a:rPr>
              <a:t>mature et riche</a:t>
            </a:r>
            <a:endParaRPr lang="fr-FR" sz="2400" b="0" strike="noStrike" cap="none" spc="0">
              <a:latin typeface="Times New Roman"/>
              <a:cs typeface="Times New Roman"/>
            </a:endParaRPr>
          </a:p>
          <a:p>
            <a:pPr marL="239819" marR="0" indent="-239819" algn="l" defTabSz="91440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q"/>
              <a:defRPr/>
            </a:pPr>
            <a:r>
              <a:rPr lang="fr-FR" sz="2400" b="0" strike="noStrike" cap="none" spc="0">
                <a:latin typeface="Times New Roman"/>
                <a:cs typeface="Times New Roman"/>
              </a:rPr>
              <a:t>Vous avez besoin de gouvernance et </a:t>
            </a:r>
            <a:r>
              <a:rPr lang="fr-FR" sz="2400" b="0" strike="noStrike" cap="none" spc="0">
                <a:latin typeface="Times New Roman"/>
                <a:cs typeface="Times New Roman"/>
              </a:rPr>
              <a:t>auditablité</a:t>
            </a:r>
            <a:endParaRPr lang="fr-FR" sz="2400" b="0" strike="noStrike" cap="none" spc="0">
              <a:latin typeface="Times New Roman"/>
              <a:cs typeface="Times New Roman"/>
            </a:endParaRPr>
          </a:p>
          <a:p>
            <a:pPr marL="239819" marR="0" indent="-239819" algn="l" defTabSz="91440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q"/>
              <a:defRPr/>
            </a:pPr>
            <a:r>
              <a:rPr sz="2400" b="0" i="0" u="none" spc="-26">
                <a:solidFill>
                  <a:srgbClr val="1C1C1D"/>
                </a:solidFill>
                <a:latin typeface="Times New Roman"/>
                <a:cs typeface="Times New Roman"/>
              </a:rPr>
              <a:t> </a:t>
            </a:r>
            <a:r>
              <a:rPr sz="2400" b="0" i="0" u="none" spc="-26">
                <a:solidFill>
                  <a:srgbClr val="1C1C1D"/>
                </a:solidFill>
                <a:latin typeface="Times New Roman"/>
                <a:cs typeface="Times New Roman"/>
              </a:rPr>
              <a:t>Vous</a:t>
            </a:r>
            <a:r>
              <a:rPr sz="2400" b="0" i="0" u="none" spc="-26">
                <a:solidFill>
                  <a:srgbClr val="1C1C1D"/>
                </a:solidFill>
                <a:latin typeface="Times New Roman"/>
                <a:cs typeface="Times New Roman"/>
              </a:rPr>
              <a:t> </a:t>
            </a:r>
            <a:r>
              <a:rPr sz="2400" b="0" i="0" u="none" spc="-26">
                <a:solidFill>
                  <a:srgbClr val="1C1C1D"/>
                </a:solidFill>
                <a:latin typeface="Times New Roman"/>
                <a:cs typeface="Times New Roman"/>
              </a:rPr>
              <a:t>gérez</a:t>
            </a:r>
            <a:r>
              <a:rPr sz="2400" b="0" i="0" u="none" spc="-26">
                <a:solidFill>
                  <a:srgbClr val="1C1C1D"/>
                </a:solidFill>
                <a:latin typeface="Times New Roman"/>
                <a:cs typeface="Times New Roman"/>
              </a:rPr>
              <a:t> des workflows complexes </a:t>
            </a:r>
            <a:endParaRPr/>
          </a:p>
          <a:p>
            <a:pPr algn="l" defTabSz="91440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400" b="0" i="0" u="none" spc="-26">
                <a:solidFill>
                  <a:srgbClr val="1C1C1D"/>
                </a:solidFill>
                <a:latin typeface="Times New Roman"/>
                <a:cs typeface="Times New Roman"/>
              </a:rPr>
              <a:t>    </a:t>
            </a:r>
            <a:r>
              <a:rPr sz="2400" b="0" i="0" u="none" spc="-26">
                <a:solidFill>
                  <a:srgbClr val="1C1C1D"/>
                </a:solidFill>
                <a:latin typeface="Times New Roman"/>
                <a:cs typeface="Times New Roman"/>
              </a:rPr>
              <a:t>et critiques</a:t>
            </a:r>
            <a:endParaRPr sz="2400" b="0" strike="noStrike" cap="none" spc="0">
              <a:latin typeface="Times New Roman"/>
              <a:cs typeface="Times New Roman"/>
            </a:endParaRPr>
          </a:p>
          <a:p>
            <a:pPr marL="239819" marR="0" indent="-239819" algn="l" defTabSz="91440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q"/>
              <a:defRPr/>
            </a:pPr>
            <a:r>
              <a:rPr sz="2400" b="0" i="0" u="none" spc="-26">
                <a:solidFill>
                  <a:srgbClr val="1C1C1D"/>
                </a:solidFill>
                <a:latin typeface="Times New Roman"/>
                <a:cs typeface="Times New Roman"/>
              </a:rPr>
              <a:t>Vous</a:t>
            </a:r>
            <a:r>
              <a:rPr sz="2400" b="0" i="0" u="none" spc="-26">
                <a:solidFill>
                  <a:srgbClr val="1C1C1D"/>
                </a:solidFill>
                <a:latin typeface="Times New Roman"/>
                <a:cs typeface="Times New Roman"/>
              </a:rPr>
              <a:t> </a:t>
            </a:r>
            <a:r>
              <a:rPr sz="2400" b="0" i="0" u="none" spc="-26">
                <a:solidFill>
                  <a:srgbClr val="1C1C1D"/>
                </a:solidFill>
                <a:latin typeface="Times New Roman"/>
                <a:cs typeface="Times New Roman"/>
              </a:rPr>
              <a:t>avez</a:t>
            </a:r>
            <a:r>
              <a:rPr sz="2400" b="0" i="0" u="none" spc="-26">
                <a:solidFill>
                  <a:srgbClr val="1C1C1D"/>
                </a:solidFill>
                <a:latin typeface="Times New Roman"/>
                <a:cs typeface="Times New Roman"/>
              </a:rPr>
              <a:t> </a:t>
            </a:r>
            <a:r>
              <a:rPr sz="2400" b="0" i="0" u="none" spc="-26">
                <a:solidFill>
                  <a:srgbClr val="1C1C1D"/>
                </a:solidFill>
                <a:latin typeface="Times New Roman"/>
                <a:cs typeface="Times New Roman"/>
              </a:rPr>
              <a:t>besoin</a:t>
            </a:r>
            <a:r>
              <a:rPr sz="2400" b="0" i="0" u="none" spc="-26">
                <a:solidFill>
                  <a:srgbClr val="1C1C1D"/>
                </a:solidFill>
                <a:latin typeface="Times New Roman"/>
                <a:cs typeface="Times New Roman"/>
              </a:rPr>
              <a:t> de </a:t>
            </a:r>
            <a:r>
              <a:rPr sz="2400" b="0" i="0" u="none" spc="-26">
                <a:solidFill>
                  <a:srgbClr val="1C1C1D"/>
                </a:solidFill>
                <a:latin typeface="Times New Roman"/>
                <a:cs typeface="Times New Roman"/>
              </a:rPr>
              <a:t>contrôle</a:t>
            </a:r>
            <a:r>
              <a:rPr sz="2400" b="0" i="0" u="none" spc="-26">
                <a:solidFill>
                  <a:srgbClr val="1C1C1D"/>
                </a:solidFill>
                <a:latin typeface="Times New Roman"/>
                <a:cs typeface="Times New Roman"/>
              </a:rPr>
              <a:t> total </a:t>
            </a:r>
            <a:endParaRPr/>
          </a:p>
          <a:p>
            <a:pPr algn="l" defTabSz="91440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400" b="0" i="0" u="none" spc="-26">
                <a:solidFill>
                  <a:srgbClr val="1C1C1D"/>
                </a:solidFill>
                <a:latin typeface="Times New Roman"/>
                <a:cs typeface="Times New Roman"/>
              </a:rPr>
              <a:t>    </a:t>
            </a:r>
            <a:r>
              <a:rPr sz="2400" b="0" i="0" u="none" spc="-26">
                <a:solidFill>
                  <a:srgbClr val="1C1C1D"/>
                </a:solidFill>
                <a:latin typeface="Times New Roman"/>
                <a:cs typeface="Times New Roman"/>
              </a:rPr>
              <a:t>sur </a:t>
            </a:r>
            <a:r>
              <a:rPr sz="2400" b="0" i="0" u="none" spc="-26">
                <a:solidFill>
                  <a:srgbClr val="1C1C1D"/>
                </a:solidFill>
                <a:latin typeface="Times New Roman"/>
                <a:cs typeface="Times New Roman"/>
              </a:rPr>
              <a:t>l’exécution</a:t>
            </a:r>
            <a:endParaRPr lang="fr-FR" strike="noStrike" cap="none" spc="0">
              <a:latin typeface="Times New Roman"/>
              <a:cs typeface="Times New Roman"/>
            </a:endParaRPr>
          </a:p>
          <a:p>
            <a:pPr marL="239819" marR="0" indent="-239819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q"/>
              <a:defRPr/>
            </a:pPr>
            <a:endParaRPr lang="fr-FR" strike="noStrike" cap="none" spc="0">
              <a:latin typeface="Times New Roman"/>
              <a:cs typeface="Times New Roman"/>
            </a:endParaRPr>
          </a:p>
          <a:p>
            <a:pPr marL="239819" marR="0" indent="-239819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q"/>
              <a:defRPr/>
            </a:pPr>
            <a:endParaRPr strike="noStrike" cap="none" spc="0">
              <a:latin typeface="Times New Roman"/>
              <a:cs typeface="Times New Roman"/>
            </a:endParaRPr>
          </a:p>
        </p:txBody>
      </p:sp>
      <p:pic>
        <p:nvPicPr>
          <p:cNvPr id="189687447" name="Image 136516978"/>
          <p:cNvPicPr>
            <a:picLocks noChangeAspect="1"/>
          </p:cNvPicPr>
          <p:nvPr/>
        </p:nvPicPr>
        <p:blipFill>
          <a:blip r:embed="rId4"/>
          <a:srcRect l="17361" t="6620" r="21738" b="14369"/>
          <a:stretch/>
        </p:blipFill>
        <p:spPr bwMode="auto">
          <a:xfrm>
            <a:off x="5970888" y="2715951"/>
            <a:ext cx="1200777" cy="1057734"/>
          </a:xfrm>
          <a:prstGeom prst="flowChartConnector">
            <a:avLst/>
          </a:prstGeom>
        </p:spPr>
      </p:pic>
      <p:sp>
        <p:nvSpPr>
          <p:cNvPr id="1407702379" name="ZoneTexte 811899312"/>
          <p:cNvSpPr txBox="1"/>
          <p:nvPr/>
        </p:nvSpPr>
        <p:spPr bwMode="auto">
          <a:xfrm>
            <a:off x="499077" y="296667"/>
            <a:ext cx="824687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fr-FR" sz="2400" b="1">
                <a:solidFill>
                  <a:srgbClr val="002060"/>
                </a:solidFill>
                <a:latin typeface="Arial"/>
                <a:cs typeface="Times New Roman"/>
              </a:rPr>
              <a:t>Quand utiliser Airflow ?</a:t>
            </a:r>
            <a:endParaRPr sz="2400">
              <a:solidFill>
                <a:srgbClr val="002060"/>
              </a:solidFill>
              <a:latin typeface="Arial"/>
              <a:cs typeface="Times New Roman"/>
            </a:endParaRPr>
          </a:p>
        </p:txBody>
      </p:sp>
      <p:sp>
        <p:nvSpPr>
          <p:cNvPr id="843795340" name="Shape 1"/>
          <p:cNvSpPr/>
          <p:nvPr/>
        </p:nvSpPr>
        <p:spPr bwMode="auto">
          <a:xfrm flipH="0" flipV="0">
            <a:off x="499077" y="808060"/>
            <a:ext cx="8229600" cy="457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091771" name="Google Shape;282;p30"/>
          <p:cNvSpPr txBox="1">
            <a:spLocks noGrp="1"/>
          </p:cNvSpPr>
          <p:nvPr>
            <p:ph type="sldNum" idx="12"/>
          </p:nvPr>
        </p:nvSpPr>
        <p:spPr bwMode="auto">
          <a:xfrm>
            <a:off x="8404381" y="4749849"/>
            <a:ext cx="548697" cy="393597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429B0A1E-09FD-2FCC-1B86-D97127C2CE48}" type="slidenum">
              <a:rPr lang="en">
                <a:latin typeface="Times New Roman"/>
                <a:cs typeface="Times New Roman"/>
              </a:rPr>
              <a:t/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781261558" name="ZoneTexte 811899312"/>
          <p:cNvSpPr txBox="1"/>
          <p:nvPr/>
        </p:nvSpPr>
        <p:spPr bwMode="auto">
          <a:xfrm>
            <a:off x="499077" y="296667"/>
            <a:ext cx="8263439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fr-FR" sz="2400" b="1">
                <a:solidFill>
                  <a:srgbClr val="002060"/>
                </a:solidFill>
                <a:latin typeface="Arial"/>
                <a:cs typeface="Times New Roman"/>
              </a:rPr>
              <a:t>Comparaison avec d’autres outils d’orchestration </a:t>
            </a:r>
            <a:endParaRPr sz="2400">
              <a:solidFill>
                <a:srgbClr val="002060"/>
              </a:solidFill>
              <a:latin typeface="Arial"/>
              <a:cs typeface="Times New Roman"/>
            </a:endParaRPr>
          </a:p>
        </p:txBody>
      </p:sp>
      <p:sp>
        <p:nvSpPr>
          <p:cNvPr id="1029063447" name="Shape 1"/>
          <p:cNvSpPr/>
          <p:nvPr/>
        </p:nvSpPr>
        <p:spPr bwMode="auto">
          <a:xfrm flipH="0" flipV="0">
            <a:off x="499077" y="808061"/>
            <a:ext cx="8229600" cy="457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013618012" name="Rectangle : coins arrondis 6"/>
          <p:cNvSpPr/>
          <p:nvPr/>
        </p:nvSpPr>
        <p:spPr bwMode="auto">
          <a:xfrm>
            <a:off x="290109" y="1241684"/>
            <a:ext cx="1860178" cy="819172"/>
          </a:xfrm>
          <a:prstGeom prst="roundRect">
            <a:avLst>
              <a:gd name="adj" fmla="val 16667"/>
            </a:avLst>
          </a:prstGeom>
          <a:solidFill>
            <a:schemeClr val="accent2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fr-FR" sz="2000" b="1">
                <a:latin typeface="Times New Roman"/>
                <a:cs typeface="Times New Roman"/>
              </a:rPr>
              <a:t>Airflow</a:t>
            </a:r>
            <a:endParaRPr lang="fr-FR">
              <a:latin typeface="Times New Roman"/>
              <a:cs typeface="Times New Roman"/>
            </a:endParaRPr>
          </a:p>
          <a:p>
            <a:pPr>
              <a:defRPr/>
            </a:pPr>
            <a:br>
              <a:rPr lang="fr-FR">
                <a:latin typeface="Times New Roman"/>
                <a:cs typeface="Times New Roman"/>
              </a:rPr>
            </a:br>
            <a:endParaRPr lang="fr-FR">
              <a:latin typeface="Times New Roman"/>
              <a:cs typeface="Times New Roman"/>
            </a:endParaRPr>
          </a:p>
        </p:txBody>
      </p:sp>
      <p:sp>
        <p:nvSpPr>
          <p:cNvPr id="965621722" name="Rectangle : coins arrondis 6"/>
          <p:cNvSpPr/>
          <p:nvPr/>
        </p:nvSpPr>
        <p:spPr bwMode="auto">
          <a:xfrm>
            <a:off x="290109" y="2439112"/>
            <a:ext cx="1860178" cy="819172"/>
          </a:xfrm>
          <a:prstGeom prst="roundRect">
            <a:avLst>
              <a:gd name="adj" fmla="val 16667"/>
            </a:avLst>
          </a:prstGeom>
          <a:solidFill>
            <a:schemeClr val="accent2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fr-FR" sz="2000" b="1">
                <a:latin typeface="Times New Roman"/>
                <a:cs typeface="Times New Roman"/>
              </a:rPr>
              <a:t>Dagster</a:t>
            </a:r>
            <a:endParaRPr lang="fr-FR">
              <a:latin typeface="Times New Roman"/>
              <a:cs typeface="Times New Roman"/>
            </a:endParaRPr>
          </a:p>
          <a:p>
            <a:pPr>
              <a:defRPr/>
            </a:pPr>
            <a:br>
              <a:rPr lang="fr-FR">
                <a:latin typeface="Times New Roman"/>
                <a:cs typeface="Times New Roman"/>
              </a:rPr>
            </a:br>
            <a:endParaRPr lang="fr-FR">
              <a:latin typeface="Times New Roman"/>
              <a:cs typeface="Times New Roman"/>
            </a:endParaRPr>
          </a:p>
        </p:txBody>
      </p:sp>
      <p:sp>
        <p:nvSpPr>
          <p:cNvPr id="85599081" name="Rectangle : coins arrondis 6"/>
          <p:cNvSpPr/>
          <p:nvPr/>
        </p:nvSpPr>
        <p:spPr bwMode="auto">
          <a:xfrm>
            <a:off x="290109" y="3650148"/>
            <a:ext cx="1860178" cy="819172"/>
          </a:xfrm>
          <a:prstGeom prst="roundRect">
            <a:avLst>
              <a:gd name="adj" fmla="val 16667"/>
            </a:avLst>
          </a:prstGeom>
          <a:solidFill>
            <a:schemeClr val="accent2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fr-FR" sz="2000" b="1">
                <a:latin typeface="Times New Roman"/>
                <a:cs typeface="Times New Roman"/>
              </a:rPr>
              <a:t>Prefect</a:t>
            </a:r>
            <a:endParaRPr lang="fr-FR">
              <a:latin typeface="Times New Roman"/>
              <a:cs typeface="Times New Roman"/>
            </a:endParaRPr>
          </a:p>
          <a:p>
            <a:pPr>
              <a:defRPr/>
            </a:pPr>
            <a:br>
              <a:rPr lang="fr-FR">
                <a:latin typeface="Times New Roman"/>
                <a:cs typeface="Times New Roman"/>
              </a:rPr>
            </a:br>
            <a:endParaRPr lang="fr-FR">
              <a:latin typeface="Times New Roman"/>
              <a:cs typeface="Times New Roman"/>
            </a:endParaRPr>
          </a:p>
        </p:txBody>
      </p:sp>
      <p:sp>
        <p:nvSpPr>
          <p:cNvPr id="1686843685" name="Shape 3"/>
          <p:cNvSpPr/>
          <p:nvPr/>
        </p:nvSpPr>
        <p:spPr bwMode="auto">
          <a:xfrm>
            <a:off x="2409855" y="2334926"/>
            <a:ext cx="6560802" cy="1027544"/>
          </a:xfrm>
          <a:prstGeom prst="rect">
            <a:avLst/>
          </a:prstGeom>
          <a:solidFill>
            <a:srgbClr val="F0F4FF"/>
          </a:solidFill>
          <a:ln w="19050">
            <a:solidFill>
              <a:srgbClr val="145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18527775" name="Shape 3"/>
          <p:cNvSpPr/>
          <p:nvPr/>
        </p:nvSpPr>
        <p:spPr bwMode="auto">
          <a:xfrm>
            <a:off x="2410933" y="1133856"/>
            <a:ext cx="6560802" cy="1034829"/>
          </a:xfrm>
          <a:prstGeom prst="rect">
            <a:avLst/>
          </a:prstGeom>
          <a:solidFill>
            <a:srgbClr val="F0F4FF"/>
          </a:solidFill>
          <a:ln w="19050">
            <a:solidFill>
              <a:srgbClr val="145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5311853" name="Rectangle : coins arrondis 6"/>
          <p:cNvSpPr/>
          <p:nvPr/>
        </p:nvSpPr>
        <p:spPr bwMode="auto">
          <a:xfrm>
            <a:off x="290109" y="1241684"/>
            <a:ext cx="1860178" cy="819172"/>
          </a:xfrm>
          <a:prstGeom prst="roundRect">
            <a:avLst>
              <a:gd name="adj" fmla="val 16667"/>
            </a:avLst>
          </a:prstGeom>
          <a:solidFill>
            <a:schemeClr val="accent2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fr-FR" sz="2000" b="1">
                <a:latin typeface="Times New Roman"/>
                <a:cs typeface="Times New Roman"/>
              </a:rPr>
              <a:t>Airflow</a:t>
            </a:r>
            <a:endParaRPr lang="fr-FR">
              <a:latin typeface="Times New Roman"/>
              <a:cs typeface="Times New Roman"/>
            </a:endParaRPr>
          </a:p>
          <a:p>
            <a:pPr>
              <a:defRPr/>
            </a:pPr>
            <a:br>
              <a:rPr lang="fr-FR">
                <a:latin typeface="Times New Roman"/>
                <a:cs typeface="Times New Roman"/>
              </a:rPr>
            </a:br>
            <a:endParaRPr lang="fr-FR">
              <a:latin typeface="Times New Roman"/>
              <a:cs typeface="Times New Roman"/>
            </a:endParaRPr>
          </a:p>
        </p:txBody>
      </p:sp>
      <p:sp>
        <p:nvSpPr>
          <p:cNvPr id="1407730646" name="ZoneTexte 1821240926"/>
          <p:cNvSpPr txBox="1"/>
          <p:nvPr/>
        </p:nvSpPr>
        <p:spPr bwMode="auto">
          <a:xfrm>
            <a:off x="2492576" y="1158241"/>
            <a:ext cx="6209535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L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e plus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mature et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complet</a:t>
            </a:r>
            <a:r>
              <a:rPr lang="fr-FR" sz="1400">
                <a:solidFill>
                  <a:schemeClr val="tx1"/>
                </a:solidFill>
                <a:latin typeface="Times New Roman"/>
                <a:cs typeface="Times New Roman"/>
              </a:rPr>
              <a:t>, il est </a:t>
            </a:r>
            <a:r>
              <a:rPr lang="fr-FR" sz="1400" b="1">
                <a:solidFill>
                  <a:schemeClr val="tx1"/>
                </a:solidFill>
                <a:latin typeface="Times New Roman"/>
                <a:cs typeface="Times New Roman"/>
              </a:rPr>
              <a:t>centré sur les t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â</a:t>
            </a:r>
            <a:r>
              <a:rPr lang="fr-FR" sz="1400" b="1">
                <a:solidFill>
                  <a:schemeClr val="tx1"/>
                </a:solidFill>
                <a:latin typeface="Times New Roman"/>
                <a:cs typeface="Times New Roman"/>
              </a:rPr>
              <a:t>ches</a:t>
            </a:r>
            <a:r>
              <a:rPr lang="fr-FR" sz="1400" b="1">
                <a:solidFill>
                  <a:schemeClr val="tx1"/>
                </a:solidFill>
                <a:latin typeface="Times New Roman"/>
                <a:cs typeface="Times New Roman"/>
              </a:rPr>
              <a:t> (</a:t>
            </a:r>
            <a:r>
              <a:rPr lang="fr-FR" sz="1400" b="1">
                <a:solidFill>
                  <a:schemeClr val="tx1"/>
                </a:solidFill>
                <a:latin typeface="Times New Roman"/>
                <a:cs typeface="Times New Roman"/>
              </a:rPr>
              <a:t>DAGs</a:t>
            </a:r>
            <a:r>
              <a:rPr lang="fr-FR" sz="1400" b="1">
                <a:solidFill>
                  <a:schemeClr val="tx1"/>
                </a:solidFill>
                <a:latin typeface="Times New Roman"/>
                <a:cs typeface="Times New Roman"/>
              </a:rPr>
              <a:t>)</a:t>
            </a:r>
            <a:r>
              <a:rPr lang="fr-FR" sz="1400">
                <a:solidFill>
                  <a:schemeClr val="tx1"/>
                </a:solidFill>
                <a:latin typeface="Times New Roman"/>
                <a:cs typeface="Times New Roman"/>
              </a:rPr>
              <a:t> et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excelle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dans les pipelines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batch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bien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structurés</a:t>
            </a:r>
            <a:r>
              <a:rPr lang="fr-FR" sz="1400">
                <a:solidFill>
                  <a:schemeClr val="tx1"/>
                </a:solidFill>
                <a:latin typeface="Times New Roman"/>
                <a:cs typeface="Times New Roman"/>
              </a:rPr>
              <a:t>,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idéal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pour les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entreprises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avec des workflows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complexes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et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besoin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d’un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grand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écosystème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d’intégrations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(300+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opérateurs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)</a:t>
            </a:r>
            <a:r>
              <a:rPr lang="fr-FR" sz="1400">
                <a:solidFill>
                  <a:schemeClr val="tx1"/>
                </a:solidFill>
                <a:latin typeface="Times New Roman"/>
                <a:cs typeface="Times New Roman"/>
              </a:rPr>
              <a:t>. 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59849677" name="Rectangle : coins arrondis 6"/>
          <p:cNvSpPr/>
          <p:nvPr/>
        </p:nvSpPr>
        <p:spPr bwMode="auto">
          <a:xfrm>
            <a:off x="290109" y="2439112"/>
            <a:ext cx="1860178" cy="819172"/>
          </a:xfrm>
          <a:prstGeom prst="roundRect">
            <a:avLst>
              <a:gd name="adj" fmla="val 16667"/>
            </a:avLst>
          </a:prstGeom>
          <a:solidFill>
            <a:schemeClr val="accent2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fr-FR" sz="2000" b="1">
                <a:latin typeface="Times New Roman"/>
                <a:cs typeface="Times New Roman"/>
              </a:rPr>
              <a:t>Dagster</a:t>
            </a:r>
            <a:endParaRPr lang="fr-FR">
              <a:latin typeface="Times New Roman"/>
              <a:cs typeface="Times New Roman"/>
            </a:endParaRPr>
          </a:p>
          <a:p>
            <a:pPr>
              <a:defRPr/>
            </a:pPr>
            <a:br>
              <a:rPr lang="fr-FR">
                <a:latin typeface="Times New Roman"/>
                <a:cs typeface="Times New Roman"/>
              </a:rPr>
            </a:br>
            <a:endParaRPr lang="fr-FR">
              <a:latin typeface="Times New Roman"/>
              <a:cs typeface="Times New Roman"/>
            </a:endParaRPr>
          </a:p>
        </p:txBody>
      </p:sp>
      <p:sp>
        <p:nvSpPr>
          <p:cNvPr id="1482776114" name="Rectangle : coins arrondis 6"/>
          <p:cNvSpPr/>
          <p:nvPr/>
        </p:nvSpPr>
        <p:spPr bwMode="auto">
          <a:xfrm>
            <a:off x="290109" y="3650148"/>
            <a:ext cx="1860178" cy="819172"/>
          </a:xfrm>
          <a:prstGeom prst="roundRect">
            <a:avLst>
              <a:gd name="adj" fmla="val 16667"/>
            </a:avLst>
          </a:prstGeom>
          <a:solidFill>
            <a:schemeClr val="accent2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>
              <a:defRPr/>
            </a:pPr>
            <a:endParaRPr lang="fr-FR" b="1"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fr-FR" sz="2000" b="1">
                <a:latin typeface="Times New Roman"/>
                <a:cs typeface="Times New Roman"/>
              </a:rPr>
              <a:t>Prefect</a:t>
            </a:r>
            <a:endParaRPr lang="fr-FR">
              <a:latin typeface="Times New Roman"/>
              <a:cs typeface="Times New Roman"/>
            </a:endParaRPr>
          </a:p>
          <a:p>
            <a:pPr>
              <a:defRPr/>
            </a:pPr>
            <a:br>
              <a:rPr lang="fr-FR">
                <a:latin typeface="Times New Roman"/>
                <a:cs typeface="Times New Roman"/>
              </a:rPr>
            </a:br>
            <a:endParaRPr lang="fr-FR">
              <a:latin typeface="Times New Roman"/>
              <a:cs typeface="Times New Roman"/>
            </a:endParaRPr>
          </a:p>
        </p:txBody>
      </p:sp>
      <p:sp>
        <p:nvSpPr>
          <p:cNvPr id="1538722330" name="ZoneTexte 1222012908"/>
          <p:cNvSpPr txBox="1"/>
          <p:nvPr/>
        </p:nvSpPr>
        <p:spPr bwMode="auto">
          <a:xfrm>
            <a:off x="2491497" y="2376079"/>
            <a:ext cx="6479517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S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e distingue par son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approche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centrée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 sur les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données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 (assets)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.  Il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est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parfait pour les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équipes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qui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veulent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du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lignage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automatique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,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une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bonne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observabilité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et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une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intégration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fluide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avec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dbt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.  Il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convient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aux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plateformes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 data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modernes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où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la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qualité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et la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traçabilité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des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données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sont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critiques. 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604519962" name="Shape 3"/>
          <p:cNvSpPr/>
          <p:nvPr/>
        </p:nvSpPr>
        <p:spPr bwMode="auto">
          <a:xfrm>
            <a:off x="2409855" y="3572993"/>
            <a:ext cx="6560802" cy="1200933"/>
          </a:xfrm>
          <a:prstGeom prst="rect">
            <a:avLst/>
          </a:prstGeom>
          <a:solidFill>
            <a:srgbClr val="F0F4FF"/>
          </a:solidFill>
          <a:ln w="19050">
            <a:solidFill>
              <a:srgbClr val="145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28491373" name="ZoneTexte 310487628"/>
          <p:cNvSpPr txBox="1"/>
          <p:nvPr/>
        </p:nvSpPr>
        <p:spPr bwMode="auto">
          <a:xfrm>
            <a:off x="2491497" y="3587114"/>
            <a:ext cx="6480237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fr-FR"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M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ise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sur la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simplicité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 et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l’expérience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développeur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.  Son API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Python-native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permet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de transformer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n’importe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quelle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fonction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en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workflow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en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quelques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lignes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.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C’est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le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meilleur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choix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pour les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startups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ou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petites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équipes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qui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veulent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de 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l’orchestration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rapide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,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légère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 et flexible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, surtout pour des workflows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dynamiques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ou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400" b="1" i="0" u="none">
                <a:solidFill>
                  <a:schemeClr val="tx1"/>
                </a:solidFill>
                <a:latin typeface="Times New Roman"/>
                <a:cs typeface="Times New Roman"/>
              </a:rPr>
              <a:t>événementiels</a:t>
            </a:r>
            <a:r>
              <a:rPr sz="1400" b="0" i="0" u="none">
                <a:solidFill>
                  <a:schemeClr val="tx1"/>
                </a:solidFill>
                <a:latin typeface="Times New Roman"/>
                <a:cs typeface="Times New Roman"/>
              </a:rPr>
              <a:t>. 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642542" name="Google Shape;99;p15"/>
          <p:cNvSpPr txBox="1">
            <a:spLocks noGrp="1"/>
          </p:cNvSpPr>
          <p:nvPr>
            <p:ph type="sldNum" idx="4294967295"/>
          </p:nvPr>
        </p:nvSpPr>
        <p:spPr bwMode="auto">
          <a:xfrm>
            <a:off x="8404381" y="4749849"/>
            <a:ext cx="548697" cy="393597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FFFAF7A3-DA0A-36D4-0AF6-C66976723A07}" type="slidenum">
              <a:rPr lang="en">
                <a:latin typeface="Times New Roman"/>
                <a:cs typeface="Times New Roman"/>
              </a:rPr>
              <a:t/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1992546001" name="Text 14"/>
          <p:cNvSpPr>
            <a:spLocks noGrp="1"/>
          </p:cNvSpPr>
          <p:nvPr>
            <p:ph type="ctrTitle"/>
          </p:nvPr>
        </p:nvSpPr>
        <p:spPr bwMode="auto">
          <a:xfrm flipH="0" flipV="0">
            <a:off x="913071" y="1731740"/>
            <a:ext cx="6702096" cy="1159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fr-FR" sz="540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Conclusion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0525396" name="Google Shape;144;p20"/>
          <p:cNvSpPr txBox="1">
            <a:spLocks noGrp="1"/>
          </p:cNvSpPr>
          <p:nvPr>
            <p:ph type="sldNum" idx="12"/>
          </p:nvPr>
        </p:nvSpPr>
        <p:spPr bwMode="auto">
          <a:xfrm>
            <a:off x="8404383" y="4749850"/>
            <a:ext cx="548699" cy="39359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301AB374-D512-4B00-6BD2-72020EA72BED}" type="slidenum">
              <a:rPr lang="en">
                <a:latin typeface="Times New Roman"/>
                <a:cs typeface="Times New Roman"/>
              </a:rPr>
              <a:t/>
            </a:fld>
            <a:endParaRPr>
              <a:latin typeface="Times New Roman"/>
              <a:cs typeface="Times New Roman"/>
            </a:endParaRPr>
          </a:p>
        </p:txBody>
      </p:sp>
      <p:sp>
        <p:nvSpPr>
          <p:cNvPr id="567441546" name="Text 1"/>
          <p:cNvSpPr/>
          <p:nvPr/>
        </p:nvSpPr>
        <p:spPr bwMode="auto">
          <a:xfrm>
            <a:off x="499077" y="257998"/>
            <a:ext cx="8229600" cy="527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fr-FR" sz="2400" b="1">
                <a:solidFill>
                  <a:srgbClr val="002060"/>
                </a:solidFill>
                <a:latin typeface="Arial"/>
                <a:cs typeface="Times New Roman"/>
              </a:rPr>
              <a:t>Conclusion</a:t>
            </a:r>
            <a:endParaRPr lang="en-US" sz="2400" b="1">
              <a:solidFill>
                <a:srgbClr val="002060"/>
              </a:solidFill>
              <a:latin typeface="Arial"/>
              <a:cs typeface="Times New Roman"/>
            </a:endParaRPr>
          </a:p>
        </p:txBody>
      </p:sp>
      <p:sp>
        <p:nvSpPr>
          <p:cNvPr id="423304315" name="Shape 1"/>
          <p:cNvSpPr/>
          <p:nvPr/>
        </p:nvSpPr>
        <p:spPr bwMode="auto">
          <a:xfrm>
            <a:off x="499077" y="857592"/>
            <a:ext cx="8229600" cy="4571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666615487" name=""/>
          <p:cNvSpPr txBox="1"/>
          <p:nvPr/>
        </p:nvSpPr>
        <p:spPr bwMode="auto">
          <a:xfrm flipH="0" flipV="0">
            <a:off x="693580" y="1275627"/>
            <a:ext cx="7841674" cy="2926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55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En conclusion, Apache Airflow s'impose comme la référence de l'orchestration de données.</a:t>
            </a:r>
            <a:endParaRPr sz="155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155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56343" indent="-256343">
              <a:buFont typeface="Wingdings"/>
              <a:buChar char="Ø"/>
              <a:defRPr/>
            </a:pPr>
            <a:r>
              <a:rPr sz="155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Son cœur de réacteur</a:t>
            </a:r>
            <a:r>
              <a:rPr sz="155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5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: Le modèle</a:t>
            </a:r>
            <a:r>
              <a:rPr sz="155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5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DAG</a:t>
            </a:r>
            <a:r>
              <a:rPr sz="155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5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(Graphe Acyclique Dirigé) garantit une exécution logique, sans boucles et totalement déterministe.</a:t>
            </a:r>
            <a:endParaRPr sz="155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155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56343" indent="-256343">
              <a:buFont typeface="Wingdings"/>
              <a:buChar char="Ø"/>
              <a:defRPr/>
            </a:pPr>
            <a:r>
              <a:rPr sz="155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Sa puissance</a:t>
            </a:r>
            <a:r>
              <a:rPr sz="155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5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: Une architecture modulaire (Web Server, Scheduler, Workers) couplée à un écosystème massif de</a:t>
            </a:r>
            <a:r>
              <a:rPr sz="155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5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300+ Operators</a:t>
            </a:r>
            <a:r>
              <a:rPr sz="155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5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permet d'orchestrer des pipelines complexes avec une robustesse inégalée.</a:t>
            </a:r>
            <a:endParaRPr sz="155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155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56343" indent="-256343">
              <a:buFont typeface="Wingdings"/>
              <a:buChar char="Ø"/>
              <a:defRPr/>
            </a:pPr>
            <a:r>
              <a:rPr sz="155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Le compromis</a:t>
            </a:r>
            <a:r>
              <a:rPr sz="155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5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: Si sa courbe d'apprentissage est plus raide que celle de ses concurrents (Dagster, Prefect),</a:t>
            </a:r>
            <a:r>
              <a:rPr sz="155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5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Airflow reste le choix stratégique</a:t>
            </a:r>
            <a:r>
              <a:rPr sz="155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5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pour les environnements d'entreprise exigeant gouvernance, traçabilité et fiabilité à grande échelle.</a:t>
            </a:r>
            <a:endParaRPr sz="20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250008" name="Google Shape;404;p36"/>
          <p:cNvSpPr txBox="1">
            <a:spLocks noGrp="1"/>
          </p:cNvSpPr>
          <p:nvPr>
            <p:ph type="subTitle" idx="4294967295"/>
          </p:nvPr>
        </p:nvSpPr>
        <p:spPr bwMode="auto">
          <a:xfrm>
            <a:off x="2522284" y="1786950"/>
            <a:ext cx="3448211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" sz="3600" b="1">
                <a:latin typeface="Times New Roman"/>
                <a:cs typeface="Times New Roman"/>
              </a:rPr>
              <a:t>Des Questions?</a:t>
            </a:r>
            <a:endParaRPr sz="3600" b="1">
              <a:latin typeface="Times New Roman"/>
              <a:cs typeface="Times New Roman"/>
            </a:endParaRPr>
          </a:p>
        </p:txBody>
      </p:sp>
      <p:sp>
        <p:nvSpPr>
          <p:cNvPr id="1985541981" name="Google Shape;406;p36"/>
          <p:cNvSpPr txBox="1">
            <a:spLocks noGrp="1"/>
          </p:cNvSpPr>
          <p:nvPr>
            <p:ph type="sldNum" idx="12"/>
          </p:nvPr>
        </p:nvSpPr>
        <p:spPr bwMode="auto"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32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ordelia template">
  <a:themeElements>
    <a:clrScheme name="Custom 347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38</Slides>
  <Notes>38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Airflow</dc:title>
  <dc:creator>HIBA NASSI</dc:creator>
  <cp:lastModifiedBy/>
  <cp:revision>88</cp:revision>
  <dcterms:modified xsi:type="dcterms:W3CDTF">2026-06-11T07:18:02Z</dcterms:modified>
</cp:coreProperties>
</file>